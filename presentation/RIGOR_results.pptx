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6.xml"/>
  <Override ContentType="application/vnd.openxmlformats-officedocument.presentationml.slide+xml" PartName="/ppt/slides/slide25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91" r:id="rId45"/>
    <p:sldId id="280" r:id="rId29"/>
    <p:sldId id="292" r:id="rId46"/>
    <p:sldId id="281" r:id="rId30"/>
    <p:sldId id="282" r:id="rId31"/>
  </p:sldIdLst>
  <p:sldSz cy="6858000" cx="12192000"/>
  <p:notesSz cx="6858000" cy="12192000"/>
  <p:embeddedFontLst>
    <p:embeddedFont>
      <p:font typeface="IBM Plex Sans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4" roundtripDataSignature="AMtx7miIhFui5hy+i4o3KOYM/gPuu+Lj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IBMPlexSans-regular.fntdata"/><Relationship Id="rId42" Type="http://schemas.openxmlformats.org/officeDocument/2006/relationships/font" Target="fonts/IBMPlexSans-italic.fntdata"/><Relationship Id="rId41" Type="http://schemas.openxmlformats.org/officeDocument/2006/relationships/font" Target="fonts/IBMPlexSans-bold.fntdata"/><Relationship Id="rId44" Type="http://customschemas.google.com/relationships/presentationmetadata" Target="metadata"/><Relationship Id="rId43" Type="http://schemas.openxmlformats.org/officeDocument/2006/relationships/font" Target="fonts/IBMPlexSans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29" Type="http://schemas.openxmlformats.org/officeDocument/2006/relationships/slide" Target="slides/slide25.xml"/><Relationship Id="rId31" Type="http://schemas.openxmlformats.org/officeDocument/2006/relationships/slide" Target="slides/slide27.xml"/><Relationship Id="rId30" Type="http://schemas.openxmlformats.org/officeDocument/2006/relationships/slide" Target="slides/slide26.xml"/>  <Relationship Id="rId45" Type="http://schemas.openxmlformats.org/officeDocument/2006/relationships/slide" Target="slides/slide36.xml"/>
  <Relationship Id="rId46" Type="http://schemas.openxmlformats.org/officeDocument/2006/relationships/slide" Target="slides/slide37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9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1" name="Google Shape;1141;p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[9:23–9:57]  SPOKEN SCRIPT (55 words)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Fewer errors. But is anything lost? On average RIGOR covers ninety-three percent of the database columns, as much as direct mapping. Non-Iterative, with the same retrieved context but no seed, covers a third, and swings with the LLM, from six to seventy-eight percent. With RIGOR, every LLM keeps at least seventy-seven percent, in every database. [pause]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PRESENTER / POINTER: RIGOR's average next to Direct Mapping's; then the red Non-Iterative row.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AUDIENCE TAKEAWAY: RIGOR keeps the schema as well as Direct Mapping, with every LLM.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SOURCE AND SCOPE: Paper Table 9 (column coverage per run; embedding similarity &gt;= 0.55).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RUNNING LATE, DROP: "and swings with the LLM, from six to seventy-eight percent"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ASKED WHY NON-ITERATIVE DROPS BUT THE BASELINE DOES NOT: the baseline only translates the table, so it keeps column names but adds no meaning. Non-Iterative does everything in one pass with a lot of retrieved context and silently drops properties (e.g. 6 data properties for 350 Liver Cancer columns with Mistral, Table 8); nothing checks coverage. RIGOR starts from a seed with every column, works one table at a time, and its judge rejects fragments that drop a column.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ASKED ABOUT MODEL SIZE AND COST: with RIGOR, Mistral Small 24B reaches 98% coverage (Claude 95%) for about $0.12 across the three databases, against about $33 with Claude (Tables 9, 15).</a:t>
            </a:r>
          </a:p>
        </p:txBody>
      </p:sp>
      <p:sp>
        <p:nvSpPr>
          <p:cNvPr id="1142" name="Google Shape;1142;p2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8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9" name="Google Shape;1199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0" name="Google Shape;1200;p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[10:21–11:07]  SPOKEN SCRIPT (81 words)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Meaning is added. But is the link back to the data still correct? BURR, an external benchmark, checks exactly this: every class, relation and attribute must map back to the right table, foreign key or column, scored with F1 against a gold mapping. On BURR's ISWC scenario, RIGOR has the highest F1 on all three, ahead of rule-based and LLM-based systems. Relations stand out: zero point six seven against zero point one one, because foreign keys become named relations, like hasPatientData.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PRESENTER / POINTER: Left card first, then land on the RIGOR row.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AUDIENCE TAKEAWAY: Semantic enrichment did not break the correspondence that OBDA and KG population need.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SOURCE AND SCOPE: Paper Table 13. BURR = Laskowski et al., PACMMOD 2025; matching rule from BURR Section 4, Eq. 3. Left-card element names are illustrative.</a:t>
            </a:r>
          </a:p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RUNNING LATE, DROP: "scored with F1 against a gold mapping"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DO NOT SAY: 'BURR found LLMs trail rule-based systems'. BURR's results show Gemini 2.5 Pro ahead of the rule-based systems overall (rule-based systems win only on NPD).</a:t>
            </a:r>
          </a:p>
          <a:p/>
          <a:p>
            <a:r>
              <a:rPr b="0" i="0" lang="en-US" sz="12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IF ASKED ABOUT GEMINI 2.5 PRO (BURR Table 3, ISWC .65 / .68 / .56): in BURR it is a general-purpose LLM prompted with few-shot examples and a checklist to write the D2RQ mapping directly. It is a mapping generator, not an ontology-learning system that builds an enriched ontology, so we compare with ontology-learning systems. Against it, RIGOR's class F1 is higher, relations are on par, attributes lower, and RIGOR also produces labels, hierarchy and provenance. It is prompted, not fine-tuned.</a:t>
            </a:r>
          </a:p>
        </p:txBody>
      </p:sp>
      <p:sp>
        <p:nvSpPr>
          <p:cNvPr id="1201" name="Google Shape;1201;p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3" name="Google Shape;1253;p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[11:07–11:58]  SPOKEN SCRIPT (82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Automatic checks agree. Do evaluators agree? Both judged each table against its competency questions: what the ontology must be able to answer, five per table, verified by a domain expert. An LLM judge ranked RIGOR first on all fifty-eight tables, with its largest lead on the liver registry that no LLM has seen. [pause] Ten ontology experts ranked RIGOR first in twenty-eight of forty rankings. [pause] Direct mapping gives structure without meaning. LLMs alone give meaning without structure. RIGOR gives both, and checks them.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Read the competency question aloud; then 58 of 58; then 28 of 40; then the closing strip.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Judged against competency questions, an LLM judge and human experts both rank RIGOR first.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Sec. 4.2 (5 CQs per table, LLM-generated, expert-verified; 290 in total), Table 6 (example), Table 1 (scores, rankings), Table 12 (Kendall's W 0.39-0.72). Judge: Claude ontologies.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"with its largest lead on the liver registry that no LLM has seen"</a:t>
            </a:r>
          </a:p>
        </p:txBody>
      </p:sp>
      <p:sp>
        <p:nvSpPr>
          <p:cNvPr id="1254" name="Google Shape;1254;p1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[8:45–9:23]  SPOKEN SCRIPT (63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climb from the easiest check to the hardest. First, the basics: all thirty ontologies are valid OWL and logically consistent, for every method. Modeling errors are another story: direct mapping averages about five hundred per ontology, RIGOR eight. Look at this column: same model, same database. The small Mistral model on eICU makes two hundred twenty errors without RIGOR, two with it. [pause]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One breath for validity; then the averages; then point at the Mistral eICU column.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Every ontology is valid; RIGOR's have far fewer modeling errors, with every LLM.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Sec. 4.7 (RDFLib, HermiT) and Table 7 (OOPS! totals per run). 72% of the other methods' pitfalls are P08, missing annotations.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"for every method"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ASKED ABOUT CRITICAL ERRORS: P19 (multiple domains or ranges) is the only pitfall OOPS! rates critical, and it is the second-domain error from the validation slide. Per ontology: Direct Mapping 15, LLM baseline 17, Non-Iterative 5.4, RIGOR 2.8; zero in 6 of RIGOR's 9 ontologies (Table 7). RIGOR's prompt allows one domain and one range, and the graph check rejects a second.</a:t>
            </a:r>
          </a:p>
        </p:txBody>
      </p:sp>
      <p:sp>
        <p:nvSpPr>
          <p:cNvPr id="19" name="Google Shape;19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[9:57–10:21]  SPOKEN SCRIPT (39 words)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Nothing is lost. Is meaning added? Direct mapping and the LLM baseline add none, in any run. Non-Iterative RAG adds labels, but no provenance and no class hierarchy. Only RIGOR adds all three, with every LLM, in every database. [pause]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PRESENTER / POINTER: Point at the red block first, then the three RIGOR rows.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AUDIENCE TAKEAWAY: Only RIGOR adds labels, provenance and a class hierarchy, with every LLM.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 AND SCOPE: Paper Table 8. Hierarchy as inheritance richness (subclass axioms per class; OntoQA, Tartir et al. 2005; OntoMetrics, Lantow 2016), computed from Table 8 counts. Shading is within each database.</a:t>
            </a:r>
          </a:p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RUNNING LATE, DROP: "Non-Iterative RAG adds labels, but no provenance and no class hierarchy."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ASKED 'DOES CHINOOK NEED SO MANY SUBCLASSES?': Count is not quality, so we report whether a hierarchy exists, and only RIGOR builds one. RIGOR's Chinook ontologies have zero OOPS! pitfalls and the judge ranks RIGOR first on all 11 Chinook tables; it does score RIGOR's conciseness lower there (2.59 vs 3.32 for the baseline, Table 10), so tighter hierarchies are future work.</a:t>
            </a:r>
          </a:p>
          <a:p/>
          <a:p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DOMAIN PATTERN (notes only): inheritance richness is 0.10-0.70 on the clinical schemas and 2.1-4.1 on the music store; the LLM proposes more specializations in a familiar domain.</a:t>
            </a:r>
          </a:p>
        </p:txBody>
      </p:sp>
      <p:sp>
        <p:nvSpPr>
          <p:cNvPr id="19" name="Google Shape;19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bg>
      <p:bgPr>
        <a:solidFill>
          <a:srgbClr val="FFFFFF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5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sz="28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5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None/>
              <a:defRPr sz="160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812800" y="1153120"/>
            <a:ext cx="10566400" cy="3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Calibri"/>
              <a:buNone/>
              <a:defRPr b="0" i="0" sz="28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812800" y="1849041"/>
            <a:ext cx="10566400" cy="41961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40000"/>
              </a:lnSpc>
              <a:spcBef>
                <a:spcPts val="320"/>
              </a:spcBef>
              <a:spcAft>
                <a:spcPts val="0"/>
              </a:spcAft>
              <a:buClr>
                <a:srgbClr val="1F2328"/>
              </a:buClr>
              <a:buSzPts val="1600"/>
              <a:buFont typeface="Calibri"/>
              <a:buNone/>
              <a:defRPr b="0" i="0" sz="16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Notes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Notes" Type="http://schemas.openxmlformats.org/officeDocument/2006/relationships/notesSlide" Target="../notesSlides/notesSlide37.xml"/></Relationships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20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2  /  NOTHING IS LOST</a:t>
            </a:r>
            <a:endParaRPr/>
          </a:p>
        </p:txBody>
      </p:sp>
      <p:sp>
        <p:nvSpPr>
          <p:cNvPr id="1145" name="Google Shape;1145;p20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Nothing is lost: RIGOR keeps the schema.</a:t>
            </a:r>
            <a:endParaRPr/>
          </a:p>
        </p:txBody>
      </p:sp>
      <p:sp>
        <p:nvSpPr>
          <p:cNvPr id="1146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Share of database columns covered, for every LLM and database.</a:t>
            </a:r>
          </a:p>
        </p:txBody>
      </p:sp>
      <p:sp>
        <p:nvSpPr>
          <p:cNvPr id="1147" name="Ladder"/>
          <p:cNvSpPr/>
          <p:nvPr/>
        </p:nvSpPr>
        <p:spPr>
          <a:xfrm>
            <a:off x="804672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VALID, FEWER ERRORS</a:t>
            </a:r>
          </a:p>
        </p:txBody>
      </p:sp>
      <p:sp>
        <p:nvSpPr>
          <p:cNvPr id="1148" name="Ladder"/>
          <p:cNvSpPr/>
          <p:nvPr/>
        </p:nvSpPr>
        <p:spPr>
          <a:xfrm>
            <a:off x="2938881" y="2103120"/>
            <a:ext cx="2042769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49" name="Ladder"/>
          <p:cNvSpPr/>
          <p:nvPr/>
        </p:nvSpPr>
        <p:spPr>
          <a:xfrm>
            <a:off x="5073091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0" name="Ladder"/>
          <p:cNvSpPr/>
          <p:nvPr/>
        </p:nvSpPr>
        <p:spPr>
          <a:xfrm>
            <a:off x="720730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4  GOLD MAPPINGS</a:t>
            </a:r>
          </a:p>
        </p:txBody>
      </p:sp>
      <p:sp>
        <p:nvSpPr>
          <p:cNvPr id="1151" name="Ladder"/>
          <p:cNvSpPr/>
          <p:nvPr/>
        </p:nvSpPr>
        <p:spPr>
          <a:xfrm>
            <a:off x="934151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JUDGES</a:t>
            </a:r>
          </a:p>
        </p:txBody>
      </p:sp>
      <p:sp>
        <p:nvSpPr>
          <p:cNvPr id="1152" name="Card"/>
          <p:cNvSpPr/>
          <p:nvPr/>
        </p:nvSpPr>
        <p:spPr>
          <a:xfrm>
            <a:off x="804672" y="2606040"/>
            <a:ext cx="1057960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3" name="Card label"/>
          <p:cNvSpPr txBox="1"/>
          <p:nvPr/>
        </p:nvSpPr>
        <p:spPr>
          <a:xfrm>
            <a:off x="1078992" y="2788920"/>
            <a:ext cx="100309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KEEPS THE SCHEMA</a:t>
            </a:r>
          </a:p>
        </p:txBody>
      </p:sp>
      <p:sp>
        <p:nvSpPr>
          <p:cNvPr id="1154" name="Card note"/>
          <p:cNvSpPr txBox="1"/>
          <p:nvPr/>
        </p:nvSpPr>
        <p:spPr>
          <a:xfrm>
            <a:off x="1078992" y="3081528"/>
            <a:ext cx="100309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columns covered, per ontology (%)</a:t>
            </a:r>
          </a:p>
        </p:txBody>
      </p:sp>
      <p:sp>
        <p:nvSpPr>
          <p:cNvPr id="1155" name="Database"/>
          <p:cNvSpPr txBox="1"/>
          <p:nvPr/>
        </p:nvSpPr>
        <p:spPr>
          <a:xfrm>
            <a:off x="2679191" y="3383280"/>
            <a:ext cx="252374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156" name="LLM"/>
          <p:cNvSpPr txBox="1"/>
          <p:nvPr/>
        </p:nvSpPr>
        <p:spPr>
          <a:xfrm>
            <a:off x="2679191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57" name="LLM"/>
          <p:cNvSpPr txBox="1"/>
          <p:nvPr/>
        </p:nvSpPr>
        <p:spPr>
          <a:xfrm>
            <a:off x="3520439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58" name="LLM"/>
          <p:cNvSpPr txBox="1"/>
          <p:nvPr/>
        </p:nvSpPr>
        <p:spPr>
          <a:xfrm>
            <a:off x="4361688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59" name="Database"/>
          <p:cNvSpPr txBox="1"/>
          <p:nvPr/>
        </p:nvSpPr>
        <p:spPr>
          <a:xfrm>
            <a:off x="5202936" y="3383280"/>
            <a:ext cx="252374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160" name="LLM"/>
          <p:cNvSpPr txBox="1"/>
          <p:nvPr/>
        </p:nvSpPr>
        <p:spPr>
          <a:xfrm>
            <a:off x="5202936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1" name="LLM"/>
          <p:cNvSpPr txBox="1"/>
          <p:nvPr/>
        </p:nvSpPr>
        <p:spPr>
          <a:xfrm>
            <a:off x="6044183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2" name="LLM"/>
          <p:cNvSpPr txBox="1"/>
          <p:nvPr/>
        </p:nvSpPr>
        <p:spPr>
          <a:xfrm>
            <a:off x="6885432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3" name="Database"/>
          <p:cNvSpPr txBox="1"/>
          <p:nvPr/>
        </p:nvSpPr>
        <p:spPr>
          <a:xfrm>
            <a:off x="7726679" y="3383280"/>
            <a:ext cx="252374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Chinook</a:t>
            </a:r>
          </a:p>
        </p:txBody>
      </p:sp>
      <p:sp>
        <p:nvSpPr>
          <p:cNvPr id="1164" name="LLM"/>
          <p:cNvSpPr txBox="1"/>
          <p:nvPr/>
        </p:nvSpPr>
        <p:spPr>
          <a:xfrm>
            <a:off x="7726679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5" name="LLM"/>
          <p:cNvSpPr txBox="1"/>
          <p:nvPr/>
        </p:nvSpPr>
        <p:spPr>
          <a:xfrm>
            <a:off x="8567928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6" name="LLM"/>
          <p:cNvSpPr txBox="1"/>
          <p:nvPr/>
        </p:nvSpPr>
        <p:spPr>
          <a:xfrm>
            <a:off x="9409176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7" name="Avg head"/>
          <p:cNvSpPr txBox="1"/>
          <p:nvPr/>
        </p:nvSpPr>
        <p:spPr>
          <a:xfrm>
            <a:off x="10296144" y="34930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5B6770"/>
                </a:solidFill>
                <a:latin typeface="Calibri"/>
                <a:cs typeface="Calibri"/>
              </a:rPr>
              <a:t xml:space="preserve">Avg</a:t>
            </a:r>
          </a:p>
        </p:txBody>
      </p:sp>
      <p:sp>
        <p:nvSpPr>
          <p:cNvPr id="1168" name="Method"/>
          <p:cNvSpPr txBox="1"/>
          <p:nvPr/>
        </p:nvSpPr>
        <p:spPr>
          <a:xfrm>
            <a:off x="1078992" y="38404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69" name="Cell"/>
          <p:cNvSpPr/>
          <p:nvPr/>
        </p:nvSpPr>
        <p:spPr>
          <a:xfrm>
            <a:off x="2697479" y="3858768"/>
            <a:ext cx="2487168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97</a:t>
            </a:r>
          </a:p>
        </p:txBody>
      </p:sp>
      <p:sp>
        <p:nvSpPr>
          <p:cNvPr id="1170" name="Cell"/>
          <p:cNvSpPr/>
          <p:nvPr/>
        </p:nvSpPr>
        <p:spPr>
          <a:xfrm>
            <a:off x="5221223" y="3858768"/>
            <a:ext cx="2487168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99</a:t>
            </a:r>
          </a:p>
        </p:txBody>
      </p:sp>
      <p:sp>
        <p:nvSpPr>
          <p:cNvPr id="1171" name="Cell"/>
          <p:cNvSpPr/>
          <p:nvPr/>
        </p:nvSpPr>
        <p:spPr>
          <a:xfrm>
            <a:off x="7744967" y="3858768"/>
            <a:ext cx="2487168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78</a:t>
            </a:r>
          </a:p>
        </p:txBody>
      </p:sp>
      <p:sp>
        <p:nvSpPr>
          <p:cNvPr id="1172" name="Avg"/>
          <p:cNvSpPr txBox="1"/>
          <p:nvPr/>
        </p:nvSpPr>
        <p:spPr>
          <a:xfrm>
            <a:off x="10296144" y="38404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91%</a:t>
            </a:r>
          </a:p>
        </p:txBody>
      </p:sp>
      <p:sp>
        <p:nvSpPr>
          <p:cNvPr id="1173" name="Method"/>
          <p:cNvSpPr txBox="1"/>
          <p:nvPr/>
        </p:nvSpPr>
        <p:spPr>
          <a:xfrm>
            <a:off x="1078992" y="42976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174" name="Cell"/>
          <p:cNvSpPr/>
          <p:nvPr/>
        </p:nvSpPr>
        <p:spPr>
          <a:xfrm>
            <a:off x="2697479" y="43159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94</a:t>
            </a:r>
          </a:p>
        </p:txBody>
      </p:sp>
      <p:sp>
        <p:nvSpPr>
          <p:cNvPr id="1175" name="Cell"/>
          <p:cNvSpPr/>
          <p:nvPr/>
        </p:nvSpPr>
        <p:spPr>
          <a:xfrm>
            <a:off x="3538727" y="4315968"/>
            <a:ext cx="804672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31</a:t>
            </a:r>
          </a:p>
        </p:txBody>
      </p:sp>
      <p:sp>
        <p:nvSpPr>
          <p:cNvPr id="1176" name="Cell"/>
          <p:cNvSpPr/>
          <p:nvPr/>
        </p:nvSpPr>
        <p:spPr>
          <a:xfrm>
            <a:off x="4379975" y="43159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89</a:t>
            </a:r>
          </a:p>
        </p:txBody>
      </p:sp>
      <p:sp>
        <p:nvSpPr>
          <p:cNvPr id="1177" name="Cell"/>
          <p:cNvSpPr/>
          <p:nvPr/>
        </p:nvSpPr>
        <p:spPr>
          <a:xfrm>
            <a:off x="5221223" y="43159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96</a:t>
            </a:r>
          </a:p>
        </p:txBody>
      </p:sp>
      <p:sp>
        <p:nvSpPr>
          <p:cNvPr id="1178" name="Cell"/>
          <p:cNvSpPr/>
          <p:nvPr/>
        </p:nvSpPr>
        <p:spPr>
          <a:xfrm>
            <a:off x="6062471" y="43159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68</a:t>
            </a:r>
          </a:p>
        </p:txBody>
      </p:sp>
      <p:sp>
        <p:nvSpPr>
          <p:cNvPr id="1179" name="Cell"/>
          <p:cNvSpPr/>
          <p:nvPr/>
        </p:nvSpPr>
        <p:spPr>
          <a:xfrm>
            <a:off x="6903720" y="43159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86</a:t>
            </a:r>
          </a:p>
        </p:txBody>
      </p:sp>
      <p:sp>
        <p:nvSpPr>
          <p:cNvPr id="1180" name="Cell"/>
          <p:cNvSpPr/>
          <p:nvPr/>
        </p:nvSpPr>
        <p:spPr>
          <a:xfrm>
            <a:off x="7744967" y="43159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100</a:t>
            </a:r>
          </a:p>
        </p:txBody>
      </p:sp>
      <p:sp>
        <p:nvSpPr>
          <p:cNvPr id="1181" name="Cell"/>
          <p:cNvSpPr/>
          <p:nvPr/>
        </p:nvSpPr>
        <p:spPr>
          <a:xfrm>
            <a:off x="8586216" y="43159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50</a:t>
            </a:r>
          </a:p>
        </p:txBody>
      </p:sp>
      <p:sp>
        <p:nvSpPr>
          <p:cNvPr id="1182" name="Cell"/>
          <p:cNvSpPr/>
          <p:nvPr/>
        </p:nvSpPr>
        <p:spPr>
          <a:xfrm>
            <a:off x="9427463" y="43159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52</a:t>
            </a:r>
          </a:p>
        </p:txBody>
      </p:sp>
      <p:sp>
        <p:nvSpPr>
          <p:cNvPr id="1183" name="Avg"/>
          <p:cNvSpPr txBox="1"/>
          <p:nvPr/>
        </p:nvSpPr>
        <p:spPr>
          <a:xfrm>
            <a:off x="10296144" y="42976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74%</a:t>
            </a:r>
          </a:p>
        </p:txBody>
      </p:sp>
      <p:sp>
        <p:nvSpPr>
          <p:cNvPr id="1184" name="Method"/>
          <p:cNvSpPr txBox="1"/>
          <p:nvPr/>
        </p:nvSpPr>
        <p:spPr>
          <a:xfrm>
            <a:off x="1078992" y="47548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85" name="Cell"/>
          <p:cNvSpPr/>
          <p:nvPr/>
        </p:nvSpPr>
        <p:spPr>
          <a:xfrm>
            <a:off x="2697479" y="4773168"/>
            <a:ext cx="804672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41</a:t>
            </a:r>
          </a:p>
        </p:txBody>
      </p:sp>
      <p:sp>
        <p:nvSpPr>
          <p:cNvPr id="1186" name="Cell"/>
          <p:cNvSpPr/>
          <p:nvPr/>
        </p:nvSpPr>
        <p:spPr>
          <a:xfrm>
            <a:off x="3538727" y="47731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</a:t>
            </a:r>
          </a:p>
        </p:txBody>
      </p:sp>
      <p:sp>
        <p:nvSpPr>
          <p:cNvPr id="1187" name="Cell"/>
          <p:cNvSpPr/>
          <p:nvPr/>
        </p:nvSpPr>
        <p:spPr>
          <a:xfrm>
            <a:off x="4379975" y="47731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12</a:t>
            </a:r>
          </a:p>
        </p:txBody>
      </p:sp>
      <p:sp>
        <p:nvSpPr>
          <p:cNvPr id="1188" name="Cell"/>
          <p:cNvSpPr/>
          <p:nvPr/>
        </p:nvSpPr>
        <p:spPr>
          <a:xfrm>
            <a:off x="5221223" y="4773168"/>
            <a:ext cx="804672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22</a:t>
            </a:r>
          </a:p>
        </p:txBody>
      </p:sp>
      <p:sp>
        <p:nvSpPr>
          <p:cNvPr id="1189" name="Cell"/>
          <p:cNvSpPr/>
          <p:nvPr/>
        </p:nvSpPr>
        <p:spPr>
          <a:xfrm>
            <a:off x="6062471" y="4773168"/>
            <a:ext cx="804672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28</a:t>
            </a:r>
          </a:p>
        </p:txBody>
      </p:sp>
      <p:sp>
        <p:nvSpPr>
          <p:cNvPr id="1190" name="Cell"/>
          <p:cNvSpPr/>
          <p:nvPr/>
        </p:nvSpPr>
        <p:spPr>
          <a:xfrm>
            <a:off x="6903720" y="4773168"/>
            <a:ext cx="804672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46</a:t>
            </a:r>
          </a:p>
        </p:txBody>
      </p:sp>
      <p:sp>
        <p:nvSpPr>
          <p:cNvPr id="1191" name="Cell"/>
          <p:cNvSpPr/>
          <p:nvPr/>
        </p:nvSpPr>
        <p:spPr>
          <a:xfrm>
            <a:off x="7744967" y="47731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58</a:t>
            </a:r>
          </a:p>
        </p:txBody>
      </p:sp>
      <p:sp>
        <p:nvSpPr>
          <p:cNvPr id="1192" name="Cell"/>
          <p:cNvSpPr/>
          <p:nvPr/>
        </p:nvSpPr>
        <p:spPr>
          <a:xfrm>
            <a:off x="8586216" y="47731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16</a:t>
            </a:r>
          </a:p>
        </p:txBody>
      </p:sp>
      <p:sp>
        <p:nvSpPr>
          <p:cNvPr id="1193" name="Cell"/>
          <p:cNvSpPr/>
          <p:nvPr/>
        </p:nvSpPr>
        <p:spPr>
          <a:xfrm>
            <a:off x="9427463" y="47731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78</a:t>
            </a:r>
          </a:p>
        </p:txBody>
      </p:sp>
      <p:sp>
        <p:nvSpPr>
          <p:cNvPr id="1194" name="Avg"/>
          <p:cNvSpPr txBox="1"/>
          <p:nvPr/>
        </p:nvSpPr>
        <p:spPr>
          <a:xfrm>
            <a:off x="10296144" y="47548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34%</a:t>
            </a:r>
          </a:p>
        </p:txBody>
      </p:sp>
      <p:sp>
        <p:nvSpPr>
          <p:cNvPr id="1195" name="Method"/>
          <p:cNvSpPr txBox="1"/>
          <p:nvPr/>
        </p:nvSpPr>
        <p:spPr>
          <a:xfrm>
            <a:off x="1078992" y="52120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196" name="Cell"/>
          <p:cNvSpPr/>
          <p:nvPr/>
        </p:nvSpPr>
        <p:spPr>
          <a:xfrm>
            <a:off x="2697479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91</a:t>
            </a:r>
          </a:p>
        </p:txBody>
      </p:sp>
      <p:sp>
        <p:nvSpPr>
          <p:cNvPr id="1197" name="Cell"/>
          <p:cNvSpPr/>
          <p:nvPr/>
        </p:nvSpPr>
        <p:spPr>
          <a:xfrm>
            <a:off x="3538727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99</a:t>
            </a:r>
          </a:p>
        </p:txBody>
      </p:sp>
      <p:sp>
        <p:nvSpPr>
          <p:cNvPr id="1198" name="Cell"/>
          <p:cNvSpPr/>
          <p:nvPr/>
        </p:nvSpPr>
        <p:spPr>
          <a:xfrm>
            <a:off x="4379975" y="52303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87</a:t>
            </a:r>
          </a:p>
        </p:txBody>
      </p:sp>
      <p:sp>
        <p:nvSpPr>
          <p:cNvPr id="1199" name="Cell"/>
          <p:cNvSpPr/>
          <p:nvPr/>
        </p:nvSpPr>
        <p:spPr>
          <a:xfrm>
            <a:off x="5221223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100</a:t>
            </a:r>
          </a:p>
        </p:txBody>
      </p:sp>
      <p:sp>
        <p:nvSpPr>
          <p:cNvPr id="1200" name="Cell"/>
          <p:cNvSpPr/>
          <p:nvPr/>
        </p:nvSpPr>
        <p:spPr>
          <a:xfrm>
            <a:off x="6062471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99</a:t>
            </a:r>
          </a:p>
        </p:txBody>
      </p:sp>
      <p:sp>
        <p:nvSpPr>
          <p:cNvPr id="1201" name="Cell"/>
          <p:cNvSpPr/>
          <p:nvPr/>
        </p:nvSpPr>
        <p:spPr>
          <a:xfrm>
            <a:off x="6903720" y="52303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77</a:t>
            </a:r>
          </a:p>
        </p:txBody>
      </p:sp>
      <p:sp>
        <p:nvSpPr>
          <p:cNvPr id="1202" name="Cell"/>
          <p:cNvSpPr/>
          <p:nvPr/>
        </p:nvSpPr>
        <p:spPr>
          <a:xfrm>
            <a:off x="7744967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95</a:t>
            </a:r>
          </a:p>
        </p:txBody>
      </p:sp>
      <p:sp>
        <p:nvSpPr>
          <p:cNvPr id="1203" name="Cell"/>
          <p:cNvSpPr/>
          <p:nvPr/>
        </p:nvSpPr>
        <p:spPr>
          <a:xfrm>
            <a:off x="8586216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95</a:t>
            </a:r>
          </a:p>
        </p:txBody>
      </p:sp>
      <p:sp>
        <p:nvSpPr>
          <p:cNvPr id="1204" name="Cell"/>
          <p:cNvSpPr/>
          <p:nvPr/>
        </p:nvSpPr>
        <p:spPr>
          <a:xfrm>
            <a:off x="9427463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95</a:t>
            </a:r>
          </a:p>
        </p:txBody>
      </p:sp>
      <p:sp>
        <p:nvSpPr>
          <p:cNvPr id="1205" name="Avg"/>
          <p:cNvSpPr txBox="1"/>
          <p:nvPr/>
        </p:nvSpPr>
        <p:spPr>
          <a:xfrm>
            <a:off x="10296144" y="52120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93%</a:t>
            </a:r>
          </a:p>
        </p:txBody>
      </p:sp>
      <p:sp>
        <p:nvSpPr>
          <p:cNvPr id="1206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Same context, no seed: </a:t>
            </a:r>
            <a:r>
              <a:rPr lang="en-US" sz="1400" b="1" i="0" dirty="0">
                <a:solidFill>
                  <a:srgbClr val="B23A1E"/>
                </a:solidFill>
                <a:latin typeface="Calibri"/>
                <a:cs typeface="Calibri"/>
              </a:rPr>
              <a:t xml:space="preserve">Non-Iterative 6–78%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, depending on the LLM.  With RIGOR: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≥ 77% for every LLM, in every database.</a:t>
            </a:r>
          </a:p>
        </p:txBody>
      </p:sp>
      <p:sp>
        <p:nvSpPr>
          <p:cNvPr id="1207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Coverage: a column counts as covered when an ontology class or property name is similar to it (embedding similarity ≥ 0.55). Paper Sec. 4.6, Table 9.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2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21"/>
          <p:cNvSpPr txBox="1"/>
          <p:nvPr/>
        </p:nvSpPr>
        <p:spPr>
          <a:xfrm>
            <a:off x="804672" y="512064"/>
            <a:ext cx="107532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4  /  EXTERNAL BENCHMARK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1"/>
          <p:cNvSpPr txBox="1"/>
          <p:nvPr/>
        </p:nvSpPr>
        <p:spPr>
          <a:xfrm>
            <a:off x="804672" y="914400"/>
            <a:ext cx="10762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RIGOR keeps the link to the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1"/>
          <p:cNvSpPr txBox="1"/>
          <p:nvPr/>
        </p:nvSpPr>
        <p:spPr>
          <a:xfrm>
            <a:off x="822960" y="1645920"/>
            <a:ext cx="106803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BURR [Laskowski et al., PACMMOD 2025]  ·  ISWC scenario  ·  highest F1 among ontology-learning systems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1"/>
          <p:cNvSpPr/>
          <p:nvPr/>
        </p:nvSpPr>
        <p:spPr>
          <a:xfrm>
            <a:off x="5870448" y="2523744"/>
            <a:ext cx="5468100" cy="3063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0775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1"/>
          <p:cNvSpPr txBox="1"/>
          <p:nvPr/>
        </p:nvSpPr>
        <p:spPr>
          <a:xfrm>
            <a:off x="6099048" y="2706624"/>
            <a:ext cx="18288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SYSTEM</a:t>
            </a:r>
            <a:endParaRPr/>
          </a:p>
        </p:txBody>
      </p:sp>
      <p:sp>
        <p:nvSpPr>
          <p:cNvPr id="1208" name="Google Shape;1208;p21"/>
          <p:cNvSpPr txBox="1"/>
          <p:nvPr/>
        </p:nvSpPr>
        <p:spPr>
          <a:xfrm>
            <a:off x="8156447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CLASSES</a:t>
            </a:r>
            <a:endParaRPr/>
          </a:p>
        </p:txBody>
      </p:sp>
      <p:sp>
        <p:nvSpPr>
          <p:cNvPr id="1209" name="Google Shape;1209;p21"/>
          <p:cNvSpPr txBox="1"/>
          <p:nvPr/>
        </p:nvSpPr>
        <p:spPr>
          <a:xfrm>
            <a:off x="9208008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RELATIONS</a:t>
            </a:r>
            <a:endParaRPr/>
          </a:p>
        </p:txBody>
      </p:sp>
      <p:sp>
        <p:nvSpPr>
          <p:cNvPr id="1210" name="Google Shape;1210;p21"/>
          <p:cNvSpPr txBox="1"/>
          <p:nvPr/>
        </p:nvSpPr>
        <p:spPr>
          <a:xfrm>
            <a:off x="10259567" y="2706624"/>
            <a:ext cx="10515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endParaRPr/>
          </a:p>
        </p:txBody>
      </p:sp>
      <p:cxnSp>
        <p:nvCxnSpPr>
          <p:cNvPr id="1211" name="Google Shape;1211;p21"/>
          <p:cNvCxnSpPr/>
          <p:nvPr/>
        </p:nvCxnSpPr>
        <p:spPr>
          <a:xfrm>
            <a:off x="6071616" y="3145536"/>
            <a:ext cx="5065800" cy="0"/>
          </a:xfrm>
          <a:prstGeom prst="straightConnector1">
            <a:avLst/>
          </a:prstGeom>
          <a:noFill/>
          <a:ln cap="flat" cmpd="sng" w="13950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1212" name="Google Shape;1212;p21"/>
          <p:cNvSpPr txBox="1"/>
          <p:nvPr/>
        </p:nvSpPr>
        <p:spPr>
          <a:xfrm>
            <a:off x="6117336" y="3182112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W3C-Mapper / Ontop</a:t>
            </a:r>
            <a:endParaRPr/>
          </a:p>
        </p:txBody>
      </p:sp>
      <p:sp>
        <p:nvSpPr>
          <p:cNvPr id="1213" name="Google Shape;1213;p21"/>
          <p:cNvSpPr txBox="1"/>
          <p:nvPr/>
        </p:nvSpPr>
        <p:spPr>
          <a:xfrm>
            <a:off x="6117336" y="3438144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rule-based</a:t>
            </a:r>
            <a:endParaRPr/>
          </a:p>
        </p:txBody>
      </p:sp>
      <p:sp>
        <p:nvSpPr>
          <p:cNvPr id="1214" name="Google Shape;1214;p21"/>
          <p:cNvSpPr txBox="1"/>
          <p:nvPr/>
        </p:nvSpPr>
        <p:spPr>
          <a:xfrm>
            <a:off x="8202167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0.53</a:t>
            </a:r>
            <a:endParaRPr/>
          </a:p>
        </p:txBody>
      </p:sp>
      <p:sp>
        <p:nvSpPr>
          <p:cNvPr id="1215" name="Google Shape;1215;p21"/>
          <p:cNvSpPr txBox="1"/>
          <p:nvPr/>
        </p:nvSpPr>
        <p:spPr>
          <a:xfrm>
            <a:off x="9253728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0.11</a:t>
            </a:r>
            <a:endParaRPr/>
          </a:p>
        </p:txBody>
      </p:sp>
      <p:sp>
        <p:nvSpPr>
          <p:cNvPr id="1216" name="Google Shape;1216;p21"/>
          <p:cNvSpPr txBox="1"/>
          <p:nvPr/>
        </p:nvSpPr>
        <p:spPr>
          <a:xfrm>
            <a:off x="10305288" y="3241548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0.39</a:t>
            </a:r>
            <a:endParaRPr/>
          </a:p>
        </p:txBody>
      </p:sp>
      <p:sp>
        <p:nvSpPr>
          <p:cNvPr id="1217" name="Google Shape;1217;p21"/>
          <p:cNvSpPr txBox="1"/>
          <p:nvPr/>
        </p:nvSpPr>
        <p:spPr>
          <a:xfrm>
            <a:off x="6117336" y="3739896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RDB2Onto</a:t>
            </a:r>
            <a:endParaRPr/>
          </a:p>
        </p:txBody>
      </p:sp>
      <p:sp>
        <p:nvSpPr>
          <p:cNvPr id="1218" name="Google Shape;1218;p21"/>
          <p:cNvSpPr txBox="1"/>
          <p:nvPr/>
        </p:nvSpPr>
        <p:spPr>
          <a:xfrm>
            <a:off x="6117336" y="3995928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rule-based</a:t>
            </a:r>
            <a:endParaRPr/>
          </a:p>
        </p:txBody>
      </p:sp>
      <p:sp>
        <p:nvSpPr>
          <p:cNvPr id="1219" name="Google Shape;1219;p21"/>
          <p:cNvSpPr txBox="1"/>
          <p:nvPr/>
        </p:nvSpPr>
        <p:spPr>
          <a:xfrm>
            <a:off x="8202167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0.67</a:t>
            </a:r>
            <a:endParaRPr/>
          </a:p>
        </p:txBody>
      </p:sp>
      <p:sp>
        <p:nvSpPr>
          <p:cNvPr id="1220" name="Google Shape;1220;p21"/>
          <p:cNvSpPr txBox="1"/>
          <p:nvPr/>
        </p:nvSpPr>
        <p:spPr>
          <a:xfrm>
            <a:off x="9253728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0.62</a:t>
            </a:r>
            <a:endParaRPr/>
          </a:p>
        </p:txBody>
      </p:sp>
      <p:sp>
        <p:nvSpPr>
          <p:cNvPr id="1221" name="Google Shape;1221;p21"/>
          <p:cNvSpPr txBox="1"/>
          <p:nvPr/>
        </p:nvSpPr>
        <p:spPr>
          <a:xfrm>
            <a:off x="10305288" y="3799332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0.44</a:t>
            </a:r>
            <a:endParaRPr/>
          </a:p>
        </p:txBody>
      </p:sp>
      <p:sp>
        <p:nvSpPr>
          <p:cNvPr id="1222" name="Google Shape;1222;p21"/>
          <p:cNvSpPr txBox="1"/>
          <p:nvPr/>
        </p:nvSpPr>
        <p:spPr>
          <a:xfrm>
            <a:off x="6117336" y="4297680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OntoGenix</a:t>
            </a:r>
            <a:endParaRPr/>
          </a:p>
        </p:txBody>
      </p:sp>
      <p:sp>
        <p:nvSpPr>
          <p:cNvPr id="1223" name="Google Shape;1223;p21"/>
          <p:cNvSpPr txBox="1"/>
          <p:nvPr/>
        </p:nvSpPr>
        <p:spPr>
          <a:xfrm>
            <a:off x="6117336" y="4553712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LLM-based</a:t>
            </a:r>
            <a:endParaRPr/>
          </a:p>
        </p:txBody>
      </p:sp>
      <p:sp>
        <p:nvSpPr>
          <p:cNvPr id="1224" name="Google Shape;1224;p21"/>
          <p:cNvSpPr txBox="1"/>
          <p:nvPr/>
        </p:nvSpPr>
        <p:spPr>
          <a:xfrm>
            <a:off x="8202167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0.58</a:t>
            </a:r>
            <a:endParaRPr/>
          </a:p>
        </p:txBody>
      </p:sp>
      <p:sp>
        <p:nvSpPr>
          <p:cNvPr id="1225" name="Google Shape;1225;p21"/>
          <p:cNvSpPr txBox="1"/>
          <p:nvPr/>
        </p:nvSpPr>
        <p:spPr>
          <a:xfrm>
            <a:off x="9253728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0.35</a:t>
            </a:r>
            <a:endParaRPr/>
          </a:p>
        </p:txBody>
      </p:sp>
      <p:sp>
        <p:nvSpPr>
          <p:cNvPr id="1226" name="Google Shape;1226;p21"/>
          <p:cNvSpPr txBox="1"/>
          <p:nvPr/>
        </p:nvSpPr>
        <p:spPr>
          <a:xfrm>
            <a:off x="10305288" y="4357116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39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0.44</a:t>
            </a:r>
            <a:endParaRPr/>
          </a:p>
        </p:txBody>
      </p:sp>
      <p:sp>
        <p:nvSpPr>
          <p:cNvPr id="1227" name="Google Shape;1227;p21"/>
          <p:cNvSpPr/>
          <p:nvPr/>
        </p:nvSpPr>
        <p:spPr>
          <a:xfrm>
            <a:off x="5980176" y="4892040"/>
            <a:ext cx="5248800" cy="512100"/>
          </a:xfrm>
          <a:prstGeom prst="rect">
            <a:avLst/>
          </a:prstGeom>
          <a:solidFill>
            <a:srgbClr val="E9EEEB"/>
          </a:solidFill>
          <a:ln cap="flat" cmpd="sng" w="9525">
            <a:solidFill>
              <a:srgbClr val="3A7D8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8" name="Google Shape;1228;p21"/>
          <p:cNvSpPr txBox="1"/>
          <p:nvPr/>
        </p:nvSpPr>
        <p:spPr>
          <a:xfrm>
            <a:off x="6117336" y="4855464"/>
            <a:ext cx="201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RIGOR</a:t>
            </a:r>
            <a:endParaRPr/>
          </a:p>
        </p:txBody>
      </p:sp>
      <p:sp>
        <p:nvSpPr>
          <p:cNvPr id="1229" name="Google Shape;1229;p21"/>
          <p:cNvSpPr txBox="1"/>
          <p:nvPr/>
        </p:nvSpPr>
        <p:spPr>
          <a:xfrm>
            <a:off x="6117336" y="5111496"/>
            <a:ext cx="1828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30" u="none" cap="none" strike="noStrike">
                <a:solidFill>
                  <a:srgbClr val="2F6B78"/>
                </a:solidFill>
                <a:latin typeface="Calibri"/>
                <a:ea typeface="Calibri"/>
                <a:cs typeface="Calibri"/>
                <a:sym typeface="Calibri"/>
              </a:rPr>
              <a:t>LLM + rules</a:t>
            </a:r>
            <a:endParaRPr/>
          </a:p>
        </p:txBody>
      </p:sp>
      <p:sp>
        <p:nvSpPr>
          <p:cNvPr id="1230" name="Google Shape;1230;p21"/>
          <p:cNvSpPr txBox="1"/>
          <p:nvPr/>
        </p:nvSpPr>
        <p:spPr>
          <a:xfrm>
            <a:off x="8202167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0.73</a:t>
            </a:r>
            <a:endParaRPr/>
          </a:p>
        </p:txBody>
      </p:sp>
      <p:sp>
        <p:nvSpPr>
          <p:cNvPr id="1231" name="Google Shape;1231;p21"/>
          <p:cNvSpPr txBox="1"/>
          <p:nvPr/>
        </p:nvSpPr>
        <p:spPr>
          <a:xfrm>
            <a:off x="9253728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0.67</a:t>
            </a:r>
            <a:endParaRPr/>
          </a:p>
        </p:txBody>
      </p:sp>
      <p:sp>
        <p:nvSpPr>
          <p:cNvPr id="1232" name="Google Shape;1232;p21"/>
          <p:cNvSpPr txBox="1"/>
          <p:nvPr/>
        </p:nvSpPr>
        <p:spPr>
          <a:xfrm>
            <a:off x="10305288" y="4914900"/>
            <a:ext cx="960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0.52</a:t>
            </a:r>
            <a:endParaRPr/>
          </a:p>
        </p:txBody>
      </p:sp>
      <p:sp>
        <p:nvSpPr>
          <p:cNvPr id="1233" name="Google Shape;1233;p21"/>
          <p:cNvSpPr/>
          <p:nvPr/>
        </p:nvSpPr>
        <p:spPr>
          <a:xfrm>
            <a:off x="841248" y="2523744"/>
            <a:ext cx="4846200" cy="3063300"/>
          </a:xfrm>
          <a:prstGeom prst="roundRect">
            <a:avLst>
              <a:gd fmla="val 12000" name="adj"/>
            </a:avLst>
          </a:prstGeom>
          <a:solidFill>
            <a:srgbClr val="F3F5F4"/>
          </a:solidFill>
          <a:ln cap="flat" cmpd="sng" w="9525">
            <a:solidFill>
              <a:srgbClr val="D9D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1"/>
          <p:cNvSpPr txBox="1"/>
          <p:nvPr/>
        </p:nvSpPr>
        <p:spPr>
          <a:xfrm>
            <a:off x="1069848" y="2706624"/>
            <a:ext cx="438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WHAT BURR CHECKS</a:t>
            </a:r>
            <a:endParaRPr/>
          </a:p>
        </p:txBody>
      </p:sp>
      <p:sp>
        <p:nvSpPr>
          <p:cNvPr id="1235" name="Google Shape;1235;p21"/>
          <p:cNvSpPr txBox="1"/>
          <p:nvPr/>
        </p:nvSpPr>
        <p:spPr>
          <a:xfrm>
            <a:off x="1069848" y="3035808"/>
            <a:ext cx="43890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Every ontology element must map back to the database.</a:t>
            </a:r>
            <a:endParaRPr/>
          </a:p>
        </p:txBody>
      </p:sp>
      <p:sp>
        <p:nvSpPr>
          <p:cNvPr id="1236" name="Google Shape;1236;p21"/>
          <p:cNvSpPr txBox="1"/>
          <p:nvPr/>
        </p:nvSpPr>
        <p:spPr>
          <a:xfrm>
            <a:off x="1069848" y="3474720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CLASSES</a:t>
            </a:r>
            <a:endParaRPr/>
          </a:p>
        </p:txBody>
      </p:sp>
      <p:sp>
        <p:nvSpPr>
          <p:cNvPr descr="database element" id="1237" name="Google Shape;1237;p21"/>
          <p:cNvSpPr/>
          <p:nvPr/>
        </p:nvSpPr>
        <p:spPr>
          <a:xfrm>
            <a:off x="2075688" y="3474720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endParaRPr/>
          </a:p>
        </p:txBody>
      </p:sp>
      <p:sp>
        <p:nvSpPr>
          <p:cNvPr id="1238" name="Google Shape;1238;p21"/>
          <p:cNvSpPr txBox="1"/>
          <p:nvPr/>
        </p:nvSpPr>
        <p:spPr>
          <a:xfrm>
            <a:off x="3392424" y="3474720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39" name="Google Shape;1239;p21"/>
          <p:cNvSpPr/>
          <p:nvPr/>
        </p:nvSpPr>
        <p:spPr>
          <a:xfrm>
            <a:off x="3648456" y="3474720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Class: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</a:t>
            </a:r>
            <a:endParaRPr/>
          </a:p>
        </p:txBody>
      </p:sp>
      <p:sp>
        <p:nvSpPr>
          <p:cNvPr id="1240" name="Google Shape;1240;p21"/>
          <p:cNvSpPr txBox="1"/>
          <p:nvPr/>
        </p:nvSpPr>
        <p:spPr>
          <a:xfrm>
            <a:off x="1069848" y="3895344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RELATIONS</a:t>
            </a:r>
            <a:endParaRPr/>
          </a:p>
        </p:txBody>
      </p:sp>
      <p:sp>
        <p:nvSpPr>
          <p:cNvPr descr="database element" id="1241" name="Google Shape;1241;p21"/>
          <p:cNvSpPr/>
          <p:nvPr/>
        </p:nvSpPr>
        <p:spPr>
          <a:xfrm>
            <a:off x="2075688" y="3895344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paper.author_id</a:t>
            </a:r>
            <a:endParaRPr/>
          </a:p>
        </p:txBody>
      </p:sp>
      <p:sp>
        <p:nvSpPr>
          <p:cNvPr id="1242" name="Google Shape;1242;p21"/>
          <p:cNvSpPr txBox="1"/>
          <p:nvPr/>
        </p:nvSpPr>
        <p:spPr>
          <a:xfrm>
            <a:off x="3392424" y="3895344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43" name="Google Shape;1243;p21"/>
          <p:cNvSpPr/>
          <p:nvPr/>
        </p:nvSpPr>
        <p:spPr>
          <a:xfrm>
            <a:off x="3648456" y="3895344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ObjectProperty: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author</a:t>
            </a:r>
            <a:endParaRPr/>
          </a:p>
        </p:txBody>
      </p:sp>
      <p:sp>
        <p:nvSpPr>
          <p:cNvPr id="1244" name="Google Shape;1244;p21"/>
          <p:cNvSpPr txBox="1"/>
          <p:nvPr/>
        </p:nvSpPr>
        <p:spPr>
          <a:xfrm>
            <a:off x="1069848" y="4315968"/>
            <a:ext cx="10059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2F6B78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endParaRPr/>
          </a:p>
        </p:txBody>
      </p:sp>
      <p:sp>
        <p:nvSpPr>
          <p:cNvPr descr="database element" id="1245" name="Google Shape;1245;p21"/>
          <p:cNvSpPr/>
          <p:nvPr/>
        </p:nvSpPr>
        <p:spPr>
          <a:xfrm>
            <a:off x="2075688" y="4315968"/>
            <a:ext cx="12984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person.name</a:t>
            </a:r>
            <a:endParaRPr/>
          </a:p>
        </p:txBody>
      </p:sp>
      <p:sp>
        <p:nvSpPr>
          <p:cNvPr id="1246" name="Google Shape;1246;p21"/>
          <p:cNvSpPr txBox="1"/>
          <p:nvPr/>
        </p:nvSpPr>
        <p:spPr>
          <a:xfrm>
            <a:off x="3392424" y="4315968"/>
            <a:ext cx="2376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descr="ontology element" id="1247" name="Google Shape;1247;p21"/>
          <p:cNvSpPr/>
          <p:nvPr/>
        </p:nvSpPr>
        <p:spPr>
          <a:xfrm>
            <a:off x="3648456" y="4315968"/>
            <a:ext cx="1856100" cy="329100"/>
          </a:xfrm>
          <a:prstGeom prst="roundRect">
            <a:avLst>
              <a:gd fmla="val 12000" name="adj"/>
            </a:avLst>
          </a:prstGeom>
          <a:solidFill>
            <a:srgbClr val="FFFFFF"/>
          </a:solidFill>
          <a:ln cap="flat" cmpd="sng" w="9525">
            <a:solidFill>
              <a:srgbClr val="D0D7D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73150" spcFirstLastPara="1" rIns="7315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DataProperty: </a:t>
            </a:r>
            <a:r>
              <a:rPr b="0" i="0" lang="en-US" sz="1050" u="none" cap="none" strike="noStrike">
                <a:solidFill>
                  <a:srgbClr val="1F2328"/>
                </a:solidFill>
                <a:latin typeface="Consolas"/>
                <a:ea typeface="Consolas"/>
                <a:cs typeface="Consolas"/>
                <a:sym typeface="Consolas"/>
              </a:rPr>
              <a:t>name</a:t>
            </a:r>
            <a:endParaRPr/>
          </a:p>
        </p:txBody>
      </p:sp>
      <p:sp>
        <p:nvSpPr>
          <p:cNvPr id="1248" name="Google Shape;1248;p21"/>
          <p:cNvSpPr txBox="1"/>
          <p:nvPr/>
        </p:nvSpPr>
        <p:spPr>
          <a:xfrm>
            <a:off x="1069848" y="4736592"/>
            <a:ext cx="4389000" cy="5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rPr>
              <a:t>Elements match when they map to the same database elements, whatever their names. F1 per element type.</a:t>
            </a:r>
            <a:endParaRPr/>
          </a:p>
        </p:txBody>
      </p:sp>
      <p:sp>
        <p:nvSpPr>
          <p:cNvPr id="1249" name="Google Shape;1249;p21"/>
          <p:cNvSpPr txBox="1"/>
          <p:nvPr/>
        </p:nvSpPr>
        <p:spPr>
          <a:xfrm>
            <a:off x="1069848" y="5358384"/>
            <a:ext cx="4389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Illustrative elements  ·  ISWC gold mapping: D2RQ example by Bizer &amp; Seaborne</a:t>
            </a:r>
            <a:endParaRPr/>
          </a:p>
        </p:txBody>
      </p:sp>
      <p:sp>
        <p:nvSpPr>
          <p:cNvPr id="1250" name="Google Shape;1250;p21"/>
          <p:cNvSpPr txBox="1"/>
          <p:nvPr/>
        </p:nvSpPr>
        <p:spPr>
          <a:xfrm>
            <a:off x="850392" y="6382512"/>
            <a:ext cx="104883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B6770"/>
                </a:solidFill>
                <a:latin typeface="Calibri"/>
                <a:ea typeface="Calibri"/>
                <a:cs typeface="Calibri"/>
                <a:sym typeface="Calibri"/>
              </a:rPr>
              <a:t>One scenario  ·  9 tables · 46 columns · 11 FKs  ·  RIGOR with Claude  ·  its prov:wasDerivedFrom links exported as a D2RQ mapping  ·  Source: paper Table 13</a:t>
            </a:r>
            <a:endParaRPr/>
          </a:p>
        </p:txBody>
      </p:sp>
      <p:sp>
        <p:nvSpPr>
          <p:cNvPr id="1251" name="Ladder"/>
          <p:cNvSpPr/>
          <p:nvPr/>
        </p:nvSpPr>
        <p:spPr>
          <a:xfrm>
            <a:off x="804672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VALID, FEWER ERRORS</a:t>
            </a:r>
          </a:p>
        </p:txBody>
      </p:sp>
      <p:sp>
        <p:nvSpPr>
          <p:cNvPr id="1252" name="Ladder"/>
          <p:cNvSpPr/>
          <p:nvPr/>
        </p:nvSpPr>
        <p:spPr>
          <a:xfrm>
            <a:off x="2938881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253" name="Ladder"/>
          <p:cNvSpPr/>
          <p:nvPr/>
        </p:nvSpPr>
        <p:spPr>
          <a:xfrm>
            <a:off x="5073091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254" name="Ladder"/>
          <p:cNvSpPr/>
          <p:nvPr/>
        </p:nvSpPr>
        <p:spPr>
          <a:xfrm>
            <a:off x="7207300" y="2103120"/>
            <a:ext cx="2042769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4  GOLD MAPPINGS</a:t>
            </a:r>
          </a:p>
        </p:txBody>
      </p:sp>
      <p:sp>
        <p:nvSpPr>
          <p:cNvPr id="1255" name="Ladder"/>
          <p:cNvSpPr/>
          <p:nvPr/>
        </p:nvSpPr>
        <p:spPr>
          <a:xfrm>
            <a:off x="934151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JUDGES</a:t>
            </a:r>
          </a:p>
        </p:txBody>
      </p:sp>
      <p:sp>
        <p:nvSpPr>
          <p:cNvPr id="1256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Relations: 0.67 vs 0.11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for W3C-Mapper / Ontop. Foreign keys become named relations, like hasPatientData.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5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19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5  /  LLM JUDGE AND HUMAN EXPERTS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7" name="Google Shape;1257;p19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1" i="0" lang="en-US" sz="29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An LLM judge and human experts both rank RIGOR first.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8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Both ranked four anonymized ontologies per table, judged against that table's competency questions.</a:t>
            </a:r>
          </a:p>
        </p:txBody>
      </p:sp>
      <p:sp>
        <p:nvSpPr>
          <p:cNvPr id="1259" name="Ladder"/>
          <p:cNvSpPr/>
          <p:nvPr/>
        </p:nvSpPr>
        <p:spPr>
          <a:xfrm>
            <a:off x="804672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VALID, FEWER ERRORS</a:t>
            </a:r>
          </a:p>
        </p:txBody>
      </p:sp>
      <p:sp>
        <p:nvSpPr>
          <p:cNvPr id="1260" name="Ladder"/>
          <p:cNvSpPr/>
          <p:nvPr/>
        </p:nvSpPr>
        <p:spPr>
          <a:xfrm>
            <a:off x="2938881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261" name="Ladder"/>
          <p:cNvSpPr/>
          <p:nvPr/>
        </p:nvSpPr>
        <p:spPr>
          <a:xfrm>
            <a:off x="5073091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262" name="Ladder"/>
          <p:cNvSpPr/>
          <p:nvPr/>
        </p:nvSpPr>
        <p:spPr>
          <a:xfrm>
            <a:off x="7207300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4  GOLD MAPPINGS</a:t>
            </a:r>
          </a:p>
        </p:txBody>
      </p:sp>
      <p:sp>
        <p:nvSpPr>
          <p:cNvPr id="1263" name="Ladder"/>
          <p:cNvSpPr/>
          <p:nvPr/>
        </p:nvSpPr>
        <p:spPr>
          <a:xfrm>
            <a:off x="9341510" y="2103120"/>
            <a:ext cx="2042769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5  JUDGES</a:t>
            </a:r>
          </a:p>
        </p:txBody>
      </p:sp>
      <p:sp>
        <p:nvSpPr>
          <p:cNvPr id="1264" name="CQ strip"/>
          <p:cNvSpPr/>
          <p:nvPr/>
        </p:nvSpPr>
        <p:spPr>
          <a:xfrm>
            <a:off x="804672" y="2606040"/>
            <a:ext cx="10579608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15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COMPETENCY QUESTIONS  </a:t>
            </a:r>
            <a:r>
              <a:rPr lang="en-US" sz="115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what the ontology must answer. 5 per table, 290 in total, expert-verified.  </a:t>
            </a:r>
            <a:r>
              <a:rPr lang="en-US" sz="1150" b="0" i="1" dirty="0">
                <a:solidFill>
                  <a:srgbClr val="1F2328"/>
                </a:solidFill>
                <a:latin typeface="Calibri"/>
                <a:cs typeface="Calibri"/>
              </a:rPr>
              <a:t xml:space="preserve">e.g. “Which patients had abnormal physical exam findings?”</a:t>
            </a:r>
          </a:p>
        </p:txBody>
      </p:sp>
      <p:sp>
        <p:nvSpPr>
          <p:cNvPr id="1265" name="Card"/>
          <p:cNvSpPr/>
          <p:nvPr/>
        </p:nvSpPr>
        <p:spPr>
          <a:xfrm>
            <a:off x="804672" y="3172968"/>
            <a:ext cx="5760720" cy="258775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66" name="Card label"/>
          <p:cNvSpPr txBox="1"/>
          <p:nvPr/>
        </p:nvSpPr>
        <p:spPr>
          <a:xfrm>
            <a:off x="1078992" y="3355848"/>
            <a:ext cx="52120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LLM-AS-A-JUDGE  ·  GPT-5.4</a:t>
            </a:r>
          </a:p>
        </p:txBody>
      </p:sp>
      <p:sp>
        <p:nvSpPr>
          <p:cNvPr id="1267" name="Big"/>
          <p:cNvSpPr txBox="1"/>
          <p:nvPr/>
        </p:nvSpPr>
        <p:spPr>
          <a:xfrm>
            <a:off x="1078992" y="3557016"/>
            <a:ext cx="21945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34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58 / 58</a:t>
            </a:r>
          </a:p>
        </p:txBody>
      </p:sp>
      <p:sp>
        <p:nvSpPr>
          <p:cNvPr id="1268" name="Claim"/>
          <p:cNvSpPr txBox="1"/>
          <p:nvPr/>
        </p:nvSpPr>
        <p:spPr>
          <a:xfrm>
            <a:off x="3136391" y="3584448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tables with RIGOR ranked first</a:t>
            </a:r>
          </a:p>
        </p:txBody>
      </p:sp>
      <p:sp>
        <p:nvSpPr>
          <p:cNvPr id="1269" name="Database"/>
          <p:cNvSpPr txBox="1"/>
          <p:nvPr/>
        </p:nvSpPr>
        <p:spPr>
          <a:xfrm>
            <a:off x="2359152" y="4160520"/>
            <a:ext cx="12984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270" name="Database"/>
          <p:cNvSpPr txBox="1"/>
          <p:nvPr/>
        </p:nvSpPr>
        <p:spPr>
          <a:xfrm>
            <a:off x="3657600" y="4160520"/>
            <a:ext cx="12984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271" name="Database"/>
          <p:cNvSpPr txBox="1"/>
          <p:nvPr/>
        </p:nvSpPr>
        <p:spPr>
          <a:xfrm>
            <a:off x="4956048" y="4160520"/>
            <a:ext cx="12984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Chinook</a:t>
            </a:r>
          </a:p>
        </p:txBody>
      </p:sp>
      <p:sp>
        <p:nvSpPr>
          <p:cNvPr id="1272" name="Method"/>
          <p:cNvSpPr txBox="1"/>
          <p:nvPr/>
        </p:nvSpPr>
        <p:spPr>
          <a:xfrm>
            <a:off x="1033271" y="4416552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273" name="Cell"/>
          <p:cNvSpPr/>
          <p:nvPr/>
        </p:nvSpPr>
        <p:spPr>
          <a:xfrm>
            <a:off x="2377440" y="4434840"/>
            <a:ext cx="1261872" cy="274320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2.05</a:t>
            </a:r>
          </a:p>
        </p:txBody>
      </p:sp>
      <p:sp>
        <p:nvSpPr>
          <p:cNvPr id="1274" name="Cell"/>
          <p:cNvSpPr/>
          <p:nvPr/>
        </p:nvSpPr>
        <p:spPr>
          <a:xfrm>
            <a:off x="3675887" y="4434840"/>
            <a:ext cx="1261872" cy="274320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2.13</a:t>
            </a:r>
          </a:p>
        </p:txBody>
      </p:sp>
      <p:sp>
        <p:nvSpPr>
          <p:cNvPr id="1275" name="Cell"/>
          <p:cNvSpPr/>
          <p:nvPr/>
        </p:nvSpPr>
        <p:spPr>
          <a:xfrm>
            <a:off x="4974336" y="4434840"/>
            <a:ext cx="1261872" cy="274320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0.13</a:t>
            </a:r>
          </a:p>
        </p:txBody>
      </p:sp>
      <p:sp>
        <p:nvSpPr>
          <p:cNvPr id="1276" name="Method"/>
          <p:cNvSpPr txBox="1"/>
          <p:nvPr/>
        </p:nvSpPr>
        <p:spPr>
          <a:xfrm>
            <a:off x="1033271" y="4727448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277" name="Cell"/>
          <p:cNvSpPr/>
          <p:nvPr/>
        </p:nvSpPr>
        <p:spPr>
          <a:xfrm>
            <a:off x="2377440" y="4745736"/>
            <a:ext cx="1261872" cy="274320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1.38</a:t>
            </a:r>
          </a:p>
        </p:txBody>
      </p:sp>
      <p:sp>
        <p:nvSpPr>
          <p:cNvPr id="1278" name="Cell"/>
          <p:cNvSpPr/>
          <p:nvPr/>
        </p:nvSpPr>
        <p:spPr>
          <a:xfrm>
            <a:off x="3675887" y="4745736"/>
            <a:ext cx="1261872" cy="274320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0.28</a:t>
            </a:r>
          </a:p>
        </p:txBody>
      </p:sp>
      <p:sp>
        <p:nvSpPr>
          <p:cNvPr id="1279" name="Cell"/>
          <p:cNvSpPr/>
          <p:nvPr/>
        </p:nvSpPr>
        <p:spPr>
          <a:xfrm>
            <a:off x="4974336" y="4745736"/>
            <a:ext cx="1261872" cy="274320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1.48</a:t>
            </a:r>
          </a:p>
        </p:txBody>
      </p:sp>
      <p:sp>
        <p:nvSpPr>
          <p:cNvPr id="1280" name="Method"/>
          <p:cNvSpPr txBox="1"/>
          <p:nvPr/>
        </p:nvSpPr>
        <p:spPr>
          <a:xfrm>
            <a:off x="1033271" y="5038344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281" name="Cell"/>
          <p:cNvSpPr/>
          <p:nvPr/>
        </p:nvSpPr>
        <p:spPr>
          <a:xfrm>
            <a:off x="2377440" y="5056632"/>
            <a:ext cx="1261872" cy="274320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1.89</a:t>
            </a:r>
          </a:p>
        </p:txBody>
      </p:sp>
      <p:sp>
        <p:nvSpPr>
          <p:cNvPr id="1282" name="Cell"/>
          <p:cNvSpPr/>
          <p:nvPr/>
        </p:nvSpPr>
        <p:spPr>
          <a:xfrm>
            <a:off x="3675887" y="5056632"/>
            <a:ext cx="1261872" cy="274320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0.67</a:t>
            </a:r>
          </a:p>
        </p:txBody>
      </p:sp>
      <p:sp>
        <p:nvSpPr>
          <p:cNvPr id="1283" name="Cell"/>
          <p:cNvSpPr/>
          <p:nvPr/>
        </p:nvSpPr>
        <p:spPr>
          <a:xfrm>
            <a:off x="4974336" y="5056632"/>
            <a:ext cx="1261872" cy="274320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2.77</a:t>
            </a:r>
          </a:p>
        </p:txBody>
      </p:sp>
      <p:sp>
        <p:nvSpPr>
          <p:cNvPr id="1284" name="Method"/>
          <p:cNvSpPr txBox="1"/>
          <p:nvPr/>
        </p:nvSpPr>
        <p:spPr>
          <a:xfrm>
            <a:off x="1033271" y="5349240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285" name="Cell"/>
          <p:cNvSpPr/>
          <p:nvPr/>
        </p:nvSpPr>
        <p:spPr>
          <a:xfrm>
            <a:off x="2377440" y="5367528"/>
            <a:ext cx="1261872" cy="274320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3.93</a:t>
            </a:r>
          </a:p>
        </p:txBody>
      </p:sp>
      <p:sp>
        <p:nvSpPr>
          <p:cNvPr id="1286" name="Cell"/>
          <p:cNvSpPr/>
          <p:nvPr/>
        </p:nvSpPr>
        <p:spPr>
          <a:xfrm>
            <a:off x="3675887" y="5367528"/>
            <a:ext cx="1261872" cy="274320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3.64</a:t>
            </a:r>
          </a:p>
        </p:txBody>
      </p:sp>
      <p:sp>
        <p:nvSpPr>
          <p:cNvPr id="1287" name="Cell"/>
          <p:cNvSpPr/>
          <p:nvPr/>
        </p:nvSpPr>
        <p:spPr>
          <a:xfrm>
            <a:off x="4974336" y="5367528"/>
            <a:ext cx="1261872" cy="274320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3.32</a:t>
            </a:r>
          </a:p>
        </p:txBody>
      </p:sp>
      <p:sp>
        <p:nvSpPr>
          <p:cNvPr id="1288" name="Card"/>
          <p:cNvSpPr/>
          <p:nvPr/>
        </p:nvSpPr>
        <p:spPr>
          <a:xfrm>
            <a:off x="6702552" y="3172968"/>
            <a:ext cx="4681728" cy="2587752"/>
          </a:xfrm>
          <a:prstGeom prst="roundRect">
            <a:avLst>
              <a:gd name="adj" fmla="val 12000"/>
            </a:avLst>
          </a:prstGeom>
          <a:solidFill>
            <a:srgbClr val="F3F5F4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289" name="Card label"/>
          <p:cNvSpPr txBox="1"/>
          <p:nvPr/>
        </p:nvSpPr>
        <p:spPr>
          <a:xfrm>
            <a:off x="6976872" y="3355848"/>
            <a:ext cx="41330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10 ONTOLOGY EXPERTS</a:t>
            </a:r>
          </a:p>
        </p:txBody>
      </p:sp>
      <p:sp>
        <p:nvSpPr>
          <p:cNvPr id="1290" name="Big"/>
          <p:cNvSpPr txBox="1"/>
          <p:nvPr/>
        </p:nvSpPr>
        <p:spPr>
          <a:xfrm>
            <a:off x="6976872" y="3557016"/>
            <a:ext cx="219456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3400" b="1" i="0" dirty="0">
                <a:solidFill>
                  <a:srgbClr val="1F2328"/>
                </a:solidFill>
                <a:latin typeface="Cambria"/>
                <a:cs typeface="Cambria"/>
              </a:rPr>
              <a:t xml:space="preserve">28 / 40</a:t>
            </a:r>
          </a:p>
        </p:txBody>
      </p:sp>
      <p:sp>
        <p:nvSpPr>
          <p:cNvPr id="1291" name="Claim"/>
          <p:cNvSpPr txBox="1"/>
          <p:nvPr/>
        </p:nvSpPr>
        <p:spPr>
          <a:xfrm>
            <a:off x="8942832" y="3584448"/>
            <a:ext cx="230428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rankings with RIGOR first (70%)</a:t>
            </a:r>
          </a:p>
        </p:txBody>
      </p:sp>
      <p:sp>
        <p:nvSpPr>
          <p:cNvPr id="1292" name="Database"/>
          <p:cNvSpPr txBox="1"/>
          <p:nvPr/>
        </p:nvSpPr>
        <p:spPr>
          <a:xfrm>
            <a:off x="8257031" y="4160520"/>
            <a:ext cx="1417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293" name="Database"/>
          <p:cNvSpPr txBox="1"/>
          <p:nvPr/>
        </p:nvSpPr>
        <p:spPr>
          <a:xfrm>
            <a:off x="9674352" y="4160520"/>
            <a:ext cx="1417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294" name="Method"/>
          <p:cNvSpPr txBox="1"/>
          <p:nvPr/>
        </p:nvSpPr>
        <p:spPr>
          <a:xfrm>
            <a:off x="6931152" y="4416552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295" name="Cell"/>
          <p:cNvSpPr/>
          <p:nvPr/>
        </p:nvSpPr>
        <p:spPr>
          <a:xfrm>
            <a:off x="8275319" y="4434840"/>
            <a:ext cx="1380744" cy="274320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</a:t>
            </a:r>
          </a:p>
        </p:txBody>
      </p:sp>
      <p:sp>
        <p:nvSpPr>
          <p:cNvPr id="1296" name="Cell"/>
          <p:cNvSpPr/>
          <p:nvPr/>
        </p:nvSpPr>
        <p:spPr>
          <a:xfrm>
            <a:off x="9692640" y="4434840"/>
            <a:ext cx="1380744" cy="274320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297" name="Method"/>
          <p:cNvSpPr txBox="1"/>
          <p:nvPr/>
        </p:nvSpPr>
        <p:spPr>
          <a:xfrm>
            <a:off x="6931152" y="4727448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298" name="Cell"/>
          <p:cNvSpPr/>
          <p:nvPr/>
        </p:nvSpPr>
        <p:spPr>
          <a:xfrm>
            <a:off x="8275319" y="4745736"/>
            <a:ext cx="1380744" cy="274320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</a:t>
            </a:r>
          </a:p>
        </p:txBody>
      </p:sp>
      <p:sp>
        <p:nvSpPr>
          <p:cNvPr id="1299" name="Cell"/>
          <p:cNvSpPr/>
          <p:nvPr/>
        </p:nvSpPr>
        <p:spPr>
          <a:xfrm>
            <a:off x="9692640" y="4745736"/>
            <a:ext cx="1380744" cy="274320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</a:t>
            </a:r>
          </a:p>
        </p:txBody>
      </p:sp>
      <p:sp>
        <p:nvSpPr>
          <p:cNvPr id="1300" name="Method"/>
          <p:cNvSpPr txBox="1"/>
          <p:nvPr/>
        </p:nvSpPr>
        <p:spPr>
          <a:xfrm>
            <a:off x="6931152" y="5038344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301" name="Cell"/>
          <p:cNvSpPr/>
          <p:nvPr/>
        </p:nvSpPr>
        <p:spPr>
          <a:xfrm>
            <a:off x="8275319" y="5056632"/>
            <a:ext cx="1380744" cy="274320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302" name="Cell"/>
          <p:cNvSpPr/>
          <p:nvPr/>
        </p:nvSpPr>
        <p:spPr>
          <a:xfrm>
            <a:off x="9692640" y="5056632"/>
            <a:ext cx="1380744" cy="274320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303" name="Method"/>
          <p:cNvSpPr txBox="1"/>
          <p:nvPr/>
        </p:nvSpPr>
        <p:spPr>
          <a:xfrm>
            <a:off x="6931152" y="5349240"/>
            <a:ext cx="13258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304" name="Cell"/>
          <p:cNvSpPr/>
          <p:nvPr/>
        </p:nvSpPr>
        <p:spPr>
          <a:xfrm>
            <a:off x="8275319" y="5367528"/>
            <a:ext cx="1380744" cy="274320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14</a:t>
            </a:r>
          </a:p>
        </p:txBody>
      </p:sp>
      <p:sp>
        <p:nvSpPr>
          <p:cNvPr id="1305" name="Cell"/>
          <p:cNvSpPr/>
          <p:nvPr/>
        </p:nvSpPr>
        <p:spPr>
          <a:xfrm>
            <a:off x="9692640" y="5367528"/>
            <a:ext cx="1380744" cy="274320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14</a:t>
            </a:r>
          </a:p>
        </p:txBody>
      </p:sp>
      <p:sp>
        <p:nvSpPr>
          <p:cNvPr id="1306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Direct Mapping: structure without meaning.  LLMs alone: meaning without structure. 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RIGOR: both, and checked.</a:t>
            </a:r>
          </a:p>
        </p:txBody>
      </p:sp>
      <p:sp>
        <p:nvSpPr>
          <p:cNvPr id="1307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Judge: average score 0–5 per database, Claude ontologies, 58 tables. Experts: first places of 20 per database, 4 medical tables, Kendall's W 0.39–0.72. Paper Tables 1, 6, 12.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20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1  /  VALID, WITH FEWER ERRORS</a:t>
            </a:r>
            <a:endParaRPr/>
          </a:p>
        </p:txBody>
      </p:sp>
      <p:sp>
        <p:nvSpPr>
          <p:cNvPr id="1145" name="Google Shape;1145;p20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Every ontology is valid. RIGOR's have far fewer modeling errors.</a:t>
            </a:r>
            <a:endParaRPr/>
          </a:p>
        </p:txBody>
      </p:sp>
      <p:sp>
        <p:nvSpPr>
          <p:cNvPr id="1146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All 30 ontologies are valid OWL 2 DL (RDFLib) and logically consistent (HermiT). So we look deeper.</a:t>
            </a:r>
          </a:p>
        </p:txBody>
      </p:sp>
      <p:sp>
        <p:nvSpPr>
          <p:cNvPr id="1147" name="Ladder"/>
          <p:cNvSpPr/>
          <p:nvPr/>
        </p:nvSpPr>
        <p:spPr>
          <a:xfrm>
            <a:off x="804672" y="2103120"/>
            <a:ext cx="2042769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1  VALID, FEWER ERRORS</a:t>
            </a:r>
          </a:p>
        </p:txBody>
      </p:sp>
      <p:sp>
        <p:nvSpPr>
          <p:cNvPr id="1148" name="Ladder"/>
          <p:cNvSpPr/>
          <p:nvPr/>
        </p:nvSpPr>
        <p:spPr>
          <a:xfrm>
            <a:off x="2938881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49" name="Ladder"/>
          <p:cNvSpPr/>
          <p:nvPr/>
        </p:nvSpPr>
        <p:spPr>
          <a:xfrm>
            <a:off x="5073091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0" name="Ladder"/>
          <p:cNvSpPr/>
          <p:nvPr/>
        </p:nvSpPr>
        <p:spPr>
          <a:xfrm>
            <a:off x="720730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4  GOLD MAPPINGS</a:t>
            </a:r>
          </a:p>
        </p:txBody>
      </p:sp>
      <p:sp>
        <p:nvSpPr>
          <p:cNvPr id="1151" name="Ladder"/>
          <p:cNvSpPr/>
          <p:nvPr/>
        </p:nvSpPr>
        <p:spPr>
          <a:xfrm>
            <a:off x="934151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JUDGES</a:t>
            </a:r>
          </a:p>
        </p:txBody>
      </p:sp>
      <p:sp>
        <p:nvSpPr>
          <p:cNvPr id="1152" name="Card"/>
          <p:cNvSpPr/>
          <p:nvPr/>
        </p:nvSpPr>
        <p:spPr>
          <a:xfrm>
            <a:off x="804672" y="2606040"/>
            <a:ext cx="1057960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3" name="Card label"/>
          <p:cNvSpPr txBox="1"/>
          <p:nvPr/>
        </p:nvSpPr>
        <p:spPr>
          <a:xfrm>
            <a:off x="1078992" y="2788920"/>
            <a:ext cx="100309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MODELING ERRORS FOUND BY OOPS!</a:t>
            </a:r>
          </a:p>
        </p:txBody>
      </p:sp>
      <p:sp>
        <p:nvSpPr>
          <p:cNvPr id="1154" name="Card note"/>
          <p:cNvSpPr txBox="1"/>
          <p:nvPr/>
        </p:nvSpPr>
        <p:spPr>
          <a:xfrm>
            <a:off x="1078992" y="3081528"/>
            <a:ext cx="10030968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pitfalls per ontology, fewer is better</a:t>
            </a:r>
          </a:p>
        </p:txBody>
      </p:sp>
      <p:sp>
        <p:nvSpPr>
          <p:cNvPr id="1155" name="Database"/>
          <p:cNvSpPr txBox="1"/>
          <p:nvPr/>
        </p:nvSpPr>
        <p:spPr>
          <a:xfrm>
            <a:off x="2679191" y="3383280"/>
            <a:ext cx="252374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156" name="LLM"/>
          <p:cNvSpPr txBox="1"/>
          <p:nvPr/>
        </p:nvSpPr>
        <p:spPr>
          <a:xfrm>
            <a:off x="2679191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57" name="LLM"/>
          <p:cNvSpPr txBox="1"/>
          <p:nvPr/>
        </p:nvSpPr>
        <p:spPr>
          <a:xfrm>
            <a:off x="3520439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58" name="LLM"/>
          <p:cNvSpPr txBox="1"/>
          <p:nvPr/>
        </p:nvSpPr>
        <p:spPr>
          <a:xfrm>
            <a:off x="4361688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59" name="Database"/>
          <p:cNvSpPr txBox="1"/>
          <p:nvPr/>
        </p:nvSpPr>
        <p:spPr>
          <a:xfrm>
            <a:off x="5202936" y="3383280"/>
            <a:ext cx="252374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160" name="LLM"/>
          <p:cNvSpPr txBox="1"/>
          <p:nvPr/>
        </p:nvSpPr>
        <p:spPr>
          <a:xfrm>
            <a:off x="5202936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1" name="LLM"/>
          <p:cNvSpPr txBox="1"/>
          <p:nvPr/>
        </p:nvSpPr>
        <p:spPr>
          <a:xfrm>
            <a:off x="6044183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2" name="LLM"/>
          <p:cNvSpPr txBox="1"/>
          <p:nvPr/>
        </p:nvSpPr>
        <p:spPr>
          <a:xfrm>
            <a:off x="6885432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3" name="Database"/>
          <p:cNvSpPr txBox="1"/>
          <p:nvPr/>
        </p:nvSpPr>
        <p:spPr>
          <a:xfrm>
            <a:off x="7726679" y="3383280"/>
            <a:ext cx="252374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Chinook</a:t>
            </a:r>
          </a:p>
        </p:txBody>
      </p:sp>
      <p:sp>
        <p:nvSpPr>
          <p:cNvPr id="1164" name="LLM"/>
          <p:cNvSpPr txBox="1"/>
          <p:nvPr/>
        </p:nvSpPr>
        <p:spPr>
          <a:xfrm>
            <a:off x="7726679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5" name="LLM"/>
          <p:cNvSpPr txBox="1"/>
          <p:nvPr/>
        </p:nvSpPr>
        <p:spPr>
          <a:xfrm>
            <a:off x="8567928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6" name="LLM"/>
          <p:cNvSpPr txBox="1"/>
          <p:nvPr/>
        </p:nvSpPr>
        <p:spPr>
          <a:xfrm>
            <a:off x="9409176" y="3611880"/>
            <a:ext cx="84124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7" name="Avg head"/>
          <p:cNvSpPr txBox="1"/>
          <p:nvPr/>
        </p:nvSpPr>
        <p:spPr>
          <a:xfrm>
            <a:off x="10296144" y="34930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5B6770"/>
                </a:solidFill>
                <a:latin typeface="Calibri"/>
                <a:cs typeface="Calibri"/>
              </a:rPr>
              <a:t xml:space="preserve">Avg</a:t>
            </a:r>
          </a:p>
        </p:txBody>
      </p:sp>
      <p:sp>
        <p:nvSpPr>
          <p:cNvPr id="1168" name="Method"/>
          <p:cNvSpPr txBox="1"/>
          <p:nvPr/>
        </p:nvSpPr>
        <p:spPr>
          <a:xfrm>
            <a:off x="1078992" y="38404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69" name="Cell"/>
          <p:cNvSpPr/>
          <p:nvPr/>
        </p:nvSpPr>
        <p:spPr>
          <a:xfrm>
            <a:off x="2697479" y="3858768"/>
            <a:ext cx="2487168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731</a:t>
            </a:r>
          </a:p>
        </p:txBody>
      </p:sp>
      <p:sp>
        <p:nvSpPr>
          <p:cNvPr id="1170" name="Cell"/>
          <p:cNvSpPr/>
          <p:nvPr/>
        </p:nvSpPr>
        <p:spPr>
          <a:xfrm>
            <a:off x="5221223" y="3858768"/>
            <a:ext cx="2487168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665</a:t>
            </a:r>
          </a:p>
        </p:txBody>
      </p:sp>
      <p:sp>
        <p:nvSpPr>
          <p:cNvPr id="1171" name="Cell"/>
          <p:cNvSpPr/>
          <p:nvPr/>
        </p:nvSpPr>
        <p:spPr>
          <a:xfrm>
            <a:off x="7744967" y="3858768"/>
            <a:ext cx="2487168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102</a:t>
            </a:r>
          </a:p>
        </p:txBody>
      </p:sp>
      <p:sp>
        <p:nvSpPr>
          <p:cNvPr id="1172" name="Avg"/>
          <p:cNvSpPr txBox="1"/>
          <p:nvPr/>
        </p:nvSpPr>
        <p:spPr>
          <a:xfrm>
            <a:off x="10296144" y="38404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499</a:t>
            </a:r>
          </a:p>
        </p:txBody>
      </p:sp>
      <p:sp>
        <p:nvSpPr>
          <p:cNvPr id="1173" name="Method"/>
          <p:cNvSpPr txBox="1"/>
          <p:nvPr/>
        </p:nvSpPr>
        <p:spPr>
          <a:xfrm>
            <a:off x="1078992" y="42976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174" name="Cell"/>
          <p:cNvSpPr/>
          <p:nvPr/>
        </p:nvSpPr>
        <p:spPr>
          <a:xfrm>
            <a:off x="2697479" y="43159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422</a:t>
            </a:r>
          </a:p>
        </p:txBody>
      </p:sp>
      <p:sp>
        <p:nvSpPr>
          <p:cNvPr id="1175" name="Cell"/>
          <p:cNvSpPr/>
          <p:nvPr/>
        </p:nvSpPr>
        <p:spPr>
          <a:xfrm>
            <a:off x="3538727" y="43159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397</a:t>
            </a:r>
          </a:p>
        </p:txBody>
      </p:sp>
      <p:sp>
        <p:nvSpPr>
          <p:cNvPr id="1176" name="Cell"/>
          <p:cNvSpPr/>
          <p:nvPr/>
        </p:nvSpPr>
        <p:spPr>
          <a:xfrm>
            <a:off x="4379975" y="43159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403</a:t>
            </a:r>
          </a:p>
        </p:txBody>
      </p:sp>
      <p:sp>
        <p:nvSpPr>
          <p:cNvPr id="1177" name="Cell"/>
          <p:cNvSpPr/>
          <p:nvPr/>
        </p:nvSpPr>
        <p:spPr>
          <a:xfrm>
            <a:off x="5221223" y="43159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434</a:t>
            </a:r>
          </a:p>
        </p:txBody>
      </p:sp>
      <p:sp>
        <p:nvSpPr>
          <p:cNvPr id="1178" name="Cell"/>
          <p:cNvSpPr/>
          <p:nvPr/>
        </p:nvSpPr>
        <p:spPr>
          <a:xfrm>
            <a:off x="6062471" y="43159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440</a:t>
            </a:r>
          </a:p>
        </p:txBody>
      </p:sp>
      <p:sp>
        <p:nvSpPr>
          <p:cNvPr id="1179" name="Cell"/>
          <p:cNvSpPr/>
          <p:nvPr/>
        </p:nvSpPr>
        <p:spPr>
          <a:xfrm>
            <a:off x="6903720" y="4315968"/>
            <a:ext cx="804672" cy="420624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421</a:t>
            </a:r>
          </a:p>
        </p:txBody>
      </p:sp>
      <p:sp>
        <p:nvSpPr>
          <p:cNvPr id="1180" name="Cell"/>
          <p:cNvSpPr/>
          <p:nvPr/>
        </p:nvSpPr>
        <p:spPr>
          <a:xfrm>
            <a:off x="7744967" y="43159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95</a:t>
            </a:r>
          </a:p>
        </p:txBody>
      </p:sp>
      <p:sp>
        <p:nvSpPr>
          <p:cNvPr id="1181" name="Cell"/>
          <p:cNvSpPr/>
          <p:nvPr/>
        </p:nvSpPr>
        <p:spPr>
          <a:xfrm>
            <a:off x="8586216" y="43159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74</a:t>
            </a:r>
          </a:p>
        </p:txBody>
      </p:sp>
      <p:sp>
        <p:nvSpPr>
          <p:cNvPr id="1182" name="Cell"/>
          <p:cNvSpPr/>
          <p:nvPr/>
        </p:nvSpPr>
        <p:spPr>
          <a:xfrm>
            <a:off x="9427463" y="43159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81</a:t>
            </a:r>
          </a:p>
        </p:txBody>
      </p:sp>
      <p:sp>
        <p:nvSpPr>
          <p:cNvPr id="1183" name="Avg"/>
          <p:cNvSpPr txBox="1"/>
          <p:nvPr/>
        </p:nvSpPr>
        <p:spPr>
          <a:xfrm>
            <a:off x="10296144" y="42976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307</a:t>
            </a:r>
          </a:p>
        </p:txBody>
      </p:sp>
      <p:sp>
        <p:nvSpPr>
          <p:cNvPr id="1184" name="Method"/>
          <p:cNvSpPr txBox="1"/>
          <p:nvPr/>
        </p:nvSpPr>
        <p:spPr>
          <a:xfrm>
            <a:off x="1078992" y="47548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</a:t>
            </a:r>
          </a:p>
        </p:txBody>
      </p:sp>
      <p:sp>
        <p:nvSpPr>
          <p:cNvPr id="1185" name="Cell"/>
          <p:cNvSpPr/>
          <p:nvPr/>
        </p:nvSpPr>
        <p:spPr>
          <a:xfrm>
            <a:off x="2697479" y="47731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29</a:t>
            </a:r>
          </a:p>
        </p:txBody>
      </p:sp>
      <p:sp>
        <p:nvSpPr>
          <p:cNvPr id="1186" name="Cell"/>
          <p:cNvSpPr/>
          <p:nvPr/>
        </p:nvSpPr>
        <p:spPr>
          <a:xfrm>
            <a:off x="3538727" y="47731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61</a:t>
            </a:r>
          </a:p>
        </p:txBody>
      </p:sp>
      <p:sp>
        <p:nvSpPr>
          <p:cNvPr id="1187" name="Cell"/>
          <p:cNvSpPr/>
          <p:nvPr/>
        </p:nvSpPr>
        <p:spPr>
          <a:xfrm>
            <a:off x="4379975" y="47731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18</a:t>
            </a:r>
          </a:p>
        </p:txBody>
      </p:sp>
      <p:sp>
        <p:nvSpPr>
          <p:cNvPr id="1188" name="Cell"/>
          <p:cNvSpPr/>
          <p:nvPr/>
        </p:nvSpPr>
        <p:spPr>
          <a:xfrm>
            <a:off x="5221223" y="47731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39</a:t>
            </a:r>
          </a:p>
        </p:txBody>
      </p:sp>
      <p:sp>
        <p:nvSpPr>
          <p:cNvPr id="1189" name="Cell"/>
          <p:cNvSpPr/>
          <p:nvPr/>
        </p:nvSpPr>
        <p:spPr>
          <a:xfrm>
            <a:off x="6062471" y="4773168"/>
            <a:ext cx="804672" cy="420624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220</a:t>
            </a:r>
          </a:p>
        </p:txBody>
      </p:sp>
      <p:sp>
        <p:nvSpPr>
          <p:cNvPr id="1190" name="Cell"/>
          <p:cNvSpPr/>
          <p:nvPr/>
        </p:nvSpPr>
        <p:spPr>
          <a:xfrm>
            <a:off x="6903720" y="47731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27</a:t>
            </a:r>
          </a:p>
        </p:txBody>
      </p:sp>
      <p:sp>
        <p:nvSpPr>
          <p:cNvPr id="1191" name="Cell"/>
          <p:cNvSpPr/>
          <p:nvPr/>
        </p:nvSpPr>
        <p:spPr>
          <a:xfrm>
            <a:off x="7744967" y="47731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24</a:t>
            </a:r>
          </a:p>
        </p:txBody>
      </p:sp>
      <p:sp>
        <p:nvSpPr>
          <p:cNvPr id="1192" name="Cell"/>
          <p:cNvSpPr/>
          <p:nvPr/>
        </p:nvSpPr>
        <p:spPr>
          <a:xfrm>
            <a:off x="8586216" y="4773168"/>
            <a:ext cx="804672" cy="420624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35</a:t>
            </a:r>
          </a:p>
        </p:txBody>
      </p:sp>
      <p:sp>
        <p:nvSpPr>
          <p:cNvPr id="1193" name="Cell"/>
          <p:cNvSpPr/>
          <p:nvPr/>
        </p:nvSpPr>
        <p:spPr>
          <a:xfrm>
            <a:off x="9427463" y="47731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14</a:t>
            </a:r>
          </a:p>
        </p:txBody>
      </p:sp>
      <p:sp>
        <p:nvSpPr>
          <p:cNvPr id="1194" name="Avg"/>
          <p:cNvSpPr txBox="1"/>
          <p:nvPr/>
        </p:nvSpPr>
        <p:spPr>
          <a:xfrm>
            <a:off x="10296144" y="47548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52</a:t>
            </a:r>
          </a:p>
        </p:txBody>
      </p:sp>
      <p:sp>
        <p:nvSpPr>
          <p:cNvPr id="1195" name="Method"/>
          <p:cNvSpPr txBox="1"/>
          <p:nvPr/>
        </p:nvSpPr>
        <p:spPr>
          <a:xfrm>
            <a:off x="1078992" y="521208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196" name="Cell"/>
          <p:cNvSpPr/>
          <p:nvPr/>
        </p:nvSpPr>
        <p:spPr>
          <a:xfrm>
            <a:off x="2697479" y="52303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20</a:t>
            </a:r>
          </a:p>
        </p:txBody>
      </p:sp>
      <p:sp>
        <p:nvSpPr>
          <p:cNvPr id="1197" name="Cell"/>
          <p:cNvSpPr/>
          <p:nvPr/>
        </p:nvSpPr>
        <p:spPr>
          <a:xfrm>
            <a:off x="3538727" y="52303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23</a:t>
            </a:r>
          </a:p>
        </p:txBody>
      </p:sp>
      <p:sp>
        <p:nvSpPr>
          <p:cNvPr id="1198" name="Cell"/>
          <p:cNvSpPr/>
          <p:nvPr/>
        </p:nvSpPr>
        <p:spPr>
          <a:xfrm>
            <a:off x="4379975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</a:t>
            </a:r>
          </a:p>
        </p:txBody>
      </p:sp>
      <p:sp>
        <p:nvSpPr>
          <p:cNvPr id="1199" name="Cell"/>
          <p:cNvSpPr/>
          <p:nvPr/>
        </p:nvSpPr>
        <p:spPr>
          <a:xfrm>
            <a:off x="5221223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200" name="Cell"/>
          <p:cNvSpPr/>
          <p:nvPr/>
        </p:nvSpPr>
        <p:spPr>
          <a:xfrm>
            <a:off x="6062471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</a:t>
            </a:r>
          </a:p>
        </p:txBody>
      </p:sp>
      <p:sp>
        <p:nvSpPr>
          <p:cNvPr id="1201" name="Cell"/>
          <p:cNvSpPr/>
          <p:nvPr/>
        </p:nvSpPr>
        <p:spPr>
          <a:xfrm>
            <a:off x="6903720" y="5230368"/>
            <a:ext cx="804672" cy="420624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26</a:t>
            </a:r>
          </a:p>
        </p:txBody>
      </p:sp>
      <p:sp>
        <p:nvSpPr>
          <p:cNvPr id="1202" name="Cell"/>
          <p:cNvSpPr/>
          <p:nvPr/>
        </p:nvSpPr>
        <p:spPr>
          <a:xfrm>
            <a:off x="7744967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3" name="Cell"/>
          <p:cNvSpPr/>
          <p:nvPr/>
        </p:nvSpPr>
        <p:spPr>
          <a:xfrm>
            <a:off x="8586216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4" name="Cell"/>
          <p:cNvSpPr/>
          <p:nvPr/>
        </p:nvSpPr>
        <p:spPr>
          <a:xfrm>
            <a:off x="9427463" y="5230368"/>
            <a:ext cx="804672" cy="420624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5" name="Avg"/>
          <p:cNvSpPr txBox="1"/>
          <p:nvPr/>
        </p:nvSpPr>
        <p:spPr>
          <a:xfrm>
            <a:off x="10296144" y="5212080"/>
            <a:ext cx="685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8</a:t>
            </a:r>
          </a:p>
        </p:txBody>
      </p:sp>
      <p:sp>
        <p:nvSpPr>
          <p:cNvPr id="1206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Same LLM, same database: </a:t>
            </a:r>
            <a:r>
              <a:rPr lang="en-US" sz="1400" b="1" i="0" dirty="0">
                <a:solidFill>
                  <a:srgbClr val="B23A1E"/>
                </a:solidFill>
                <a:latin typeface="Calibri"/>
                <a:cs typeface="Calibri"/>
              </a:rPr>
              <a:t xml:space="preserve">Mistral on eICU, 220 without RIGOR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,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2 with it.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 On Chinook, RIGOR has zero with every LLM.</a:t>
            </a:r>
          </a:p>
        </p:txBody>
      </p:sp>
      <p:sp>
        <p:nvSpPr>
          <p:cNvPr id="1207" name="Source"/>
          <p:cNvSpPr txBox="1"/>
          <p:nvPr/>
        </p:nvSpPr>
        <p:spPr>
          <a:xfrm>
            <a:off x="822960" y="6382512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Validity: RDFLib; consistency: HermiT (paper Sec. 4.7). Pitfalls: OOPS!, paper Table 7; 72% of the other methods' pitfalls are missing annotations (P08).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p20"/>
          <p:cNvSpPr txBox="1"/>
          <p:nvPr/>
        </p:nvSpPr>
        <p:spPr>
          <a:xfrm>
            <a:off x="804672" y="512064"/>
            <a:ext cx="10753344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B6E4F"/>
                </a:solidFill>
                <a:latin typeface="Consolas"/>
                <a:ea typeface="Consolas"/>
                <a:cs typeface="Consolas"/>
                <a:sym typeface="Consolas"/>
              </a:rPr>
              <a:t>RESULT 3  /  MEANING IS ADDED</a:t>
            </a:r>
            <a:endParaRPr/>
          </a:p>
        </p:txBody>
      </p:sp>
      <p:sp>
        <p:nvSpPr>
          <p:cNvPr id="1145" name="Google Shape;1145;p20"/>
          <p:cNvSpPr txBox="1"/>
          <p:nvPr/>
        </p:nvSpPr>
        <p:spPr>
          <a:xfrm>
            <a:off x="804672" y="914400"/>
            <a:ext cx="10762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2328"/>
                </a:solidFill>
                <a:latin typeface="Cambria"/>
                <a:ea typeface="Cambria"/>
                <a:cs typeface="Cambria"/>
                <a:sym typeface="Cambria"/>
              </a:rPr>
              <a:t>Meaning is added: labels, provenance and hierarchy.</a:t>
            </a:r>
            <a:endParaRPr/>
          </a:p>
        </p:txBody>
      </p:sp>
      <p:sp>
        <p:nvSpPr>
          <p:cNvPr id="1146" name="Subtitle"/>
          <p:cNvSpPr txBox="1"/>
          <p:nvPr/>
        </p:nvSpPr>
        <p:spPr>
          <a:xfrm>
            <a:off x="822960" y="1645920"/>
            <a:ext cx="106801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6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Per ontology, for every LLM and database.</a:t>
            </a:r>
          </a:p>
        </p:txBody>
      </p:sp>
      <p:sp>
        <p:nvSpPr>
          <p:cNvPr id="1147" name="Ladder"/>
          <p:cNvSpPr/>
          <p:nvPr/>
        </p:nvSpPr>
        <p:spPr>
          <a:xfrm>
            <a:off x="804672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1  VALID, FEWER ERRORS</a:t>
            </a:r>
          </a:p>
        </p:txBody>
      </p:sp>
      <p:sp>
        <p:nvSpPr>
          <p:cNvPr id="1148" name="Ladder"/>
          <p:cNvSpPr/>
          <p:nvPr/>
        </p:nvSpPr>
        <p:spPr>
          <a:xfrm>
            <a:off x="2938881" y="2103120"/>
            <a:ext cx="2042769" cy="310896"/>
          </a:xfrm>
          <a:prstGeom prst="rect">
            <a:avLst/>
          </a:prstGeom>
          <a:solidFill>
            <a:srgbClr val="E8F6E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0B6E4F"/>
                </a:solidFill>
                <a:latin typeface="Consolas"/>
                <a:cs typeface="Consolas"/>
              </a:rPr>
              <a:t xml:space="preserve">2  KEEPS THE SCHEMA</a:t>
            </a:r>
          </a:p>
        </p:txBody>
      </p:sp>
      <p:sp>
        <p:nvSpPr>
          <p:cNvPr id="1149" name="Ladder"/>
          <p:cNvSpPr/>
          <p:nvPr/>
        </p:nvSpPr>
        <p:spPr>
          <a:xfrm>
            <a:off x="5073091" y="2103120"/>
            <a:ext cx="2042769" cy="310896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FFFFFF"/>
                </a:solidFill>
                <a:latin typeface="Consolas"/>
                <a:cs typeface="Consolas"/>
              </a:rPr>
              <a:t xml:space="preserve">3  ADDS MEANING</a:t>
            </a:r>
          </a:p>
        </p:txBody>
      </p:sp>
      <p:sp>
        <p:nvSpPr>
          <p:cNvPr id="1150" name="Ladder"/>
          <p:cNvSpPr/>
          <p:nvPr/>
        </p:nvSpPr>
        <p:spPr>
          <a:xfrm>
            <a:off x="720730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4  GOLD MAPPINGS</a:t>
            </a:r>
          </a:p>
        </p:txBody>
      </p:sp>
      <p:sp>
        <p:nvSpPr>
          <p:cNvPr id="1151" name="Ladder"/>
          <p:cNvSpPr/>
          <p:nvPr/>
        </p:nvSpPr>
        <p:spPr>
          <a:xfrm>
            <a:off x="9341510" y="2103120"/>
            <a:ext cx="2042769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6B747B"/>
                </a:solidFill>
                <a:latin typeface="Consolas"/>
                <a:cs typeface="Consolas"/>
              </a:rPr>
              <a:t xml:space="preserve">5  JUDGES</a:t>
            </a:r>
          </a:p>
        </p:txBody>
      </p:sp>
      <p:sp>
        <p:nvSpPr>
          <p:cNvPr id="1152" name="Card"/>
          <p:cNvSpPr/>
          <p:nvPr/>
        </p:nvSpPr>
        <p:spPr>
          <a:xfrm>
            <a:off x="804672" y="2606040"/>
            <a:ext cx="10579608" cy="3154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EDB"/>
            </a:solidFill>
          </a:ln>
        </p:spPr>
        <p:txBody>
          <a:bodyPr wrap="square" lIns="0" tIns="0" rIns="0" bIns="0" anchor="t">
            <a:noAutofit/>
          </a:bodyPr>
          <a:lstStyle/>
          <a:p>
            <a:pPr algn="l"/>
          </a:p>
        </p:txBody>
      </p:sp>
      <p:sp>
        <p:nvSpPr>
          <p:cNvPr id="1153" name="Card label"/>
          <p:cNvSpPr txBox="1"/>
          <p:nvPr/>
        </p:nvSpPr>
        <p:spPr>
          <a:xfrm>
            <a:off x="1078992" y="2788920"/>
            <a:ext cx="100309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300" b="1" i="0" dirty="0">
                <a:solidFill>
                  <a:srgbClr val="2F6B78"/>
                </a:solidFill>
                <a:latin typeface="Consolas"/>
                <a:cs typeface="Consolas"/>
              </a:rPr>
              <a:t xml:space="preserve">ADDS MEANING</a:t>
            </a:r>
          </a:p>
        </p:txBody>
      </p:sp>
      <p:sp>
        <p:nvSpPr>
          <p:cNvPr id="1154" name="Database"/>
          <p:cNvSpPr txBox="1"/>
          <p:nvPr/>
        </p:nvSpPr>
        <p:spPr>
          <a:xfrm>
            <a:off x="3794760" y="2990088"/>
            <a:ext cx="22494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Liver Cancer</a:t>
            </a:r>
          </a:p>
        </p:txBody>
      </p:sp>
      <p:sp>
        <p:nvSpPr>
          <p:cNvPr id="1155" name="LLM"/>
          <p:cNvSpPr txBox="1"/>
          <p:nvPr/>
        </p:nvSpPr>
        <p:spPr>
          <a:xfrm>
            <a:off x="3794760" y="3218688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56" name="LLM"/>
          <p:cNvSpPr txBox="1"/>
          <p:nvPr/>
        </p:nvSpPr>
        <p:spPr>
          <a:xfrm>
            <a:off x="4544568" y="3218688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57" name="LLM"/>
          <p:cNvSpPr txBox="1"/>
          <p:nvPr/>
        </p:nvSpPr>
        <p:spPr>
          <a:xfrm>
            <a:off x="5294376" y="3218688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58" name="Database"/>
          <p:cNvSpPr txBox="1"/>
          <p:nvPr/>
        </p:nvSpPr>
        <p:spPr>
          <a:xfrm>
            <a:off x="6044184" y="2990088"/>
            <a:ext cx="22494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eICU-CRD</a:t>
            </a:r>
          </a:p>
        </p:txBody>
      </p:sp>
      <p:sp>
        <p:nvSpPr>
          <p:cNvPr id="1159" name="LLM"/>
          <p:cNvSpPr txBox="1"/>
          <p:nvPr/>
        </p:nvSpPr>
        <p:spPr>
          <a:xfrm>
            <a:off x="6044184" y="3218688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0" name="LLM"/>
          <p:cNvSpPr txBox="1"/>
          <p:nvPr/>
        </p:nvSpPr>
        <p:spPr>
          <a:xfrm>
            <a:off x="6793992" y="3218688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1" name="LLM"/>
          <p:cNvSpPr txBox="1"/>
          <p:nvPr/>
        </p:nvSpPr>
        <p:spPr>
          <a:xfrm>
            <a:off x="7543800" y="3218688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2" name="Database"/>
          <p:cNvSpPr txBox="1"/>
          <p:nvPr/>
        </p:nvSpPr>
        <p:spPr>
          <a:xfrm>
            <a:off x="8293608" y="2990088"/>
            <a:ext cx="22494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Chinook</a:t>
            </a:r>
          </a:p>
        </p:txBody>
      </p:sp>
      <p:sp>
        <p:nvSpPr>
          <p:cNvPr id="1163" name="LLM"/>
          <p:cNvSpPr txBox="1"/>
          <p:nvPr/>
        </p:nvSpPr>
        <p:spPr>
          <a:xfrm>
            <a:off x="8293608" y="3218688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Claude</a:t>
            </a:r>
          </a:p>
        </p:txBody>
      </p:sp>
      <p:sp>
        <p:nvSpPr>
          <p:cNvPr id="1164" name="LLM"/>
          <p:cNvSpPr txBox="1"/>
          <p:nvPr/>
        </p:nvSpPr>
        <p:spPr>
          <a:xfrm>
            <a:off x="9043416" y="3218688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Mistral</a:t>
            </a:r>
          </a:p>
        </p:txBody>
      </p:sp>
      <p:sp>
        <p:nvSpPr>
          <p:cNvPr id="1165" name="LLM"/>
          <p:cNvSpPr txBox="1"/>
          <p:nvPr/>
        </p:nvSpPr>
        <p:spPr>
          <a:xfrm>
            <a:off x="9793224" y="3218688"/>
            <a:ext cx="749808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85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DeepSeek</a:t>
            </a:r>
          </a:p>
        </p:txBody>
      </p:sp>
      <p:sp>
        <p:nvSpPr>
          <p:cNvPr id="1166" name="Avg head"/>
          <p:cNvSpPr txBox="1"/>
          <p:nvPr/>
        </p:nvSpPr>
        <p:spPr>
          <a:xfrm>
            <a:off x="10588752" y="30998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000" b="1" i="0" dirty="0">
                <a:solidFill>
                  <a:srgbClr val="5B6770"/>
                </a:solidFill>
                <a:latin typeface="Calibri"/>
                <a:cs typeface="Calibri"/>
              </a:rPr>
              <a:t xml:space="preserve">Avg</a:t>
            </a:r>
          </a:p>
        </p:txBody>
      </p:sp>
      <p:sp>
        <p:nvSpPr>
          <p:cNvPr id="1167" name="Method"/>
          <p:cNvSpPr txBox="1"/>
          <p:nvPr/>
        </p:nvSpPr>
        <p:spPr>
          <a:xfrm>
            <a:off x="2514600" y="3447288"/>
            <a:ext cx="12801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Direct Mapping</a:t>
            </a:r>
          </a:p>
        </p:txBody>
      </p:sp>
      <p:sp>
        <p:nvSpPr>
          <p:cNvPr id="1168" name="Method"/>
          <p:cNvSpPr txBox="1"/>
          <p:nvPr/>
        </p:nvSpPr>
        <p:spPr>
          <a:xfrm>
            <a:off x="2514600" y="3630168"/>
            <a:ext cx="12801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LLM baseline</a:t>
            </a:r>
          </a:p>
        </p:txBody>
      </p:sp>
      <p:sp>
        <p:nvSpPr>
          <p:cNvPr id="1169" name="None"/>
          <p:cNvSpPr/>
          <p:nvPr/>
        </p:nvSpPr>
        <p:spPr>
          <a:xfrm>
            <a:off x="3813048" y="3456432"/>
            <a:ext cx="6711696" cy="347472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50" b="0" i="1" dirty="0">
                <a:solidFill>
                  <a:srgbClr val="1F2328"/>
                </a:solidFill>
                <a:latin typeface="Calibri"/>
                <a:cs typeface="Calibri"/>
              </a:rPr>
              <a:t xml:space="preserve">No labels, provenance or class hierarchy, in any run.</a:t>
            </a:r>
          </a:p>
        </p:txBody>
      </p:sp>
      <p:sp>
        <p:nvSpPr>
          <p:cNvPr id="1170" name="Metric"/>
          <p:cNvSpPr txBox="1"/>
          <p:nvPr/>
        </p:nvSpPr>
        <p:spPr>
          <a:xfrm>
            <a:off x="1078992" y="3867912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150" b="1" i="0" dirty="0">
                <a:solidFill>
                  <a:srgbClr val="2F6B78"/>
                </a:solidFill>
                <a:latin typeface="Calibri"/>
                <a:cs typeface="Calibri"/>
              </a:rPr>
              <a:t xml:space="preserve">Labels &amp; comments</a:t>
            </a:r>
          </a:p>
        </p:txBody>
      </p:sp>
      <p:sp>
        <p:nvSpPr>
          <p:cNvPr id="1171" name="Method"/>
          <p:cNvSpPr txBox="1"/>
          <p:nvPr/>
        </p:nvSpPr>
        <p:spPr>
          <a:xfrm>
            <a:off x="2514600" y="3867912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 RAG</a:t>
            </a:r>
          </a:p>
        </p:txBody>
      </p:sp>
      <p:sp>
        <p:nvSpPr>
          <p:cNvPr id="1172" name="Cell"/>
          <p:cNvSpPr/>
          <p:nvPr/>
        </p:nvSpPr>
        <p:spPr>
          <a:xfrm>
            <a:off x="3813048" y="3886200"/>
            <a:ext cx="713231" cy="219456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680</a:t>
            </a:r>
          </a:p>
        </p:txBody>
      </p:sp>
      <p:sp>
        <p:nvSpPr>
          <p:cNvPr id="1173" name="Cell"/>
          <p:cNvSpPr/>
          <p:nvPr/>
        </p:nvSpPr>
        <p:spPr>
          <a:xfrm>
            <a:off x="4562856" y="3886200"/>
            <a:ext cx="713231" cy="21945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134</a:t>
            </a:r>
          </a:p>
        </p:txBody>
      </p:sp>
      <p:sp>
        <p:nvSpPr>
          <p:cNvPr id="1174" name="Cell"/>
          <p:cNvSpPr/>
          <p:nvPr/>
        </p:nvSpPr>
        <p:spPr>
          <a:xfrm>
            <a:off x="5312664" y="3886200"/>
            <a:ext cx="713231" cy="219456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736</a:t>
            </a:r>
          </a:p>
        </p:txBody>
      </p:sp>
      <p:sp>
        <p:nvSpPr>
          <p:cNvPr id="1175" name="Cell"/>
          <p:cNvSpPr/>
          <p:nvPr/>
        </p:nvSpPr>
        <p:spPr>
          <a:xfrm>
            <a:off x="6062472" y="3886200"/>
            <a:ext cx="713231" cy="219456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877</a:t>
            </a:r>
          </a:p>
        </p:txBody>
      </p:sp>
      <p:sp>
        <p:nvSpPr>
          <p:cNvPr id="1176" name="Cell"/>
          <p:cNvSpPr/>
          <p:nvPr/>
        </p:nvSpPr>
        <p:spPr>
          <a:xfrm>
            <a:off x="6812279" y="3886200"/>
            <a:ext cx="713231" cy="21945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157</a:t>
            </a:r>
          </a:p>
        </p:txBody>
      </p:sp>
      <p:sp>
        <p:nvSpPr>
          <p:cNvPr id="1177" name="Cell"/>
          <p:cNvSpPr/>
          <p:nvPr/>
        </p:nvSpPr>
        <p:spPr>
          <a:xfrm>
            <a:off x="7562088" y="3886200"/>
            <a:ext cx="713231" cy="219456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743</a:t>
            </a:r>
          </a:p>
        </p:txBody>
      </p:sp>
      <p:sp>
        <p:nvSpPr>
          <p:cNvPr id="1178" name="Cell"/>
          <p:cNvSpPr/>
          <p:nvPr/>
        </p:nvSpPr>
        <p:spPr>
          <a:xfrm>
            <a:off x="8311896" y="3886200"/>
            <a:ext cx="713231" cy="219456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98</a:t>
            </a:r>
          </a:p>
        </p:txBody>
      </p:sp>
      <p:sp>
        <p:nvSpPr>
          <p:cNvPr id="1179" name="Cell"/>
          <p:cNvSpPr/>
          <p:nvPr/>
        </p:nvSpPr>
        <p:spPr>
          <a:xfrm>
            <a:off x="9061704" y="3886200"/>
            <a:ext cx="713231" cy="21945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14</a:t>
            </a:r>
          </a:p>
        </p:txBody>
      </p:sp>
      <p:sp>
        <p:nvSpPr>
          <p:cNvPr id="1180" name="Cell"/>
          <p:cNvSpPr/>
          <p:nvPr/>
        </p:nvSpPr>
        <p:spPr>
          <a:xfrm>
            <a:off x="9811512" y="3886200"/>
            <a:ext cx="713231" cy="21945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64</a:t>
            </a:r>
          </a:p>
        </p:txBody>
      </p:sp>
      <p:sp>
        <p:nvSpPr>
          <p:cNvPr id="1181" name="Avg"/>
          <p:cNvSpPr txBox="1"/>
          <p:nvPr/>
        </p:nvSpPr>
        <p:spPr>
          <a:xfrm>
            <a:off x="10588752" y="3867912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389</a:t>
            </a:r>
          </a:p>
        </p:txBody>
      </p:sp>
      <p:sp>
        <p:nvSpPr>
          <p:cNvPr id="1182" name="Method"/>
          <p:cNvSpPr txBox="1"/>
          <p:nvPr/>
        </p:nvSpPr>
        <p:spPr>
          <a:xfrm>
            <a:off x="2514600" y="412394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183" name="Cell"/>
          <p:cNvSpPr/>
          <p:nvPr/>
        </p:nvSpPr>
        <p:spPr>
          <a:xfrm>
            <a:off x="3813048" y="4142232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1,029</a:t>
            </a:r>
          </a:p>
        </p:txBody>
      </p:sp>
      <p:sp>
        <p:nvSpPr>
          <p:cNvPr id="1184" name="Cell"/>
          <p:cNvSpPr/>
          <p:nvPr/>
        </p:nvSpPr>
        <p:spPr>
          <a:xfrm>
            <a:off x="4562856" y="4142232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1,137</a:t>
            </a:r>
          </a:p>
        </p:txBody>
      </p:sp>
      <p:sp>
        <p:nvSpPr>
          <p:cNvPr id="1185" name="Cell"/>
          <p:cNvSpPr/>
          <p:nvPr/>
        </p:nvSpPr>
        <p:spPr>
          <a:xfrm>
            <a:off x="5312664" y="4142232"/>
            <a:ext cx="713231" cy="219456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341</a:t>
            </a:r>
          </a:p>
        </p:txBody>
      </p:sp>
      <p:sp>
        <p:nvSpPr>
          <p:cNvPr id="1186" name="Cell"/>
          <p:cNvSpPr/>
          <p:nvPr/>
        </p:nvSpPr>
        <p:spPr>
          <a:xfrm>
            <a:off x="6062472" y="4142232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1,291</a:t>
            </a:r>
          </a:p>
        </p:txBody>
      </p:sp>
      <p:sp>
        <p:nvSpPr>
          <p:cNvPr id="1187" name="Cell"/>
          <p:cNvSpPr/>
          <p:nvPr/>
        </p:nvSpPr>
        <p:spPr>
          <a:xfrm>
            <a:off x="6812279" y="4142232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1,684</a:t>
            </a:r>
          </a:p>
        </p:txBody>
      </p:sp>
      <p:sp>
        <p:nvSpPr>
          <p:cNvPr id="1188" name="Cell"/>
          <p:cNvSpPr/>
          <p:nvPr/>
        </p:nvSpPr>
        <p:spPr>
          <a:xfrm>
            <a:off x="7562088" y="4142232"/>
            <a:ext cx="713231" cy="219456"/>
          </a:xfrm>
          <a:prstGeom prst="rect">
            <a:avLst/>
          </a:prstGeom>
          <a:solidFill>
            <a:srgbClr val="F1F3F2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435</a:t>
            </a:r>
          </a:p>
        </p:txBody>
      </p:sp>
      <p:sp>
        <p:nvSpPr>
          <p:cNvPr id="1189" name="Cell"/>
          <p:cNvSpPr/>
          <p:nvPr/>
        </p:nvSpPr>
        <p:spPr>
          <a:xfrm>
            <a:off x="8311896" y="4142232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357</a:t>
            </a:r>
          </a:p>
        </p:txBody>
      </p:sp>
      <p:sp>
        <p:nvSpPr>
          <p:cNvPr id="1190" name="Cell"/>
          <p:cNvSpPr/>
          <p:nvPr/>
        </p:nvSpPr>
        <p:spPr>
          <a:xfrm>
            <a:off x="9061704" y="4142232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362</a:t>
            </a:r>
          </a:p>
        </p:txBody>
      </p:sp>
      <p:sp>
        <p:nvSpPr>
          <p:cNvPr id="1191" name="Cell"/>
          <p:cNvSpPr/>
          <p:nvPr/>
        </p:nvSpPr>
        <p:spPr>
          <a:xfrm>
            <a:off x="9811512" y="4142232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359</a:t>
            </a:r>
          </a:p>
        </p:txBody>
      </p:sp>
      <p:sp>
        <p:nvSpPr>
          <p:cNvPr id="1192" name="Avg"/>
          <p:cNvSpPr txBox="1"/>
          <p:nvPr/>
        </p:nvSpPr>
        <p:spPr>
          <a:xfrm>
            <a:off x="10588752" y="4123944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777</a:t>
            </a:r>
          </a:p>
        </p:txBody>
      </p:sp>
      <p:sp>
        <p:nvSpPr>
          <p:cNvPr id="1193" name="Metric"/>
          <p:cNvSpPr txBox="1"/>
          <p:nvPr/>
        </p:nvSpPr>
        <p:spPr>
          <a:xfrm>
            <a:off x="1078992" y="4425696"/>
            <a:ext cx="1417320" cy="5120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150" b="1" i="0" dirty="0">
                <a:solidFill>
                  <a:srgbClr val="2F6B78"/>
                </a:solidFill>
                <a:latin typeface="Calibri"/>
                <a:cs typeface="Calibri"/>
              </a:rPr>
              <a:t xml:space="preserve">Provenance links</a:t>
            </a:r>
          </a:p>
        </p:txBody>
      </p:sp>
      <p:sp>
        <p:nvSpPr>
          <p:cNvPr id="1194" name="Method"/>
          <p:cNvSpPr txBox="1"/>
          <p:nvPr/>
        </p:nvSpPr>
        <p:spPr>
          <a:xfrm>
            <a:off x="2514600" y="442569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 RAG</a:t>
            </a:r>
          </a:p>
        </p:txBody>
      </p:sp>
      <p:sp>
        <p:nvSpPr>
          <p:cNvPr id="1195" name="Cell"/>
          <p:cNvSpPr/>
          <p:nvPr/>
        </p:nvSpPr>
        <p:spPr>
          <a:xfrm>
            <a:off x="3813048" y="4443984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96" name="Cell"/>
          <p:cNvSpPr/>
          <p:nvPr/>
        </p:nvSpPr>
        <p:spPr>
          <a:xfrm>
            <a:off x="4562856" y="4443984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97" name="Cell"/>
          <p:cNvSpPr/>
          <p:nvPr/>
        </p:nvSpPr>
        <p:spPr>
          <a:xfrm>
            <a:off x="5312664" y="4443984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98" name="Cell"/>
          <p:cNvSpPr/>
          <p:nvPr/>
        </p:nvSpPr>
        <p:spPr>
          <a:xfrm>
            <a:off x="6062472" y="4443984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199" name="Cell"/>
          <p:cNvSpPr/>
          <p:nvPr/>
        </p:nvSpPr>
        <p:spPr>
          <a:xfrm>
            <a:off x="6812279" y="4443984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0" name="Cell"/>
          <p:cNvSpPr/>
          <p:nvPr/>
        </p:nvSpPr>
        <p:spPr>
          <a:xfrm>
            <a:off x="7562088" y="4443984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1" name="Cell"/>
          <p:cNvSpPr/>
          <p:nvPr/>
        </p:nvSpPr>
        <p:spPr>
          <a:xfrm>
            <a:off x="8311896" y="4443984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2" name="Cell"/>
          <p:cNvSpPr/>
          <p:nvPr/>
        </p:nvSpPr>
        <p:spPr>
          <a:xfrm>
            <a:off x="9061704" y="4443984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3" name="Cell"/>
          <p:cNvSpPr/>
          <p:nvPr/>
        </p:nvSpPr>
        <p:spPr>
          <a:xfrm>
            <a:off x="9811512" y="4443984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4" name="Avg"/>
          <p:cNvSpPr txBox="1"/>
          <p:nvPr/>
        </p:nvSpPr>
        <p:spPr>
          <a:xfrm>
            <a:off x="10588752" y="4425696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</a:t>
            </a:r>
          </a:p>
        </p:txBody>
      </p:sp>
      <p:sp>
        <p:nvSpPr>
          <p:cNvPr id="1205" name="Method"/>
          <p:cNvSpPr txBox="1"/>
          <p:nvPr/>
        </p:nvSpPr>
        <p:spPr>
          <a:xfrm>
            <a:off x="2514600" y="468172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206" name="Cell"/>
          <p:cNvSpPr/>
          <p:nvPr/>
        </p:nvSpPr>
        <p:spPr>
          <a:xfrm>
            <a:off x="3813048" y="4700016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336</a:t>
            </a:r>
          </a:p>
        </p:txBody>
      </p:sp>
      <p:sp>
        <p:nvSpPr>
          <p:cNvPr id="1207" name="Cell"/>
          <p:cNvSpPr/>
          <p:nvPr/>
        </p:nvSpPr>
        <p:spPr>
          <a:xfrm>
            <a:off x="4562856" y="4700016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308</a:t>
            </a:r>
          </a:p>
        </p:txBody>
      </p:sp>
      <p:sp>
        <p:nvSpPr>
          <p:cNvPr id="1208" name="Cell"/>
          <p:cNvSpPr/>
          <p:nvPr/>
        </p:nvSpPr>
        <p:spPr>
          <a:xfrm>
            <a:off x="5312664" y="4700016"/>
            <a:ext cx="713231" cy="21945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22</a:t>
            </a:r>
          </a:p>
        </p:txBody>
      </p:sp>
      <p:sp>
        <p:nvSpPr>
          <p:cNvPr id="1209" name="Cell"/>
          <p:cNvSpPr/>
          <p:nvPr/>
        </p:nvSpPr>
        <p:spPr>
          <a:xfrm>
            <a:off x="6062472" y="4700016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423</a:t>
            </a:r>
          </a:p>
        </p:txBody>
      </p:sp>
      <p:sp>
        <p:nvSpPr>
          <p:cNvPr id="1210" name="Cell"/>
          <p:cNvSpPr/>
          <p:nvPr/>
        </p:nvSpPr>
        <p:spPr>
          <a:xfrm>
            <a:off x="6812279" y="4700016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335</a:t>
            </a:r>
          </a:p>
        </p:txBody>
      </p:sp>
      <p:sp>
        <p:nvSpPr>
          <p:cNvPr id="1211" name="Cell"/>
          <p:cNvSpPr/>
          <p:nvPr/>
        </p:nvSpPr>
        <p:spPr>
          <a:xfrm>
            <a:off x="7562088" y="4700016"/>
            <a:ext cx="713231" cy="21945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99</a:t>
            </a:r>
          </a:p>
        </p:txBody>
      </p:sp>
      <p:sp>
        <p:nvSpPr>
          <p:cNvPr id="1212" name="Cell"/>
          <p:cNvSpPr/>
          <p:nvPr/>
        </p:nvSpPr>
        <p:spPr>
          <a:xfrm>
            <a:off x="8311896" y="4700016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81</a:t>
            </a:r>
          </a:p>
        </p:txBody>
      </p:sp>
      <p:sp>
        <p:nvSpPr>
          <p:cNvPr id="1213" name="Cell"/>
          <p:cNvSpPr/>
          <p:nvPr/>
        </p:nvSpPr>
        <p:spPr>
          <a:xfrm>
            <a:off x="9061704" y="4700016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83</a:t>
            </a:r>
          </a:p>
        </p:txBody>
      </p:sp>
      <p:sp>
        <p:nvSpPr>
          <p:cNvPr id="1214" name="Cell"/>
          <p:cNvSpPr/>
          <p:nvPr/>
        </p:nvSpPr>
        <p:spPr>
          <a:xfrm>
            <a:off x="9811512" y="4700016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75</a:t>
            </a:r>
          </a:p>
        </p:txBody>
      </p:sp>
      <p:sp>
        <p:nvSpPr>
          <p:cNvPr id="1215" name="Avg"/>
          <p:cNvSpPr txBox="1"/>
          <p:nvPr/>
        </p:nvSpPr>
        <p:spPr>
          <a:xfrm>
            <a:off x="10588752" y="4681728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196</a:t>
            </a:r>
          </a:p>
        </p:txBody>
      </p:sp>
      <p:sp>
        <p:nvSpPr>
          <p:cNvPr id="1216" name="Metric"/>
          <p:cNvSpPr txBox="1"/>
          <p:nvPr/>
        </p:nvSpPr>
        <p:spPr>
          <a:xfrm>
            <a:off x="1078992" y="5001768"/>
            <a:ext cx="14173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150" b="1" i="0" dirty="0">
                <a:solidFill>
                  <a:srgbClr val="2F6B78"/>
                </a:solidFill>
                <a:latin typeface="Calibri"/>
                <a:cs typeface="Calibri"/>
              </a:rPr>
              <a:t xml:space="preserve">Class hierarchy</a:t>
            </a:r>
          </a:p>
        </p:txBody>
      </p:sp>
      <p:sp>
        <p:nvSpPr>
          <p:cNvPr id="1217" name="Metric note"/>
          <p:cNvSpPr txBox="1"/>
          <p:nvPr/>
        </p:nvSpPr>
        <p:spPr>
          <a:xfrm>
            <a:off x="1078992" y="5239512"/>
            <a:ext cx="141732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950" b="0" i="1" dirty="0">
                <a:solidFill>
                  <a:srgbClr val="5B6770"/>
                </a:solidFill>
                <a:latin typeface="Calibri"/>
                <a:cs typeface="Calibri"/>
              </a:rPr>
              <a:t xml:space="preserve">inheritance richness</a:t>
            </a:r>
          </a:p>
        </p:txBody>
      </p:sp>
      <p:sp>
        <p:nvSpPr>
          <p:cNvPr id="1218" name="Method"/>
          <p:cNvSpPr txBox="1"/>
          <p:nvPr/>
        </p:nvSpPr>
        <p:spPr>
          <a:xfrm>
            <a:off x="2514600" y="498348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Non-Iterative RAG</a:t>
            </a:r>
          </a:p>
        </p:txBody>
      </p:sp>
      <p:sp>
        <p:nvSpPr>
          <p:cNvPr id="1219" name="Cell"/>
          <p:cNvSpPr/>
          <p:nvPr/>
        </p:nvSpPr>
        <p:spPr>
          <a:xfrm>
            <a:off x="3813048" y="5001768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0.00</a:t>
            </a:r>
          </a:p>
        </p:txBody>
      </p:sp>
      <p:sp>
        <p:nvSpPr>
          <p:cNvPr id="1220" name="Cell"/>
          <p:cNvSpPr/>
          <p:nvPr/>
        </p:nvSpPr>
        <p:spPr>
          <a:xfrm>
            <a:off x="4562856" y="5001768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0.00</a:t>
            </a:r>
          </a:p>
        </p:txBody>
      </p:sp>
      <p:sp>
        <p:nvSpPr>
          <p:cNvPr id="1221" name="Cell"/>
          <p:cNvSpPr/>
          <p:nvPr/>
        </p:nvSpPr>
        <p:spPr>
          <a:xfrm>
            <a:off x="5312664" y="5001768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0.00</a:t>
            </a:r>
          </a:p>
        </p:txBody>
      </p:sp>
      <p:sp>
        <p:nvSpPr>
          <p:cNvPr id="1222" name="Cell"/>
          <p:cNvSpPr/>
          <p:nvPr/>
        </p:nvSpPr>
        <p:spPr>
          <a:xfrm>
            <a:off x="6062472" y="5001768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0.00</a:t>
            </a:r>
          </a:p>
        </p:txBody>
      </p:sp>
      <p:sp>
        <p:nvSpPr>
          <p:cNvPr id="1223" name="Cell"/>
          <p:cNvSpPr/>
          <p:nvPr/>
        </p:nvSpPr>
        <p:spPr>
          <a:xfrm>
            <a:off x="6812279" y="5001768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0.00</a:t>
            </a:r>
          </a:p>
        </p:txBody>
      </p:sp>
      <p:sp>
        <p:nvSpPr>
          <p:cNvPr id="1224" name="Cell"/>
          <p:cNvSpPr/>
          <p:nvPr/>
        </p:nvSpPr>
        <p:spPr>
          <a:xfrm>
            <a:off x="7562088" y="5001768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0.00</a:t>
            </a:r>
          </a:p>
        </p:txBody>
      </p:sp>
      <p:sp>
        <p:nvSpPr>
          <p:cNvPr id="1225" name="Cell"/>
          <p:cNvSpPr/>
          <p:nvPr/>
        </p:nvSpPr>
        <p:spPr>
          <a:xfrm>
            <a:off x="8311896" y="5001768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0.00</a:t>
            </a:r>
          </a:p>
        </p:txBody>
      </p:sp>
      <p:sp>
        <p:nvSpPr>
          <p:cNvPr id="1226" name="Cell"/>
          <p:cNvSpPr/>
          <p:nvPr/>
        </p:nvSpPr>
        <p:spPr>
          <a:xfrm>
            <a:off x="9061704" y="5001768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0.00</a:t>
            </a:r>
          </a:p>
        </p:txBody>
      </p:sp>
      <p:sp>
        <p:nvSpPr>
          <p:cNvPr id="1227" name="Cell"/>
          <p:cNvSpPr/>
          <p:nvPr/>
        </p:nvSpPr>
        <p:spPr>
          <a:xfrm>
            <a:off x="9811512" y="5001768"/>
            <a:ext cx="713231" cy="219456"/>
          </a:xfrm>
          <a:prstGeom prst="rect">
            <a:avLst/>
          </a:prstGeom>
          <a:solidFill>
            <a:srgbClr val="EDB8A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0.00</a:t>
            </a:r>
          </a:p>
        </p:txBody>
      </p:sp>
      <p:sp>
        <p:nvSpPr>
          <p:cNvPr id="1228" name="Avg"/>
          <p:cNvSpPr txBox="1"/>
          <p:nvPr/>
        </p:nvSpPr>
        <p:spPr>
          <a:xfrm>
            <a:off x="10588752" y="4983480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0" i="0" dirty="0">
                <a:solidFill>
                  <a:srgbClr val="1F2328"/>
                </a:solidFill>
                <a:latin typeface="Calibri"/>
                <a:cs typeface="Calibri"/>
              </a:rPr>
              <a:t xml:space="preserve">0.00</a:t>
            </a:r>
          </a:p>
        </p:txBody>
      </p:sp>
      <p:sp>
        <p:nvSpPr>
          <p:cNvPr id="1229" name="Method"/>
          <p:cNvSpPr txBox="1"/>
          <p:nvPr/>
        </p:nvSpPr>
        <p:spPr>
          <a:xfrm>
            <a:off x="2514600" y="5239512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2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RIGOR</a:t>
            </a:r>
          </a:p>
        </p:txBody>
      </p:sp>
      <p:sp>
        <p:nvSpPr>
          <p:cNvPr id="1230" name="Cell"/>
          <p:cNvSpPr/>
          <p:nvPr/>
        </p:nvSpPr>
        <p:spPr>
          <a:xfrm>
            <a:off x="3813048" y="5257800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0.70</a:t>
            </a:r>
          </a:p>
        </p:txBody>
      </p:sp>
      <p:sp>
        <p:nvSpPr>
          <p:cNvPr id="1231" name="Cell"/>
          <p:cNvSpPr/>
          <p:nvPr/>
        </p:nvSpPr>
        <p:spPr>
          <a:xfrm>
            <a:off x="4562856" y="5257800"/>
            <a:ext cx="713231" cy="219456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0.39</a:t>
            </a:r>
          </a:p>
        </p:txBody>
      </p:sp>
      <p:sp>
        <p:nvSpPr>
          <p:cNvPr id="1232" name="Cell"/>
          <p:cNvSpPr/>
          <p:nvPr/>
        </p:nvSpPr>
        <p:spPr>
          <a:xfrm>
            <a:off x="5312664" y="5257800"/>
            <a:ext cx="713231" cy="21945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0.13</a:t>
            </a:r>
          </a:p>
        </p:txBody>
      </p:sp>
      <p:sp>
        <p:nvSpPr>
          <p:cNvPr id="1233" name="Cell"/>
          <p:cNvSpPr/>
          <p:nvPr/>
        </p:nvSpPr>
        <p:spPr>
          <a:xfrm>
            <a:off x="6062472" y="5257800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0.62</a:t>
            </a:r>
          </a:p>
        </p:txBody>
      </p:sp>
      <p:sp>
        <p:nvSpPr>
          <p:cNvPr id="1234" name="Cell"/>
          <p:cNvSpPr/>
          <p:nvPr/>
        </p:nvSpPr>
        <p:spPr>
          <a:xfrm>
            <a:off x="6812279" y="5257800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0.49</a:t>
            </a:r>
          </a:p>
        </p:txBody>
      </p:sp>
      <p:sp>
        <p:nvSpPr>
          <p:cNvPr id="1235" name="Cell"/>
          <p:cNvSpPr/>
          <p:nvPr/>
        </p:nvSpPr>
        <p:spPr>
          <a:xfrm>
            <a:off x="7562088" y="5257800"/>
            <a:ext cx="713231" cy="219456"/>
          </a:xfrm>
          <a:prstGeom prst="rect">
            <a:avLst/>
          </a:prstGeom>
          <a:solidFill>
            <a:srgbClr val="F6DAD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0.10</a:t>
            </a:r>
          </a:p>
        </p:txBody>
      </p:sp>
      <p:sp>
        <p:nvSpPr>
          <p:cNvPr id="1236" name="Cell"/>
          <p:cNvSpPr/>
          <p:nvPr/>
        </p:nvSpPr>
        <p:spPr>
          <a:xfrm>
            <a:off x="8311896" y="5257800"/>
            <a:ext cx="713231" cy="219456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2.12</a:t>
            </a:r>
          </a:p>
        </p:txBody>
      </p:sp>
      <p:sp>
        <p:nvSpPr>
          <p:cNvPr id="1237" name="Cell"/>
          <p:cNvSpPr/>
          <p:nvPr/>
        </p:nvSpPr>
        <p:spPr>
          <a:xfrm>
            <a:off x="9061704" y="5257800"/>
            <a:ext cx="713231" cy="219456"/>
          </a:xfrm>
          <a:prstGeom prst="rect">
            <a:avLst/>
          </a:prstGeom>
          <a:solidFill>
            <a:srgbClr val="DDF0E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2.72</a:t>
            </a:r>
          </a:p>
        </p:txBody>
      </p:sp>
      <p:sp>
        <p:nvSpPr>
          <p:cNvPr id="1238" name="Cell"/>
          <p:cNvSpPr/>
          <p:nvPr/>
        </p:nvSpPr>
        <p:spPr>
          <a:xfrm>
            <a:off x="9811512" y="5257800"/>
            <a:ext cx="713231" cy="219456"/>
          </a:xfrm>
          <a:prstGeom prst="rect">
            <a:avLst/>
          </a:prstGeom>
          <a:solidFill>
            <a:srgbClr val="BFE3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1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4.07</a:t>
            </a:r>
          </a:p>
        </p:txBody>
      </p:sp>
      <p:sp>
        <p:nvSpPr>
          <p:cNvPr id="1239" name="Avg"/>
          <p:cNvSpPr txBox="1"/>
          <p:nvPr/>
        </p:nvSpPr>
        <p:spPr>
          <a:xfrm>
            <a:off x="10588752" y="5239512"/>
            <a:ext cx="6858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125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1.26</a:t>
            </a:r>
          </a:p>
        </p:txBody>
      </p:sp>
      <p:sp>
        <p:nvSpPr>
          <p:cNvPr id="1240" name="Strip"/>
          <p:cNvSpPr/>
          <p:nvPr/>
        </p:nvSpPr>
        <p:spPr>
          <a:xfrm>
            <a:off x="804672" y="5879592"/>
            <a:ext cx="10579608" cy="420624"/>
          </a:xfrm>
          <a:prstGeom prst="roundRect">
            <a:avLst>
              <a:gd name="adj" fmla="val 12000"/>
            </a:avLst>
          </a:prstGeom>
          <a:solidFill>
            <a:srgbClr val="E6F2EC"/>
          </a:solidFill>
          <a:ln>
            <a:noFill/>
          </a:ln>
        </p:spPr>
        <p:txBody>
          <a:bodyPr wrap="square" lIns="201168" tIns="0" rIns="201168" bIns="0" anchor="ctr">
            <a:noAutofit/>
          </a:bodyPr>
          <a:lstStyle/>
          <a:p>
            <a:pPr algn="l"/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Only RIGOR adds labels, provenance </a:t>
            </a:r>
            <a:r>
              <a:rPr lang="en-US" sz="1400" b="1" i="0" dirty="0">
                <a:solidFill>
                  <a:srgbClr val="1F2328"/>
                </a:solidFill>
                <a:latin typeface="Calibri"/>
                <a:cs typeface="Calibri"/>
              </a:rPr>
              <a:t xml:space="preserve">and</a:t>
            </a:r>
            <a:r>
              <a:rPr lang="en-US" sz="1400" b="0" i="0" dirty="0">
                <a:solidFill>
                  <a:srgbClr val="3A434C"/>
                </a:solidFill>
                <a:latin typeface="Calibri"/>
                <a:cs typeface="Calibri"/>
              </a:rPr>
              <a:t xml:space="preserve"> a class hierarchy: </a:t>
            </a:r>
            <a:r>
              <a:rPr lang="en-US" sz="1400" b="1" i="0" dirty="0">
                <a:solidFill>
                  <a:srgbClr val="0B6E4F"/>
                </a:solidFill>
                <a:latin typeface="Calibri"/>
                <a:cs typeface="Calibri"/>
              </a:rPr>
              <a:t xml:space="preserve">with every LLM, in every database.</a:t>
            </a:r>
          </a:p>
        </p:txBody>
      </p:sp>
      <p:sp>
        <p:nvSpPr>
          <p:cNvPr id="1241" name="Source"/>
          <p:cNvSpPr txBox="1"/>
          <p:nvPr/>
        </p:nvSpPr>
        <p:spPr>
          <a:xfrm>
            <a:off x="822960" y="6345936"/>
            <a:ext cx="106070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000" b="0" i="0" dirty="0">
                <a:solidFill>
                  <a:srgbClr val="5B6770"/>
                </a:solidFill>
                <a:latin typeface="Calibri"/>
                <a:cs typeface="Calibri"/>
              </a:rPr>
              <a:t xml:space="preserve">Labels &amp; comments: annotation assertions; provenance: prov:wasDerivedFrom (paper Table 8). Hierarchy: inheritance richness, subclass axioms per class [OntoQA: Tartir et al., KADASH 2005; OntoMetrics: Lantow, KEOD 2016], from Table 8. Shading compares cells within each database.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RIGOR · ISWC 2026 Talk">
  <a:themeElements>
    <a:clrScheme name="RIGOR · ISWC 2026 Talk">
      <a:dk1>
        <a:srgbClr val="111A28"/>
      </a:dk1>
      <a:lt1>
        <a:srgbClr val="F2F4F7"/>
      </a:lt1>
      <a:dk2>
        <a:srgbClr val="49515C"/>
      </a:dk2>
      <a:lt2>
        <a:srgbClr val="DCDEE2"/>
      </a:lt2>
      <a:accent1>
        <a:srgbClr val="2345C4"/>
      </a:accent1>
      <a:accent2>
        <a:srgbClr val="F4A261"/>
      </a:accent2>
      <a:accent3>
        <a:srgbClr val="B4561C"/>
      </a:accent3>
      <a:accent4>
        <a:srgbClr val="8FA5EB"/>
      </a:accent4>
      <a:accent5>
        <a:srgbClr val="8AA4FF"/>
      </a:accent5>
      <a:accent6>
        <a:srgbClr val="E9873A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2026-10-26T00:50:16Z</dcterms:created>
</cp:coreProperties>
</file>