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25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91" r:id="rId45"/>
    <p:sldId id="280" r:id="rId29"/>
    <p:sldId id="292" r:id="rId46"/>
    <p:sldId id="281" r:id="rId30"/>
    <p:sldId id="282" r:id="rId31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0" Type="http://schemas.openxmlformats.org/officeDocument/2006/relationships/slide" Target="slides/slide26.xml"/>  <Relationship Id="rId45" Type="http://schemas.openxmlformats.org/officeDocument/2006/relationships/slide" Target="slides/slide36.xml"/>
  <Relationship Id="rId46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1" name="Google Shape;1141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[9:23–9:57]  SPOKEN SCRIPT (55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Fewer errors. But is anything lost? On average RIGOR covers ninety-three percent of the database columns, as much as direct mapping. Non-Iterative, with the same retrieved context but no seed, covers a third, and swings with the LLM, from six to seventy-eight percent. With RIGOR, every LLM keeps at least seventy-seven percent, in every database. [pause]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RIGOR's average next to Direct Mapping's; then the red Non-Iterative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RIGOR keeps the schema as well as Direct Mapping, with every LLM.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9 (column coverage per run; embedding similarity &gt;= 0.55).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"and swings with the LLM, from six to seventy-eight percent"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WHY NON-ITERATIVE DROPS BUT THE BASELINE DOES NOT: the baseline only translates the table, so it keeps column names but adds no meaning. Non-Iterative does everything in one pass with a lot of retrieved context and silently drops properties (e.g. 6 data properties for 350 Liver Cancer columns with Mistral, Table 8); nothing checks coverage. RIGOR starts from a seed with every column, works one table at a time, and its judge rejects fragments that drop a column.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MODEL SIZE AND COST: with RIGOR, Mistral Small 24B reaches 98% coverage (Claude 95%) for about $0.12 across the three databases, against about $33 with Claude (Tables 9, 15).</a:t>
            </a:r>
          </a:p>
        </p:txBody>
      </p:sp>
      <p:sp>
        <p:nvSpPr>
          <p:cNvPr id="1142" name="Google Shape;1142;p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0" name="Google Shape;1200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[10:33–11:20]  SPOKEN SCRIPT (81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Meaning is added. But is the link back to the data still correct? BURR, an external benchmark, checks exactly this: every class, relation and attribute must map back to the right table, foreign key or column, scored with F1 against a gold mapping. On BURR's ISWC scenario, RIGOR has the highest F1 on all three, ahead of rule-based and LLM-based systems. Relations stand out: zero point six seven against zero point one one, because foreign keys become named relations, like hasPatientData.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card first, then land on the RIGOR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Semantic enrichment did not break the correspondence that OBDA and KG population need.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13. BURR = Laskowski et al., PACMMOD 2025; matching rule from BURR Section 4, Eq. 3. Left-card element names are illustrative.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"scored with F1 against a gold mapping"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 NOT SAY: 'BURR found LLMs trail rule-based systems'. BURR's results show Gemini 2.5 Pro ahead of the rule-based systems overall (rule-based systems win only on NPD).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GEMINI 2.5 PRO (BURR Table 3, ISWC .65 / .68 / .56): in BURR it is a general-purpose LLM prompted with few-shot examples and a checklist to write the D2RQ mapping directly. It is a mapping generator, not an ontology-learning system that builds an enriched ontology, so we compare with ontology-learning systems. Against it, RIGOR's class F1 is higher, relations are on par, attributes lower, and RIGOR also produces labels, hierarchy and provenance. It is prompted, not fine-tuned.</a:t>
            </a:r>
          </a:p>
        </p:txBody>
      </p:sp>
      <p:sp>
        <p:nvSpPr>
          <p:cNvPr id="1201" name="Google Shape;1201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3" name="Google Shape;1253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[11:20–12:11]  SPOKEN SCRIPT (82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checks agree. Do evaluators agree? Both judged each table against its competency questions: what the ontology must be able to answer, five per table, verified by a domain expert. An LLM judge ranked RIGOR first on all fifty-eight tables, with its largest lead on the liver registry that no LLM has seen. [pause] Ten ontology experts ranked RIGOR first in twenty-eight of forty rankings. [pause] Direct mapping gives structure without meaning. LLMs alone give meaning without structure. RIGOR gives both, and checks them.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Read the competency question aloud; then 58 of 58; then 28 of 40; then the closing strip.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Judged against competency questions, an LLM judge and human experts both rank RIGOR first.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4.2 (5 CQs per table, LLM-generated, expert-verified; 290 in total), Table 6 (example), Table 1 (scores, rankings), Table 12 (Kendall's W 0.39-0.72). Judge: Claude ontologies.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"with its largest lead on the liver registry that no LLM has seen"</a:t>
            </a:r>
          </a:p>
        </p:txBody>
      </p:sp>
      <p:sp>
        <p:nvSpPr>
          <p:cNvPr id="1254" name="Google Shape;1254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[8:45–9:23]  SPOKEN SCRIPT (63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climb from the easiest check to the hardest. First, the basics: all thirty ontologies are valid OWL and logically consistent, for every method. Modeling errors are another story: direct mapping averages about five hundred per ontology, RIGOR eight. Look at this column: same model, same database. The small Mistral model on eICU makes two hundred twenty errors without RIGOR, two with it. [pause]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One breath for validity; then the averages; then point at the Mistral eICU column.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Every ontology is valid; RIGOR's have far fewer modeling errors, with every LLM.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4.7 (RDFLib, HermiT) and Table 7 (OOPS! totals per run). 72% of the other methods' pitfalls are P08, missing annotations.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every method"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ABOUT CRITICAL ERRORS: P19 (multiple domains or ranges) is the only pitfall OOPS! rates critical, and it is the second-domain error from the validation slide. Per ontology: Direct Mapping 15, LLM baseline 17, Non-Iterative 5.4, RIGOR 2.8; zero in 6 of RIGOR's 9 ontologies (Table 7). RIGOR's prompt allows one domain and one range, and the graph check rejects a second.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[9:57–10:33]  SPOKEN SCRIPT (61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Nothing is lost. Is meaning added? Direct mapping and the LLM baseline add none, in any run. Non-Iterative adds labels, but no provenance and no hierarchy. Only RIGOR adds all three, with every LLM, in every database. [pause] And the hierarchies follow what the LLM knows: over a hundred subclass axioms for the music store, only a few for the clinical schemas.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Labels row pair, then provenance, then hierarchy; land on the Chinook hierarchy cells.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Only RIGOR adds labels, provenance and hierarchy, with every LLM.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8 (annotation assertions, prov:wasDerivedFrom, SubClassOf per run).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"Non-Iterative adds labels, but no provenance and no hierarchy."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7.xml"/></Relationships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2  /  NOTHING IS LOST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Nothing is lost: RIGOR keeps the schema.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Share of database columns covered, for every LLM and database.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KEEPS THE SCHEMA</a:t>
            </a:r>
          </a:p>
        </p:txBody>
      </p:sp>
      <p:sp>
        <p:nvSpPr>
          <p:cNvPr id="1154" name="Card note"/>
          <p:cNvSpPr txBox="1"/>
          <p:nvPr/>
        </p:nvSpPr>
        <p:spPr>
          <a:xfrm>
            <a:off x="1078992" y="3081528"/>
            <a:ext cx="10030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columns covered, per ontology (%)</a:t>
            </a:r>
          </a:p>
        </p:txBody>
      </p:sp>
      <p:sp>
        <p:nvSpPr>
          <p:cNvPr id="1155" name="Database"/>
          <p:cNvSpPr txBox="1"/>
          <p:nvPr/>
        </p:nvSpPr>
        <p:spPr>
          <a:xfrm>
            <a:off x="2679191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2679191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352043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8" name="LLM"/>
          <p:cNvSpPr txBox="1"/>
          <p:nvPr/>
        </p:nvSpPr>
        <p:spPr>
          <a:xfrm>
            <a:off x="436168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9" name="Database"/>
          <p:cNvSpPr txBox="1"/>
          <p:nvPr/>
        </p:nvSpPr>
        <p:spPr>
          <a:xfrm>
            <a:off x="5202936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520293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6044183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6885432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3" name="Database"/>
          <p:cNvSpPr txBox="1"/>
          <p:nvPr/>
        </p:nvSpPr>
        <p:spPr>
          <a:xfrm>
            <a:off x="7726679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772667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856792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940917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7" name="Avg head"/>
          <p:cNvSpPr txBox="1"/>
          <p:nvPr/>
        </p:nvSpPr>
        <p:spPr>
          <a:xfrm>
            <a:off x="10296144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3840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9" name="Cell"/>
          <p:cNvSpPr/>
          <p:nvPr/>
        </p:nvSpPr>
        <p:spPr>
          <a:xfrm>
            <a:off x="2697479" y="3858768"/>
            <a:ext cx="2487168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97</a:t>
            </a:r>
          </a:p>
        </p:txBody>
      </p:sp>
      <p:sp>
        <p:nvSpPr>
          <p:cNvPr id="1170" name="Cell"/>
          <p:cNvSpPr/>
          <p:nvPr/>
        </p:nvSpPr>
        <p:spPr>
          <a:xfrm>
            <a:off x="5221223" y="3858768"/>
            <a:ext cx="2487168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171" name="Cell"/>
          <p:cNvSpPr/>
          <p:nvPr/>
        </p:nvSpPr>
        <p:spPr>
          <a:xfrm>
            <a:off x="7744967" y="3858768"/>
            <a:ext cx="2487168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72" name="Avg"/>
          <p:cNvSpPr txBox="1"/>
          <p:nvPr/>
        </p:nvSpPr>
        <p:spPr>
          <a:xfrm>
            <a:off x="10296144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91%</a:t>
            </a:r>
          </a:p>
        </p:txBody>
      </p:sp>
      <p:sp>
        <p:nvSpPr>
          <p:cNvPr id="1173" name="Method"/>
          <p:cNvSpPr txBox="1"/>
          <p:nvPr/>
        </p:nvSpPr>
        <p:spPr>
          <a:xfrm>
            <a:off x="1078992" y="42976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74" name="Cell"/>
          <p:cNvSpPr/>
          <p:nvPr/>
        </p:nvSpPr>
        <p:spPr>
          <a:xfrm>
            <a:off x="2697479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94</a:t>
            </a:r>
          </a:p>
        </p:txBody>
      </p:sp>
      <p:sp>
        <p:nvSpPr>
          <p:cNvPr id="1175" name="Cell"/>
          <p:cNvSpPr/>
          <p:nvPr/>
        </p:nvSpPr>
        <p:spPr>
          <a:xfrm>
            <a:off x="3538727" y="43159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31</a:t>
            </a:r>
          </a:p>
        </p:txBody>
      </p:sp>
      <p:sp>
        <p:nvSpPr>
          <p:cNvPr id="1176" name="Cell"/>
          <p:cNvSpPr/>
          <p:nvPr/>
        </p:nvSpPr>
        <p:spPr>
          <a:xfrm>
            <a:off x="4379975" y="43159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89</a:t>
            </a:r>
          </a:p>
        </p:txBody>
      </p:sp>
      <p:sp>
        <p:nvSpPr>
          <p:cNvPr id="1177" name="Cell"/>
          <p:cNvSpPr/>
          <p:nvPr/>
        </p:nvSpPr>
        <p:spPr>
          <a:xfrm>
            <a:off x="5221223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96</a:t>
            </a:r>
          </a:p>
        </p:txBody>
      </p:sp>
      <p:sp>
        <p:nvSpPr>
          <p:cNvPr id="1178" name="Cell"/>
          <p:cNvSpPr/>
          <p:nvPr/>
        </p:nvSpPr>
        <p:spPr>
          <a:xfrm>
            <a:off x="6062471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68</a:t>
            </a:r>
          </a:p>
        </p:txBody>
      </p:sp>
      <p:sp>
        <p:nvSpPr>
          <p:cNvPr id="1179" name="Cell"/>
          <p:cNvSpPr/>
          <p:nvPr/>
        </p:nvSpPr>
        <p:spPr>
          <a:xfrm>
            <a:off x="6903720" y="43159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86</a:t>
            </a:r>
          </a:p>
        </p:txBody>
      </p:sp>
      <p:sp>
        <p:nvSpPr>
          <p:cNvPr id="1180" name="Cell"/>
          <p:cNvSpPr/>
          <p:nvPr/>
        </p:nvSpPr>
        <p:spPr>
          <a:xfrm>
            <a:off x="7744967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181" name="Cell"/>
          <p:cNvSpPr/>
          <p:nvPr/>
        </p:nvSpPr>
        <p:spPr>
          <a:xfrm>
            <a:off x="8586216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50</a:t>
            </a:r>
          </a:p>
        </p:txBody>
      </p:sp>
      <p:sp>
        <p:nvSpPr>
          <p:cNvPr id="1182" name="Cell"/>
          <p:cNvSpPr/>
          <p:nvPr/>
        </p:nvSpPr>
        <p:spPr>
          <a:xfrm>
            <a:off x="9427463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83" name="Avg"/>
          <p:cNvSpPr txBox="1"/>
          <p:nvPr/>
        </p:nvSpPr>
        <p:spPr>
          <a:xfrm>
            <a:off x="10296144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74%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1078992" y="47548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5" name="Cell"/>
          <p:cNvSpPr/>
          <p:nvPr/>
        </p:nvSpPr>
        <p:spPr>
          <a:xfrm>
            <a:off x="2697479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41</a:t>
            </a:r>
          </a:p>
        </p:txBody>
      </p:sp>
      <p:sp>
        <p:nvSpPr>
          <p:cNvPr id="1186" name="Cell"/>
          <p:cNvSpPr/>
          <p:nvPr/>
        </p:nvSpPr>
        <p:spPr>
          <a:xfrm>
            <a:off x="3538727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</a:t>
            </a:r>
          </a:p>
        </p:txBody>
      </p:sp>
      <p:sp>
        <p:nvSpPr>
          <p:cNvPr id="1187" name="Cell"/>
          <p:cNvSpPr/>
          <p:nvPr/>
        </p:nvSpPr>
        <p:spPr>
          <a:xfrm>
            <a:off x="4379975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12</a:t>
            </a:r>
          </a:p>
        </p:txBody>
      </p:sp>
      <p:sp>
        <p:nvSpPr>
          <p:cNvPr id="1188" name="Cell"/>
          <p:cNvSpPr/>
          <p:nvPr/>
        </p:nvSpPr>
        <p:spPr>
          <a:xfrm>
            <a:off x="5221223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</a:t>
            </a:r>
          </a:p>
        </p:txBody>
      </p:sp>
      <p:sp>
        <p:nvSpPr>
          <p:cNvPr id="1189" name="Cell"/>
          <p:cNvSpPr/>
          <p:nvPr/>
        </p:nvSpPr>
        <p:spPr>
          <a:xfrm>
            <a:off x="6062471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28</a:t>
            </a:r>
          </a:p>
        </p:txBody>
      </p:sp>
      <p:sp>
        <p:nvSpPr>
          <p:cNvPr id="1190" name="Cell"/>
          <p:cNvSpPr/>
          <p:nvPr/>
        </p:nvSpPr>
        <p:spPr>
          <a:xfrm>
            <a:off x="6903720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46</a:t>
            </a:r>
          </a:p>
        </p:txBody>
      </p:sp>
      <p:sp>
        <p:nvSpPr>
          <p:cNvPr id="1191" name="Cell"/>
          <p:cNvSpPr/>
          <p:nvPr/>
        </p:nvSpPr>
        <p:spPr>
          <a:xfrm>
            <a:off x="7744967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58</a:t>
            </a:r>
          </a:p>
        </p:txBody>
      </p:sp>
      <p:sp>
        <p:nvSpPr>
          <p:cNvPr id="1192" name="Cell"/>
          <p:cNvSpPr/>
          <p:nvPr/>
        </p:nvSpPr>
        <p:spPr>
          <a:xfrm>
            <a:off x="8586216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16</a:t>
            </a:r>
          </a:p>
        </p:txBody>
      </p:sp>
      <p:sp>
        <p:nvSpPr>
          <p:cNvPr id="1193" name="Cell"/>
          <p:cNvSpPr/>
          <p:nvPr/>
        </p:nvSpPr>
        <p:spPr>
          <a:xfrm>
            <a:off x="9427463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94" name="Avg"/>
          <p:cNvSpPr txBox="1"/>
          <p:nvPr/>
        </p:nvSpPr>
        <p:spPr>
          <a:xfrm>
            <a:off x="10296144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34%</a:t>
            </a:r>
          </a:p>
        </p:txBody>
      </p:sp>
      <p:sp>
        <p:nvSpPr>
          <p:cNvPr id="1195" name="Method"/>
          <p:cNvSpPr txBox="1"/>
          <p:nvPr/>
        </p:nvSpPr>
        <p:spPr>
          <a:xfrm>
            <a:off x="1078992" y="52120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6" name="Cell"/>
          <p:cNvSpPr/>
          <p:nvPr/>
        </p:nvSpPr>
        <p:spPr>
          <a:xfrm>
            <a:off x="2697479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91</a:t>
            </a:r>
          </a:p>
        </p:txBody>
      </p:sp>
      <p:sp>
        <p:nvSpPr>
          <p:cNvPr id="1197" name="Cell"/>
          <p:cNvSpPr/>
          <p:nvPr/>
        </p:nvSpPr>
        <p:spPr>
          <a:xfrm>
            <a:off x="353872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198" name="Cell"/>
          <p:cNvSpPr/>
          <p:nvPr/>
        </p:nvSpPr>
        <p:spPr>
          <a:xfrm>
            <a:off x="4379975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87</a:t>
            </a:r>
          </a:p>
        </p:txBody>
      </p:sp>
      <p:sp>
        <p:nvSpPr>
          <p:cNvPr id="1199" name="Cell"/>
          <p:cNvSpPr/>
          <p:nvPr/>
        </p:nvSpPr>
        <p:spPr>
          <a:xfrm>
            <a:off x="522122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200" name="Cell"/>
          <p:cNvSpPr/>
          <p:nvPr/>
        </p:nvSpPr>
        <p:spPr>
          <a:xfrm>
            <a:off x="6062471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01" name="Cell"/>
          <p:cNvSpPr/>
          <p:nvPr/>
        </p:nvSpPr>
        <p:spPr>
          <a:xfrm>
            <a:off x="6903720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77</a:t>
            </a:r>
          </a:p>
        </p:txBody>
      </p:sp>
      <p:sp>
        <p:nvSpPr>
          <p:cNvPr id="1202" name="Cell"/>
          <p:cNvSpPr/>
          <p:nvPr/>
        </p:nvSpPr>
        <p:spPr>
          <a:xfrm>
            <a:off x="774496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3" name="Cell"/>
          <p:cNvSpPr/>
          <p:nvPr/>
        </p:nvSpPr>
        <p:spPr>
          <a:xfrm>
            <a:off x="8586216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4" name="Cell"/>
          <p:cNvSpPr/>
          <p:nvPr/>
        </p:nvSpPr>
        <p:spPr>
          <a:xfrm>
            <a:off x="942746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5" name="Avg"/>
          <p:cNvSpPr txBox="1"/>
          <p:nvPr/>
        </p:nvSpPr>
        <p:spPr>
          <a:xfrm>
            <a:off x="10296144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93%</a:t>
            </a:r>
          </a:p>
        </p:txBody>
      </p:sp>
      <p:sp>
        <p:nvSpPr>
          <p:cNvPr id="12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Same context, no seed: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Non-Iterative 6–78%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, depending on the LLM.  With RIGOR: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≥ 77% for every LLM, in every database.</a:t>
            </a:r>
          </a:p>
        </p:txBody>
      </p:sp>
      <p:sp>
        <p:nvSpPr>
          <p:cNvPr id="12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Coverage: a column counts as covered when an ontology class or property name is similar to it (embedding similarity ≥ 0.55). Paper Sec. 4.6, Table 9.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1"/>
          <p:cNvSpPr txBox="1"/>
          <p:nvPr/>
        </p:nvSpPr>
        <p:spPr>
          <a:xfrm>
            <a:off x="804672" y="512064"/>
            <a:ext cx="10753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4  /  EXTERNAL BENCHMARK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 txBox="1"/>
          <p:nvPr/>
        </p:nvSpPr>
        <p:spPr>
          <a:xfrm>
            <a:off x="804672" y="914400"/>
            <a:ext cx="10762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 keeps the link to the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 txBox="1"/>
          <p:nvPr/>
        </p:nvSpPr>
        <p:spPr>
          <a:xfrm>
            <a:off x="822960" y="1645920"/>
            <a:ext cx="10680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BURR [Laskowski et al., PACMMOD 2025]  ·  ISWC scenario  ·  highest F1 among ontology-learning systems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5870448" y="2523744"/>
            <a:ext cx="5468100" cy="306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77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 txBox="1"/>
          <p:nvPr/>
        </p:nvSpPr>
        <p:spPr>
          <a:xfrm>
            <a:off x="6099048" y="2706624"/>
            <a:ext cx="1828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endParaRPr/>
          </a:p>
        </p:txBody>
      </p:sp>
      <p:sp>
        <p:nvSpPr>
          <p:cNvPr id="1208" name="Google Shape;1208;p21"/>
          <p:cNvSpPr txBox="1"/>
          <p:nvPr/>
        </p:nvSpPr>
        <p:spPr>
          <a:xfrm>
            <a:off x="815644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id="1209" name="Google Shape;1209;p21"/>
          <p:cNvSpPr txBox="1"/>
          <p:nvPr/>
        </p:nvSpPr>
        <p:spPr>
          <a:xfrm>
            <a:off x="9208008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id="1210" name="Google Shape;1210;p21"/>
          <p:cNvSpPr txBox="1"/>
          <p:nvPr/>
        </p:nvSpPr>
        <p:spPr>
          <a:xfrm>
            <a:off x="1025956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cxnSp>
        <p:nvCxnSpPr>
          <p:cNvPr id="1211" name="Google Shape;1211;p21"/>
          <p:cNvCxnSpPr/>
          <p:nvPr/>
        </p:nvCxnSpPr>
        <p:spPr>
          <a:xfrm>
            <a:off x="6071616" y="3145536"/>
            <a:ext cx="5065800" cy="0"/>
          </a:xfrm>
          <a:prstGeom prst="straightConnector1">
            <a:avLst/>
          </a:prstGeom>
          <a:noFill/>
          <a:ln cap="flat" cmpd="sng" w="13950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212" name="Google Shape;1212;p21"/>
          <p:cNvSpPr txBox="1"/>
          <p:nvPr/>
        </p:nvSpPr>
        <p:spPr>
          <a:xfrm>
            <a:off x="6117336" y="3182112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W3C-Mapper / Ontop</a:t>
            </a:r>
            <a:endParaRPr/>
          </a:p>
        </p:txBody>
      </p:sp>
      <p:sp>
        <p:nvSpPr>
          <p:cNvPr id="1213" name="Google Shape;1213;p21"/>
          <p:cNvSpPr txBox="1"/>
          <p:nvPr/>
        </p:nvSpPr>
        <p:spPr>
          <a:xfrm>
            <a:off x="6117336" y="3438144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4" name="Google Shape;1214;p21"/>
          <p:cNvSpPr txBox="1"/>
          <p:nvPr/>
        </p:nvSpPr>
        <p:spPr>
          <a:xfrm>
            <a:off x="8202167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0.53</a:t>
            </a:r>
            <a:endParaRPr/>
          </a:p>
        </p:txBody>
      </p:sp>
      <p:sp>
        <p:nvSpPr>
          <p:cNvPr id="1215" name="Google Shape;1215;p21"/>
          <p:cNvSpPr txBox="1"/>
          <p:nvPr/>
        </p:nvSpPr>
        <p:spPr>
          <a:xfrm>
            <a:off x="925372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0.11</a:t>
            </a:r>
            <a:endParaRPr/>
          </a:p>
        </p:txBody>
      </p:sp>
      <p:sp>
        <p:nvSpPr>
          <p:cNvPr id="1216" name="Google Shape;1216;p21"/>
          <p:cNvSpPr txBox="1"/>
          <p:nvPr/>
        </p:nvSpPr>
        <p:spPr>
          <a:xfrm>
            <a:off x="1030528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0.39</a:t>
            </a:r>
            <a:endParaRPr/>
          </a:p>
        </p:txBody>
      </p:sp>
      <p:sp>
        <p:nvSpPr>
          <p:cNvPr id="1217" name="Google Shape;1217;p21"/>
          <p:cNvSpPr txBox="1"/>
          <p:nvPr/>
        </p:nvSpPr>
        <p:spPr>
          <a:xfrm>
            <a:off x="6117336" y="373989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RDB2Onto</a:t>
            </a:r>
            <a:endParaRPr/>
          </a:p>
        </p:txBody>
      </p:sp>
      <p:sp>
        <p:nvSpPr>
          <p:cNvPr id="1218" name="Google Shape;1218;p21"/>
          <p:cNvSpPr txBox="1"/>
          <p:nvPr/>
        </p:nvSpPr>
        <p:spPr>
          <a:xfrm>
            <a:off x="6117336" y="3995928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9" name="Google Shape;1219;p21"/>
          <p:cNvSpPr txBox="1"/>
          <p:nvPr/>
        </p:nvSpPr>
        <p:spPr>
          <a:xfrm>
            <a:off x="8202167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20" name="Google Shape;1220;p21"/>
          <p:cNvSpPr txBox="1"/>
          <p:nvPr/>
        </p:nvSpPr>
        <p:spPr>
          <a:xfrm>
            <a:off x="925372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0.62</a:t>
            </a:r>
            <a:endParaRPr/>
          </a:p>
        </p:txBody>
      </p:sp>
      <p:sp>
        <p:nvSpPr>
          <p:cNvPr id="1221" name="Google Shape;1221;p21"/>
          <p:cNvSpPr txBox="1"/>
          <p:nvPr/>
        </p:nvSpPr>
        <p:spPr>
          <a:xfrm>
            <a:off x="1030528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2" name="Google Shape;1222;p21"/>
          <p:cNvSpPr txBox="1"/>
          <p:nvPr/>
        </p:nvSpPr>
        <p:spPr>
          <a:xfrm>
            <a:off x="6117336" y="4297680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OntoGenix</a:t>
            </a:r>
            <a:endParaRPr/>
          </a:p>
        </p:txBody>
      </p:sp>
      <p:sp>
        <p:nvSpPr>
          <p:cNvPr id="1223" name="Google Shape;1223;p21"/>
          <p:cNvSpPr txBox="1"/>
          <p:nvPr/>
        </p:nvSpPr>
        <p:spPr>
          <a:xfrm>
            <a:off x="6117336" y="4553712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LLM-based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202167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0.58</a:t>
            </a:r>
            <a:endParaRPr/>
          </a:p>
        </p:txBody>
      </p:sp>
      <p:sp>
        <p:nvSpPr>
          <p:cNvPr id="1225" name="Google Shape;1225;p21"/>
          <p:cNvSpPr txBox="1"/>
          <p:nvPr/>
        </p:nvSpPr>
        <p:spPr>
          <a:xfrm>
            <a:off x="925372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0.35</a:t>
            </a:r>
            <a:endParaRPr/>
          </a:p>
        </p:txBody>
      </p:sp>
      <p:sp>
        <p:nvSpPr>
          <p:cNvPr id="1226" name="Google Shape;1226;p21"/>
          <p:cNvSpPr txBox="1"/>
          <p:nvPr/>
        </p:nvSpPr>
        <p:spPr>
          <a:xfrm>
            <a:off x="1030528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7" name="Google Shape;1227;p21"/>
          <p:cNvSpPr/>
          <p:nvPr/>
        </p:nvSpPr>
        <p:spPr>
          <a:xfrm>
            <a:off x="5980176" y="4892040"/>
            <a:ext cx="5248800" cy="512100"/>
          </a:xfrm>
          <a:prstGeom prst="rect">
            <a:avLst/>
          </a:prstGeom>
          <a:solidFill>
            <a:srgbClr val="E9EEEB"/>
          </a:solidFill>
          <a:ln cap="flat" cmpd="sng" w="9525">
            <a:solidFill>
              <a:srgbClr val="3A7D8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1"/>
          <p:cNvSpPr txBox="1"/>
          <p:nvPr/>
        </p:nvSpPr>
        <p:spPr>
          <a:xfrm>
            <a:off x="6117336" y="4855464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RIGOR</a:t>
            </a:r>
            <a:endParaRPr/>
          </a:p>
        </p:txBody>
      </p:sp>
      <p:sp>
        <p:nvSpPr>
          <p:cNvPr id="1229" name="Google Shape;1229;p21"/>
          <p:cNvSpPr txBox="1"/>
          <p:nvPr/>
        </p:nvSpPr>
        <p:spPr>
          <a:xfrm>
            <a:off x="6117336" y="5111496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2F6B78"/>
                </a:solidFill>
                <a:latin typeface="Calibri"/>
                <a:ea typeface="Calibri"/>
                <a:cs typeface="Calibri"/>
                <a:sym typeface="Calibri"/>
              </a:rPr>
              <a:t>LLM + rules</a:t>
            </a:r>
            <a:endParaRPr/>
          </a:p>
        </p:txBody>
      </p:sp>
      <p:sp>
        <p:nvSpPr>
          <p:cNvPr id="1230" name="Google Shape;1230;p21"/>
          <p:cNvSpPr txBox="1"/>
          <p:nvPr/>
        </p:nvSpPr>
        <p:spPr>
          <a:xfrm>
            <a:off x="8202167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0.73</a:t>
            </a:r>
            <a:endParaRPr/>
          </a:p>
        </p:txBody>
      </p:sp>
      <p:sp>
        <p:nvSpPr>
          <p:cNvPr id="1231" name="Google Shape;1231;p21"/>
          <p:cNvSpPr txBox="1"/>
          <p:nvPr/>
        </p:nvSpPr>
        <p:spPr>
          <a:xfrm>
            <a:off x="925372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32" name="Google Shape;1232;p21"/>
          <p:cNvSpPr txBox="1"/>
          <p:nvPr/>
        </p:nvSpPr>
        <p:spPr>
          <a:xfrm>
            <a:off x="1030528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0.52</a:t>
            </a:r>
            <a:endParaRPr/>
          </a:p>
        </p:txBody>
      </p:sp>
      <p:sp>
        <p:nvSpPr>
          <p:cNvPr id="1233" name="Google Shape;1233;p21"/>
          <p:cNvSpPr/>
          <p:nvPr/>
        </p:nvSpPr>
        <p:spPr>
          <a:xfrm>
            <a:off x="841248" y="2523744"/>
            <a:ext cx="4846200" cy="3063300"/>
          </a:xfrm>
          <a:prstGeom prst="roundRect">
            <a:avLst>
              <a:gd fmla="val 12000" name="adj"/>
            </a:avLst>
          </a:prstGeom>
          <a:solidFill>
            <a:srgbClr val="F3F5F4"/>
          </a:solidFill>
          <a:ln cap="flat" cmpd="sng" w="952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 txBox="1"/>
          <p:nvPr/>
        </p:nvSpPr>
        <p:spPr>
          <a:xfrm>
            <a:off x="1069848" y="2706624"/>
            <a:ext cx="43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WHAT BURR CHECKS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1069848" y="3035808"/>
            <a:ext cx="4389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Every ontology element must map back to the database.</a:t>
            </a:r>
            <a:endParaRPr/>
          </a:p>
        </p:txBody>
      </p:sp>
      <p:sp>
        <p:nvSpPr>
          <p:cNvPr id="1236" name="Google Shape;1236;p21"/>
          <p:cNvSpPr txBox="1"/>
          <p:nvPr/>
        </p:nvSpPr>
        <p:spPr>
          <a:xfrm>
            <a:off x="1069848" y="3474720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descr="database element" id="1237" name="Google Shape;1237;p21"/>
          <p:cNvSpPr/>
          <p:nvPr/>
        </p:nvSpPr>
        <p:spPr>
          <a:xfrm>
            <a:off x="2075688" y="3474720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38" name="Google Shape;1238;p21"/>
          <p:cNvSpPr txBox="1"/>
          <p:nvPr/>
        </p:nvSpPr>
        <p:spPr>
          <a:xfrm>
            <a:off x="3392424" y="3474720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39" name="Google Shape;1239;p21"/>
          <p:cNvSpPr/>
          <p:nvPr/>
        </p:nvSpPr>
        <p:spPr>
          <a:xfrm>
            <a:off x="3648456" y="3474720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Class: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40" name="Google Shape;1240;p21"/>
          <p:cNvSpPr txBox="1"/>
          <p:nvPr/>
        </p:nvSpPr>
        <p:spPr>
          <a:xfrm>
            <a:off x="1069848" y="3895344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descr="database element" id="1241" name="Google Shape;1241;p21"/>
          <p:cNvSpPr/>
          <p:nvPr/>
        </p:nvSpPr>
        <p:spPr>
          <a:xfrm>
            <a:off x="2075688" y="3895344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paper.author_id</a:t>
            </a:r>
            <a:endParaRPr/>
          </a:p>
        </p:txBody>
      </p:sp>
      <p:sp>
        <p:nvSpPr>
          <p:cNvPr id="1242" name="Google Shape;1242;p21"/>
          <p:cNvSpPr txBox="1"/>
          <p:nvPr/>
        </p:nvSpPr>
        <p:spPr>
          <a:xfrm>
            <a:off x="3392424" y="3895344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3" name="Google Shape;1243;p21"/>
          <p:cNvSpPr/>
          <p:nvPr/>
        </p:nvSpPr>
        <p:spPr>
          <a:xfrm>
            <a:off x="3648456" y="3895344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ObjectProperty: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author</a:t>
            </a:r>
            <a:endParaRPr/>
          </a:p>
        </p:txBody>
      </p:sp>
      <p:sp>
        <p:nvSpPr>
          <p:cNvPr id="1244" name="Google Shape;1244;p21"/>
          <p:cNvSpPr txBox="1"/>
          <p:nvPr/>
        </p:nvSpPr>
        <p:spPr>
          <a:xfrm>
            <a:off x="1069848" y="4315968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sp>
        <p:nvSpPr>
          <p:cNvPr descr="database element" id="1245" name="Google Shape;1245;p21"/>
          <p:cNvSpPr/>
          <p:nvPr/>
        </p:nvSpPr>
        <p:spPr>
          <a:xfrm>
            <a:off x="2075688" y="4315968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person.name</a:t>
            </a:r>
            <a:endParaRPr/>
          </a:p>
        </p:txBody>
      </p:sp>
      <p:sp>
        <p:nvSpPr>
          <p:cNvPr id="1246" name="Google Shape;1246;p21"/>
          <p:cNvSpPr txBox="1"/>
          <p:nvPr/>
        </p:nvSpPr>
        <p:spPr>
          <a:xfrm>
            <a:off x="3392424" y="4315968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7" name="Google Shape;1247;p21"/>
          <p:cNvSpPr/>
          <p:nvPr/>
        </p:nvSpPr>
        <p:spPr>
          <a:xfrm>
            <a:off x="3648456" y="4315968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DataProperty: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endParaRPr/>
          </a:p>
        </p:txBody>
      </p:sp>
      <p:sp>
        <p:nvSpPr>
          <p:cNvPr id="1248" name="Google Shape;1248;p21"/>
          <p:cNvSpPr txBox="1"/>
          <p:nvPr/>
        </p:nvSpPr>
        <p:spPr>
          <a:xfrm>
            <a:off x="1069848" y="4736592"/>
            <a:ext cx="4389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Elements match when they map to the same database elements, whatever their names. F1 per element type.</a:t>
            </a:r>
            <a:endParaRPr/>
          </a:p>
        </p:txBody>
      </p:sp>
      <p:sp>
        <p:nvSpPr>
          <p:cNvPr id="1249" name="Google Shape;1249;p21"/>
          <p:cNvSpPr txBox="1"/>
          <p:nvPr/>
        </p:nvSpPr>
        <p:spPr>
          <a:xfrm>
            <a:off x="1069848" y="5358384"/>
            <a:ext cx="4389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Illustrative elements  ·  ISWC gold mapping: D2RQ example by Bizer &amp; Seaborne</a:t>
            </a:r>
            <a:endParaRPr/>
          </a:p>
        </p:txBody>
      </p:sp>
      <p:sp>
        <p:nvSpPr>
          <p:cNvPr id="1250" name="Google Shape;1250;p21"/>
          <p:cNvSpPr txBox="1"/>
          <p:nvPr/>
        </p:nvSpPr>
        <p:spPr>
          <a:xfrm>
            <a:off x="850392" y="6382512"/>
            <a:ext cx="104883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One scenario  ·  9 tables · 46 columns · 11 FKs  ·  RIGOR with Claude  ·  its prov:wasDerivedFrom links exported as a D2RQ mapping  ·  Source: paper Table 13</a:t>
            </a:r>
            <a:endParaRPr/>
          </a:p>
        </p:txBody>
      </p:sp>
      <p:sp>
        <p:nvSpPr>
          <p:cNvPr id="1251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252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53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54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255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25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Relations: 0.67 vs 0.11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for W3C-Mapper / Ontop. Foreign keys become named relations, like hasPatientData.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5  /  LLM JUDGE AND HUMAN EXPERTS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An LLM judge and human experts both rank RIGOR first.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Both ranked four anonymized ontologies per table, judged against that table's competency questions.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260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263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264" name="CQ strip"/>
          <p:cNvSpPr/>
          <p:nvPr/>
        </p:nvSpPr>
        <p:spPr>
          <a:xfrm>
            <a:off x="804672" y="2606040"/>
            <a:ext cx="105796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COMPETENCY QUESTIONS  </a:t>
            </a:r>
            <a:r>
              <a:rPr lang="en-US" sz="11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what the ontology must answer. 5 per table, 290 in total, expert-verified.  </a:t>
            </a:r>
            <a:r>
              <a:rPr lang="en-US" sz="1150" b="0" i="1" dirty="0">
                <a:solidFill>
                  <a:srgbClr val="1F2328"/>
                </a:solidFill>
                <a:latin typeface="Calibri"/>
                <a:cs typeface="Calibri"/>
              </a:rPr>
              <a:t xml:space="preserve">e.g. “Which patients had abnormal physical exam findings?”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3172968"/>
            <a:ext cx="5760720" cy="258775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3355848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LLM-AS-A-JUDGE  ·  GPT-5.4</a:t>
            </a:r>
          </a:p>
        </p:txBody>
      </p:sp>
      <p:sp>
        <p:nvSpPr>
          <p:cNvPr id="1267" name="Big"/>
          <p:cNvSpPr txBox="1"/>
          <p:nvPr/>
        </p:nvSpPr>
        <p:spPr>
          <a:xfrm>
            <a:off x="1078992" y="3557016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58 / 58</a:t>
            </a:r>
          </a:p>
        </p:txBody>
      </p:sp>
      <p:sp>
        <p:nvSpPr>
          <p:cNvPr id="1268" name="Claim"/>
          <p:cNvSpPr txBox="1"/>
          <p:nvPr/>
        </p:nvSpPr>
        <p:spPr>
          <a:xfrm>
            <a:off x="3136391" y="358444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tables with RIGOR ranked first</a:t>
            </a:r>
          </a:p>
        </p:txBody>
      </p:sp>
      <p:sp>
        <p:nvSpPr>
          <p:cNvPr id="1269" name="Database"/>
          <p:cNvSpPr txBox="1"/>
          <p:nvPr/>
        </p:nvSpPr>
        <p:spPr>
          <a:xfrm>
            <a:off x="2359152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70" name="Database"/>
          <p:cNvSpPr txBox="1"/>
          <p:nvPr/>
        </p:nvSpPr>
        <p:spPr>
          <a:xfrm>
            <a:off x="3657600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71" name="Database"/>
          <p:cNvSpPr txBox="1"/>
          <p:nvPr/>
        </p:nvSpPr>
        <p:spPr>
          <a:xfrm>
            <a:off x="4956048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272" name="Method"/>
          <p:cNvSpPr txBox="1"/>
          <p:nvPr/>
        </p:nvSpPr>
        <p:spPr>
          <a:xfrm>
            <a:off x="1033271" y="4416552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73" name="Cell"/>
          <p:cNvSpPr/>
          <p:nvPr/>
        </p:nvSpPr>
        <p:spPr>
          <a:xfrm>
            <a:off x="2377440" y="4434840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2.05</a:t>
            </a:r>
          </a:p>
        </p:txBody>
      </p:sp>
      <p:sp>
        <p:nvSpPr>
          <p:cNvPr id="1274" name="Cell"/>
          <p:cNvSpPr/>
          <p:nvPr/>
        </p:nvSpPr>
        <p:spPr>
          <a:xfrm>
            <a:off x="3675887" y="4434840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2.13</a:t>
            </a:r>
          </a:p>
        </p:txBody>
      </p:sp>
      <p:sp>
        <p:nvSpPr>
          <p:cNvPr id="1275" name="Cell"/>
          <p:cNvSpPr/>
          <p:nvPr/>
        </p:nvSpPr>
        <p:spPr>
          <a:xfrm>
            <a:off x="4974336" y="4434840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0.13</a:t>
            </a:r>
          </a:p>
        </p:txBody>
      </p:sp>
      <p:sp>
        <p:nvSpPr>
          <p:cNvPr id="1276" name="Method"/>
          <p:cNvSpPr txBox="1"/>
          <p:nvPr/>
        </p:nvSpPr>
        <p:spPr>
          <a:xfrm>
            <a:off x="1033271" y="472744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77" name="Cell"/>
          <p:cNvSpPr/>
          <p:nvPr/>
        </p:nvSpPr>
        <p:spPr>
          <a:xfrm>
            <a:off x="2377440" y="4745736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1.38</a:t>
            </a:r>
          </a:p>
        </p:txBody>
      </p:sp>
      <p:sp>
        <p:nvSpPr>
          <p:cNvPr id="1278" name="Cell"/>
          <p:cNvSpPr/>
          <p:nvPr/>
        </p:nvSpPr>
        <p:spPr>
          <a:xfrm>
            <a:off x="3675887" y="4745736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0.28</a:t>
            </a:r>
          </a:p>
        </p:txBody>
      </p:sp>
      <p:sp>
        <p:nvSpPr>
          <p:cNvPr id="1279" name="Cell"/>
          <p:cNvSpPr/>
          <p:nvPr/>
        </p:nvSpPr>
        <p:spPr>
          <a:xfrm>
            <a:off x="4974336" y="4745736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1.48</a:t>
            </a:r>
          </a:p>
        </p:txBody>
      </p:sp>
      <p:sp>
        <p:nvSpPr>
          <p:cNvPr id="1280" name="Method"/>
          <p:cNvSpPr txBox="1"/>
          <p:nvPr/>
        </p:nvSpPr>
        <p:spPr>
          <a:xfrm>
            <a:off x="1033271" y="503834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81" name="Cell"/>
          <p:cNvSpPr/>
          <p:nvPr/>
        </p:nvSpPr>
        <p:spPr>
          <a:xfrm>
            <a:off x="2377440" y="5056632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1.89</a:t>
            </a:r>
          </a:p>
        </p:txBody>
      </p:sp>
      <p:sp>
        <p:nvSpPr>
          <p:cNvPr id="1282" name="Cell"/>
          <p:cNvSpPr/>
          <p:nvPr/>
        </p:nvSpPr>
        <p:spPr>
          <a:xfrm>
            <a:off x="3675887" y="5056632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0.67</a:t>
            </a:r>
          </a:p>
        </p:txBody>
      </p:sp>
      <p:sp>
        <p:nvSpPr>
          <p:cNvPr id="1283" name="Cell"/>
          <p:cNvSpPr/>
          <p:nvPr/>
        </p:nvSpPr>
        <p:spPr>
          <a:xfrm>
            <a:off x="4974336" y="5056632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2.77</a:t>
            </a:r>
          </a:p>
        </p:txBody>
      </p:sp>
      <p:sp>
        <p:nvSpPr>
          <p:cNvPr id="1284" name="Method"/>
          <p:cNvSpPr txBox="1"/>
          <p:nvPr/>
        </p:nvSpPr>
        <p:spPr>
          <a:xfrm>
            <a:off x="1033271" y="534924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85" name="Cell"/>
          <p:cNvSpPr/>
          <p:nvPr/>
        </p:nvSpPr>
        <p:spPr>
          <a:xfrm>
            <a:off x="2377440" y="5367528"/>
            <a:ext cx="1261872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3.93</a:t>
            </a:r>
          </a:p>
        </p:txBody>
      </p:sp>
      <p:sp>
        <p:nvSpPr>
          <p:cNvPr id="1286" name="Cell"/>
          <p:cNvSpPr/>
          <p:nvPr/>
        </p:nvSpPr>
        <p:spPr>
          <a:xfrm>
            <a:off x="3675887" y="5367528"/>
            <a:ext cx="1261872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3.64</a:t>
            </a:r>
          </a:p>
        </p:txBody>
      </p:sp>
      <p:sp>
        <p:nvSpPr>
          <p:cNvPr id="1287" name="Cell"/>
          <p:cNvSpPr/>
          <p:nvPr/>
        </p:nvSpPr>
        <p:spPr>
          <a:xfrm>
            <a:off x="4974336" y="5367528"/>
            <a:ext cx="1261872" cy="274320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3.32</a:t>
            </a:r>
          </a:p>
        </p:txBody>
      </p:sp>
      <p:sp>
        <p:nvSpPr>
          <p:cNvPr id="1288" name="Card"/>
          <p:cNvSpPr/>
          <p:nvPr/>
        </p:nvSpPr>
        <p:spPr>
          <a:xfrm>
            <a:off x="6702552" y="3172968"/>
            <a:ext cx="4681728" cy="258775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9" name="Card label"/>
          <p:cNvSpPr txBox="1"/>
          <p:nvPr/>
        </p:nvSpPr>
        <p:spPr>
          <a:xfrm>
            <a:off x="6976872" y="335584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10 ONTOLOGY EXPERTS</a:t>
            </a:r>
          </a:p>
        </p:txBody>
      </p:sp>
      <p:sp>
        <p:nvSpPr>
          <p:cNvPr id="1290" name="Big"/>
          <p:cNvSpPr txBox="1"/>
          <p:nvPr/>
        </p:nvSpPr>
        <p:spPr>
          <a:xfrm>
            <a:off x="6976872" y="3557016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28 / 40</a:t>
            </a:r>
          </a:p>
        </p:txBody>
      </p:sp>
      <p:sp>
        <p:nvSpPr>
          <p:cNvPr id="1291" name="Claim"/>
          <p:cNvSpPr txBox="1"/>
          <p:nvPr/>
        </p:nvSpPr>
        <p:spPr>
          <a:xfrm>
            <a:off x="8942832" y="3584448"/>
            <a:ext cx="230428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rankings with RIGOR first (70%)</a:t>
            </a:r>
          </a:p>
        </p:txBody>
      </p:sp>
      <p:sp>
        <p:nvSpPr>
          <p:cNvPr id="1292" name="Database"/>
          <p:cNvSpPr txBox="1"/>
          <p:nvPr/>
        </p:nvSpPr>
        <p:spPr>
          <a:xfrm>
            <a:off x="8257031" y="416052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93" name="Database"/>
          <p:cNvSpPr txBox="1"/>
          <p:nvPr/>
        </p:nvSpPr>
        <p:spPr>
          <a:xfrm>
            <a:off x="9674352" y="416052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94" name="Method"/>
          <p:cNvSpPr txBox="1"/>
          <p:nvPr/>
        </p:nvSpPr>
        <p:spPr>
          <a:xfrm>
            <a:off x="6931152" y="4416552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95" name="Cell"/>
          <p:cNvSpPr/>
          <p:nvPr/>
        </p:nvSpPr>
        <p:spPr>
          <a:xfrm>
            <a:off x="8275319" y="4434840"/>
            <a:ext cx="1380744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296" name="Cell"/>
          <p:cNvSpPr/>
          <p:nvPr/>
        </p:nvSpPr>
        <p:spPr>
          <a:xfrm>
            <a:off x="9692640" y="4434840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97" name="Method"/>
          <p:cNvSpPr txBox="1"/>
          <p:nvPr/>
        </p:nvSpPr>
        <p:spPr>
          <a:xfrm>
            <a:off x="6931152" y="472744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98" name="Cell"/>
          <p:cNvSpPr/>
          <p:nvPr/>
        </p:nvSpPr>
        <p:spPr>
          <a:xfrm>
            <a:off x="8275319" y="4745736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</a:t>
            </a:r>
          </a:p>
        </p:txBody>
      </p:sp>
      <p:sp>
        <p:nvSpPr>
          <p:cNvPr id="1299" name="Cell"/>
          <p:cNvSpPr/>
          <p:nvPr/>
        </p:nvSpPr>
        <p:spPr>
          <a:xfrm>
            <a:off x="9692640" y="4745736"/>
            <a:ext cx="1380744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</a:t>
            </a:r>
          </a:p>
        </p:txBody>
      </p:sp>
      <p:sp>
        <p:nvSpPr>
          <p:cNvPr id="1300" name="Method"/>
          <p:cNvSpPr txBox="1"/>
          <p:nvPr/>
        </p:nvSpPr>
        <p:spPr>
          <a:xfrm>
            <a:off x="6931152" y="503834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301" name="Cell"/>
          <p:cNvSpPr/>
          <p:nvPr/>
        </p:nvSpPr>
        <p:spPr>
          <a:xfrm>
            <a:off x="8275319" y="5056632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302" name="Cell"/>
          <p:cNvSpPr/>
          <p:nvPr/>
        </p:nvSpPr>
        <p:spPr>
          <a:xfrm>
            <a:off x="9692640" y="5056632"/>
            <a:ext cx="1380744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303" name="Method"/>
          <p:cNvSpPr txBox="1"/>
          <p:nvPr/>
        </p:nvSpPr>
        <p:spPr>
          <a:xfrm>
            <a:off x="6931152" y="534924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304" name="Cell"/>
          <p:cNvSpPr/>
          <p:nvPr/>
        </p:nvSpPr>
        <p:spPr>
          <a:xfrm>
            <a:off x="8275319" y="5367528"/>
            <a:ext cx="1380744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5" name="Cell"/>
          <p:cNvSpPr/>
          <p:nvPr/>
        </p:nvSpPr>
        <p:spPr>
          <a:xfrm>
            <a:off x="9692640" y="5367528"/>
            <a:ext cx="1380744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Mapping: structure without meaning.  LLMs alone: meaning without structure. 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RIGOR: both, and checked.</a:t>
            </a:r>
          </a:p>
        </p:txBody>
      </p:sp>
      <p:sp>
        <p:nvSpPr>
          <p:cNvPr id="13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Judge: average score 0–5 per database, Claude ontologies, 58 tables. Experts: first places of 20 per database, 4 medical tables, Kendall's W 0.39–0.72. Paper Tables 1, 6, 12.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1  /  VALID, WITH FEWER ERRORS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Every ontology is valid. RIGOR's have far fewer modeling errors.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All 30 ontologies are valid OWL 2 DL (RDFLib) and logically consistent (HermiT). So we look deeper.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MODELING ERRORS FOUND BY OOPS!</a:t>
            </a:r>
          </a:p>
        </p:txBody>
      </p:sp>
      <p:sp>
        <p:nvSpPr>
          <p:cNvPr id="1154" name="Card note"/>
          <p:cNvSpPr txBox="1"/>
          <p:nvPr/>
        </p:nvSpPr>
        <p:spPr>
          <a:xfrm>
            <a:off x="1078992" y="3081528"/>
            <a:ext cx="10030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pitfalls per ontology, fewer is better</a:t>
            </a:r>
          </a:p>
        </p:txBody>
      </p:sp>
      <p:sp>
        <p:nvSpPr>
          <p:cNvPr id="1155" name="Database"/>
          <p:cNvSpPr txBox="1"/>
          <p:nvPr/>
        </p:nvSpPr>
        <p:spPr>
          <a:xfrm>
            <a:off x="2679191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2679191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352043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8" name="LLM"/>
          <p:cNvSpPr txBox="1"/>
          <p:nvPr/>
        </p:nvSpPr>
        <p:spPr>
          <a:xfrm>
            <a:off x="436168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9" name="Database"/>
          <p:cNvSpPr txBox="1"/>
          <p:nvPr/>
        </p:nvSpPr>
        <p:spPr>
          <a:xfrm>
            <a:off x="5202936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520293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6044183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6885432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3" name="Database"/>
          <p:cNvSpPr txBox="1"/>
          <p:nvPr/>
        </p:nvSpPr>
        <p:spPr>
          <a:xfrm>
            <a:off x="7726679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772667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856792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940917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7" name="Avg head"/>
          <p:cNvSpPr txBox="1"/>
          <p:nvPr/>
        </p:nvSpPr>
        <p:spPr>
          <a:xfrm>
            <a:off x="10296144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3840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9" name="Cell"/>
          <p:cNvSpPr/>
          <p:nvPr/>
        </p:nvSpPr>
        <p:spPr>
          <a:xfrm>
            <a:off x="2697479" y="3858768"/>
            <a:ext cx="2487168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731</a:t>
            </a:r>
          </a:p>
        </p:txBody>
      </p:sp>
      <p:sp>
        <p:nvSpPr>
          <p:cNvPr id="1170" name="Cell"/>
          <p:cNvSpPr/>
          <p:nvPr/>
        </p:nvSpPr>
        <p:spPr>
          <a:xfrm>
            <a:off x="5221223" y="3858768"/>
            <a:ext cx="2487168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665</a:t>
            </a:r>
          </a:p>
        </p:txBody>
      </p:sp>
      <p:sp>
        <p:nvSpPr>
          <p:cNvPr id="1171" name="Cell"/>
          <p:cNvSpPr/>
          <p:nvPr/>
        </p:nvSpPr>
        <p:spPr>
          <a:xfrm>
            <a:off x="7744967" y="3858768"/>
            <a:ext cx="2487168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102</a:t>
            </a:r>
          </a:p>
        </p:txBody>
      </p:sp>
      <p:sp>
        <p:nvSpPr>
          <p:cNvPr id="1172" name="Avg"/>
          <p:cNvSpPr txBox="1"/>
          <p:nvPr/>
        </p:nvSpPr>
        <p:spPr>
          <a:xfrm>
            <a:off x="10296144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499</a:t>
            </a:r>
          </a:p>
        </p:txBody>
      </p:sp>
      <p:sp>
        <p:nvSpPr>
          <p:cNvPr id="1173" name="Method"/>
          <p:cNvSpPr txBox="1"/>
          <p:nvPr/>
        </p:nvSpPr>
        <p:spPr>
          <a:xfrm>
            <a:off x="1078992" y="42976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74" name="Cell"/>
          <p:cNvSpPr/>
          <p:nvPr/>
        </p:nvSpPr>
        <p:spPr>
          <a:xfrm>
            <a:off x="2697479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422</a:t>
            </a:r>
          </a:p>
        </p:txBody>
      </p:sp>
      <p:sp>
        <p:nvSpPr>
          <p:cNvPr id="1175" name="Cell"/>
          <p:cNvSpPr/>
          <p:nvPr/>
        </p:nvSpPr>
        <p:spPr>
          <a:xfrm>
            <a:off x="3538727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397</a:t>
            </a:r>
          </a:p>
        </p:txBody>
      </p:sp>
      <p:sp>
        <p:nvSpPr>
          <p:cNvPr id="1176" name="Cell"/>
          <p:cNvSpPr/>
          <p:nvPr/>
        </p:nvSpPr>
        <p:spPr>
          <a:xfrm>
            <a:off x="4379975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403</a:t>
            </a:r>
          </a:p>
        </p:txBody>
      </p:sp>
      <p:sp>
        <p:nvSpPr>
          <p:cNvPr id="1177" name="Cell"/>
          <p:cNvSpPr/>
          <p:nvPr/>
        </p:nvSpPr>
        <p:spPr>
          <a:xfrm>
            <a:off x="5221223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434</a:t>
            </a:r>
          </a:p>
        </p:txBody>
      </p:sp>
      <p:sp>
        <p:nvSpPr>
          <p:cNvPr id="1178" name="Cell"/>
          <p:cNvSpPr/>
          <p:nvPr/>
        </p:nvSpPr>
        <p:spPr>
          <a:xfrm>
            <a:off x="6062471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440</a:t>
            </a:r>
          </a:p>
        </p:txBody>
      </p:sp>
      <p:sp>
        <p:nvSpPr>
          <p:cNvPr id="1179" name="Cell"/>
          <p:cNvSpPr/>
          <p:nvPr/>
        </p:nvSpPr>
        <p:spPr>
          <a:xfrm>
            <a:off x="6903720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421</a:t>
            </a:r>
          </a:p>
        </p:txBody>
      </p:sp>
      <p:sp>
        <p:nvSpPr>
          <p:cNvPr id="1180" name="Cell"/>
          <p:cNvSpPr/>
          <p:nvPr/>
        </p:nvSpPr>
        <p:spPr>
          <a:xfrm>
            <a:off x="7744967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181" name="Cell"/>
          <p:cNvSpPr/>
          <p:nvPr/>
        </p:nvSpPr>
        <p:spPr>
          <a:xfrm>
            <a:off x="8586216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</a:t>
            </a:r>
          </a:p>
        </p:txBody>
      </p:sp>
      <p:sp>
        <p:nvSpPr>
          <p:cNvPr id="1182" name="Cell"/>
          <p:cNvSpPr/>
          <p:nvPr/>
        </p:nvSpPr>
        <p:spPr>
          <a:xfrm>
            <a:off x="9427463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81</a:t>
            </a:r>
          </a:p>
        </p:txBody>
      </p:sp>
      <p:sp>
        <p:nvSpPr>
          <p:cNvPr id="1183" name="Avg"/>
          <p:cNvSpPr txBox="1"/>
          <p:nvPr/>
        </p:nvSpPr>
        <p:spPr>
          <a:xfrm>
            <a:off x="10296144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307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1078992" y="47548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5" name="Cell"/>
          <p:cNvSpPr/>
          <p:nvPr/>
        </p:nvSpPr>
        <p:spPr>
          <a:xfrm>
            <a:off x="2697479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29</a:t>
            </a:r>
          </a:p>
        </p:txBody>
      </p:sp>
      <p:sp>
        <p:nvSpPr>
          <p:cNvPr id="1186" name="Cell"/>
          <p:cNvSpPr/>
          <p:nvPr/>
        </p:nvSpPr>
        <p:spPr>
          <a:xfrm>
            <a:off x="3538727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61</a:t>
            </a:r>
          </a:p>
        </p:txBody>
      </p:sp>
      <p:sp>
        <p:nvSpPr>
          <p:cNvPr id="1187" name="Cell"/>
          <p:cNvSpPr/>
          <p:nvPr/>
        </p:nvSpPr>
        <p:spPr>
          <a:xfrm>
            <a:off x="4379975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18</a:t>
            </a:r>
          </a:p>
        </p:txBody>
      </p:sp>
      <p:sp>
        <p:nvSpPr>
          <p:cNvPr id="1188" name="Cell"/>
          <p:cNvSpPr/>
          <p:nvPr/>
        </p:nvSpPr>
        <p:spPr>
          <a:xfrm>
            <a:off x="5221223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</a:t>
            </a:r>
          </a:p>
        </p:txBody>
      </p:sp>
      <p:sp>
        <p:nvSpPr>
          <p:cNvPr id="1189" name="Cell"/>
          <p:cNvSpPr/>
          <p:nvPr/>
        </p:nvSpPr>
        <p:spPr>
          <a:xfrm>
            <a:off x="6062471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220</a:t>
            </a:r>
          </a:p>
        </p:txBody>
      </p:sp>
      <p:sp>
        <p:nvSpPr>
          <p:cNvPr id="1190" name="Cell"/>
          <p:cNvSpPr/>
          <p:nvPr/>
        </p:nvSpPr>
        <p:spPr>
          <a:xfrm>
            <a:off x="6903720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27</a:t>
            </a:r>
          </a:p>
        </p:txBody>
      </p:sp>
      <p:sp>
        <p:nvSpPr>
          <p:cNvPr id="1191" name="Cell"/>
          <p:cNvSpPr/>
          <p:nvPr/>
        </p:nvSpPr>
        <p:spPr>
          <a:xfrm>
            <a:off x="7744967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24</a:t>
            </a:r>
          </a:p>
        </p:txBody>
      </p:sp>
      <p:sp>
        <p:nvSpPr>
          <p:cNvPr id="1192" name="Cell"/>
          <p:cNvSpPr/>
          <p:nvPr/>
        </p:nvSpPr>
        <p:spPr>
          <a:xfrm>
            <a:off x="8586216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35</a:t>
            </a:r>
          </a:p>
        </p:txBody>
      </p:sp>
      <p:sp>
        <p:nvSpPr>
          <p:cNvPr id="1193" name="Cell"/>
          <p:cNvSpPr/>
          <p:nvPr/>
        </p:nvSpPr>
        <p:spPr>
          <a:xfrm>
            <a:off x="9427463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194" name="Avg"/>
          <p:cNvSpPr txBox="1"/>
          <p:nvPr/>
        </p:nvSpPr>
        <p:spPr>
          <a:xfrm>
            <a:off x="10296144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95" name="Method"/>
          <p:cNvSpPr txBox="1"/>
          <p:nvPr/>
        </p:nvSpPr>
        <p:spPr>
          <a:xfrm>
            <a:off x="1078992" y="52120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6" name="Cell"/>
          <p:cNvSpPr/>
          <p:nvPr/>
        </p:nvSpPr>
        <p:spPr>
          <a:xfrm>
            <a:off x="2697479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20</a:t>
            </a:r>
          </a:p>
        </p:txBody>
      </p:sp>
      <p:sp>
        <p:nvSpPr>
          <p:cNvPr id="1197" name="Cell"/>
          <p:cNvSpPr/>
          <p:nvPr/>
        </p:nvSpPr>
        <p:spPr>
          <a:xfrm>
            <a:off x="3538727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23</a:t>
            </a:r>
          </a:p>
        </p:txBody>
      </p:sp>
      <p:sp>
        <p:nvSpPr>
          <p:cNvPr id="1198" name="Cell"/>
          <p:cNvSpPr/>
          <p:nvPr/>
        </p:nvSpPr>
        <p:spPr>
          <a:xfrm>
            <a:off x="4379975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199" name="Cell"/>
          <p:cNvSpPr/>
          <p:nvPr/>
        </p:nvSpPr>
        <p:spPr>
          <a:xfrm>
            <a:off x="522122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00" name="Cell"/>
          <p:cNvSpPr/>
          <p:nvPr/>
        </p:nvSpPr>
        <p:spPr>
          <a:xfrm>
            <a:off x="6062471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01" name="Cell"/>
          <p:cNvSpPr/>
          <p:nvPr/>
        </p:nvSpPr>
        <p:spPr>
          <a:xfrm>
            <a:off x="6903720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26</a:t>
            </a:r>
          </a:p>
        </p:txBody>
      </p:sp>
      <p:sp>
        <p:nvSpPr>
          <p:cNvPr id="1202" name="Cell"/>
          <p:cNvSpPr/>
          <p:nvPr/>
        </p:nvSpPr>
        <p:spPr>
          <a:xfrm>
            <a:off x="774496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3" name="Cell"/>
          <p:cNvSpPr/>
          <p:nvPr/>
        </p:nvSpPr>
        <p:spPr>
          <a:xfrm>
            <a:off x="8586216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4" name="Cell"/>
          <p:cNvSpPr/>
          <p:nvPr/>
        </p:nvSpPr>
        <p:spPr>
          <a:xfrm>
            <a:off x="942746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5" name="Avg"/>
          <p:cNvSpPr txBox="1"/>
          <p:nvPr/>
        </p:nvSpPr>
        <p:spPr>
          <a:xfrm>
            <a:off x="10296144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8</a:t>
            </a:r>
          </a:p>
        </p:txBody>
      </p:sp>
      <p:sp>
        <p:nvSpPr>
          <p:cNvPr id="12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Same LLM, same database: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Mistral on eICU, 220 without RIGOR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,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2 with it.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 On Chinook, RIGOR has zero with every LLM.</a:t>
            </a:r>
          </a:p>
        </p:txBody>
      </p:sp>
      <p:sp>
        <p:nvSpPr>
          <p:cNvPr id="12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Validity: RDFLib; consistency: HermiT (paper Sec. 4.7). Pitfalls: OOPS!, paper Table 7; 72% of the other methods' pitfalls are missing annotations (P08).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3  /  MEANING IS ADDED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Meaning is added: labels, provenance and hierarchy.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Elements per ontology, for every LLM and database. Direct Mapping and LLM baseline add none, in any run.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ADDS MEANING</a:t>
            </a:r>
          </a:p>
        </p:txBody>
      </p:sp>
      <p:sp>
        <p:nvSpPr>
          <p:cNvPr id="1154" name="Metric"/>
          <p:cNvSpPr txBox="1"/>
          <p:nvPr/>
        </p:nvSpPr>
        <p:spPr>
          <a:xfrm>
            <a:off x="1078992" y="3474720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Labels &amp; comments</a:t>
            </a:r>
          </a:p>
        </p:txBody>
      </p:sp>
      <p:sp>
        <p:nvSpPr>
          <p:cNvPr id="1155" name="Database"/>
          <p:cNvSpPr txBox="1"/>
          <p:nvPr/>
        </p:nvSpPr>
        <p:spPr>
          <a:xfrm>
            <a:off x="3794760" y="3017520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3794760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4544568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8" name="LLM"/>
          <p:cNvSpPr txBox="1"/>
          <p:nvPr/>
        </p:nvSpPr>
        <p:spPr>
          <a:xfrm>
            <a:off x="5294376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9" name="Database"/>
          <p:cNvSpPr txBox="1"/>
          <p:nvPr/>
        </p:nvSpPr>
        <p:spPr>
          <a:xfrm>
            <a:off x="6044184" y="3017520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6044184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6793992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7543800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3" name="Database"/>
          <p:cNvSpPr txBox="1"/>
          <p:nvPr/>
        </p:nvSpPr>
        <p:spPr>
          <a:xfrm>
            <a:off x="8293608" y="3017520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8293608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9043416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9793224" y="3246120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7" name="Avg head"/>
          <p:cNvSpPr txBox="1"/>
          <p:nvPr/>
        </p:nvSpPr>
        <p:spPr>
          <a:xfrm>
            <a:off x="10588752" y="31272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2514600" y="3474720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Cell"/>
          <p:cNvSpPr/>
          <p:nvPr/>
        </p:nvSpPr>
        <p:spPr>
          <a:xfrm>
            <a:off x="3813048" y="3493008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680</a:t>
            </a:r>
          </a:p>
        </p:txBody>
      </p:sp>
      <p:sp>
        <p:nvSpPr>
          <p:cNvPr id="1170" name="Cell"/>
          <p:cNvSpPr/>
          <p:nvPr/>
        </p:nvSpPr>
        <p:spPr>
          <a:xfrm>
            <a:off x="4562856" y="3493008"/>
            <a:ext cx="713231" cy="292608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134</a:t>
            </a:r>
          </a:p>
        </p:txBody>
      </p:sp>
      <p:sp>
        <p:nvSpPr>
          <p:cNvPr id="1171" name="Cell"/>
          <p:cNvSpPr/>
          <p:nvPr/>
        </p:nvSpPr>
        <p:spPr>
          <a:xfrm>
            <a:off x="5312664" y="3493008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736</a:t>
            </a:r>
          </a:p>
        </p:txBody>
      </p:sp>
      <p:sp>
        <p:nvSpPr>
          <p:cNvPr id="1172" name="Cell"/>
          <p:cNvSpPr/>
          <p:nvPr/>
        </p:nvSpPr>
        <p:spPr>
          <a:xfrm>
            <a:off x="6062472" y="3493008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877</a:t>
            </a:r>
          </a:p>
        </p:txBody>
      </p:sp>
      <p:sp>
        <p:nvSpPr>
          <p:cNvPr id="1173" name="Cell"/>
          <p:cNvSpPr/>
          <p:nvPr/>
        </p:nvSpPr>
        <p:spPr>
          <a:xfrm>
            <a:off x="6812279" y="3493008"/>
            <a:ext cx="713231" cy="292608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157</a:t>
            </a:r>
          </a:p>
        </p:txBody>
      </p:sp>
      <p:sp>
        <p:nvSpPr>
          <p:cNvPr id="1174" name="Cell"/>
          <p:cNvSpPr/>
          <p:nvPr/>
        </p:nvSpPr>
        <p:spPr>
          <a:xfrm>
            <a:off x="7562088" y="3493008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743</a:t>
            </a:r>
          </a:p>
        </p:txBody>
      </p:sp>
      <p:sp>
        <p:nvSpPr>
          <p:cNvPr id="1175" name="Cell"/>
          <p:cNvSpPr/>
          <p:nvPr/>
        </p:nvSpPr>
        <p:spPr>
          <a:xfrm>
            <a:off x="8311896" y="3493008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98</a:t>
            </a:r>
          </a:p>
        </p:txBody>
      </p:sp>
      <p:sp>
        <p:nvSpPr>
          <p:cNvPr id="1176" name="Cell"/>
          <p:cNvSpPr/>
          <p:nvPr/>
        </p:nvSpPr>
        <p:spPr>
          <a:xfrm>
            <a:off x="9061704" y="3493008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177" name="Cell"/>
          <p:cNvSpPr/>
          <p:nvPr/>
        </p:nvSpPr>
        <p:spPr>
          <a:xfrm>
            <a:off x="9811512" y="3493008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64</a:t>
            </a:r>
          </a:p>
        </p:txBody>
      </p:sp>
      <p:sp>
        <p:nvSpPr>
          <p:cNvPr id="1178" name="Avg"/>
          <p:cNvSpPr txBox="1"/>
          <p:nvPr/>
        </p:nvSpPr>
        <p:spPr>
          <a:xfrm>
            <a:off x="10588752" y="3474720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389</a:t>
            </a:r>
          </a:p>
        </p:txBody>
      </p:sp>
      <p:sp>
        <p:nvSpPr>
          <p:cNvPr id="1179" name="Method"/>
          <p:cNvSpPr txBox="1"/>
          <p:nvPr/>
        </p:nvSpPr>
        <p:spPr>
          <a:xfrm>
            <a:off x="2514600" y="3803904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80" name="Cell"/>
          <p:cNvSpPr/>
          <p:nvPr/>
        </p:nvSpPr>
        <p:spPr>
          <a:xfrm>
            <a:off x="3813048" y="3822191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1,029</a:t>
            </a:r>
          </a:p>
        </p:txBody>
      </p:sp>
      <p:sp>
        <p:nvSpPr>
          <p:cNvPr id="1181" name="Cell"/>
          <p:cNvSpPr/>
          <p:nvPr/>
        </p:nvSpPr>
        <p:spPr>
          <a:xfrm>
            <a:off x="4562856" y="3822191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1,137</a:t>
            </a:r>
          </a:p>
        </p:txBody>
      </p:sp>
      <p:sp>
        <p:nvSpPr>
          <p:cNvPr id="1182" name="Cell"/>
          <p:cNvSpPr/>
          <p:nvPr/>
        </p:nvSpPr>
        <p:spPr>
          <a:xfrm>
            <a:off x="5312664" y="3822191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341</a:t>
            </a:r>
          </a:p>
        </p:txBody>
      </p:sp>
      <p:sp>
        <p:nvSpPr>
          <p:cNvPr id="1183" name="Cell"/>
          <p:cNvSpPr/>
          <p:nvPr/>
        </p:nvSpPr>
        <p:spPr>
          <a:xfrm>
            <a:off x="6062472" y="3822191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1,291</a:t>
            </a:r>
          </a:p>
        </p:txBody>
      </p:sp>
      <p:sp>
        <p:nvSpPr>
          <p:cNvPr id="1184" name="Cell"/>
          <p:cNvSpPr/>
          <p:nvPr/>
        </p:nvSpPr>
        <p:spPr>
          <a:xfrm>
            <a:off x="6812279" y="3822191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1,684</a:t>
            </a:r>
          </a:p>
        </p:txBody>
      </p:sp>
      <p:sp>
        <p:nvSpPr>
          <p:cNvPr id="1185" name="Cell"/>
          <p:cNvSpPr/>
          <p:nvPr/>
        </p:nvSpPr>
        <p:spPr>
          <a:xfrm>
            <a:off x="7562088" y="3822191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435</a:t>
            </a:r>
          </a:p>
        </p:txBody>
      </p:sp>
      <p:sp>
        <p:nvSpPr>
          <p:cNvPr id="1186" name="Cell"/>
          <p:cNvSpPr/>
          <p:nvPr/>
        </p:nvSpPr>
        <p:spPr>
          <a:xfrm>
            <a:off x="8311896" y="3822191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357</a:t>
            </a:r>
          </a:p>
        </p:txBody>
      </p:sp>
      <p:sp>
        <p:nvSpPr>
          <p:cNvPr id="1187" name="Cell"/>
          <p:cNvSpPr/>
          <p:nvPr/>
        </p:nvSpPr>
        <p:spPr>
          <a:xfrm>
            <a:off x="9061704" y="3822191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362</a:t>
            </a:r>
          </a:p>
        </p:txBody>
      </p:sp>
      <p:sp>
        <p:nvSpPr>
          <p:cNvPr id="1188" name="Cell"/>
          <p:cNvSpPr/>
          <p:nvPr/>
        </p:nvSpPr>
        <p:spPr>
          <a:xfrm>
            <a:off x="9811512" y="3822191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359</a:t>
            </a:r>
          </a:p>
        </p:txBody>
      </p:sp>
      <p:sp>
        <p:nvSpPr>
          <p:cNvPr id="1189" name="Avg"/>
          <p:cNvSpPr txBox="1"/>
          <p:nvPr/>
        </p:nvSpPr>
        <p:spPr>
          <a:xfrm>
            <a:off x="10588752" y="3803904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777</a:t>
            </a:r>
          </a:p>
        </p:txBody>
      </p:sp>
      <p:sp>
        <p:nvSpPr>
          <p:cNvPr id="1190" name="Metric"/>
          <p:cNvSpPr txBox="1"/>
          <p:nvPr/>
        </p:nvSpPr>
        <p:spPr>
          <a:xfrm>
            <a:off x="1078992" y="4169664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Provenance links</a:t>
            </a:r>
          </a:p>
        </p:txBody>
      </p:sp>
      <p:sp>
        <p:nvSpPr>
          <p:cNvPr id="1191" name="Method"/>
          <p:cNvSpPr txBox="1"/>
          <p:nvPr/>
        </p:nvSpPr>
        <p:spPr>
          <a:xfrm>
            <a:off x="2514600" y="4169664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92" name="Cell"/>
          <p:cNvSpPr/>
          <p:nvPr/>
        </p:nvSpPr>
        <p:spPr>
          <a:xfrm>
            <a:off x="3813048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3" name="Cell"/>
          <p:cNvSpPr/>
          <p:nvPr/>
        </p:nvSpPr>
        <p:spPr>
          <a:xfrm>
            <a:off x="4562856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4" name="Cell"/>
          <p:cNvSpPr/>
          <p:nvPr/>
        </p:nvSpPr>
        <p:spPr>
          <a:xfrm>
            <a:off x="5312664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5" name="Cell"/>
          <p:cNvSpPr/>
          <p:nvPr/>
        </p:nvSpPr>
        <p:spPr>
          <a:xfrm>
            <a:off x="6062472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6" name="Cell"/>
          <p:cNvSpPr/>
          <p:nvPr/>
        </p:nvSpPr>
        <p:spPr>
          <a:xfrm>
            <a:off x="6812279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7" name="Cell"/>
          <p:cNvSpPr/>
          <p:nvPr/>
        </p:nvSpPr>
        <p:spPr>
          <a:xfrm>
            <a:off x="7562088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8" name="Cell"/>
          <p:cNvSpPr/>
          <p:nvPr/>
        </p:nvSpPr>
        <p:spPr>
          <a:xfrm>
            <a:off x="8311896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9" name="Cell"/>
          <p:cNvSpPr/>
          <p:nvPr/>
        </p:nvSpPr>
        <p:spPr>
          <a:xfrm>
            <a:off x="9061704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0" name="Cell"/>
          <p:cNvSpPr/>
          <p:nvPr/>
        </p:nvSpPr>
        <p:spPr>
          <a:xfrm>
            <a:off x="9811512" y="4187952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1" name="Avg"/>
          <p:cNvSpPr txBox="1"/>
          <p:nvPr/>
        </p:nvSpPr>
        <p:spPr>
          <a:xfrm>
            <a:off x="10588752" y="4169664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2" name="Method"/>
          <p:cNvSpPr txBox="1"/>
          <p:nvPr/>
        </p:nvSpPr>
        <p:spPr>
          <a:xfrm>
            <a:off x="2514600" y="4498848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03" name="Cell"/>
          <p:cNvSpPr/>
          <p:nvPr/>
        </p:nvSpPr>
        <p:spPr>
          <a:xfrm>
            <a:off x="3813048" y="4517136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336</a:t>
            </a:r>
          </a:p>
        </p:txBody>
      </p:sp>
      <p:sp>
        <p:nvSpPr>
          <p:cNvPr id="1204" name="Cell"/>
          <p:cNvSpPr/>
          <p:nvPr/>
        </p:nvSpPr>
        <p:spPr>
          <a:xfrm>
            <a:off x="4562856" y="4517136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308</a:t>
            </a:r>
          </a:p>
        </p:txBody>
      </p:sp>
      <p:sp>
        <p:nvSpPr>
          <p:cNvPr id="1205" name="Cell"/>
          <p:cNvSpPr/>
          <p:nvPr/>
        </p:nvSpPr>
        <p:spPr>
          <a:xfrm>
            <a:off x="5312664" y="4517136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22</a:t>
            </a:r>
          </a:p>
        </p:txBody>
      </p:sp>
      <p:sp>
        <p:nvSpPr>
          <p:cNvPr id="1206" name="Cell"/>
          <p:cNvSpPr/>
          <p:nvPr/>
        </p:nvSpPr>
        <p:spPr>
          <a:xfrm>
            <a:off x="6062472" y="4517136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423</a:t>
            </a:r>
          </a:p>
        </p:txBody>
      </p:sp>
      <p:sp>
        <p:nvSpPr>
          <p:cNvPr id="1207" name="Cell"/>
          <p:cNvSpPr/>
          <p:nvPr/>
        </p:nvSpPr>
        <p:spPr>
          <a:xfrm>
            <a:off x="6812279" y="4517136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335</a:t>
            </a:r>
          </a:p>
        </p:txBody>
      </p:sp>
      <p:sp>
        <p:nvSpPr>
          <p:cNvPr id="1208" name="Cell"/>
          <p:cNvSpPr/>
          <p:nvPr/>
        </p:nvSpPr>
        <p:spPr>
          <a:xfrm>
            <a:off x="7562088" y="4517136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09" name="Cell"/>
          <p:cNvSpPr/>
          <p:nvPr/>
        </p:nvSpPr>
        <p:spPr>
          <a:xfrm>
            <a:off x="8311896" y="4517136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81</a:t>
            </a:r>
          </a:p>
        </p:txBody>
      </p:sp>
      <p:sp>
        <p:nvSpPr>
          <p:cNvPr id="1210" name="Cell"/>
          <p:cNvSpPr/>
          <p:nvPr/>
        </p:nvSpPr>
        <p:spPr>
          <a:xfrm>
            <a:off x="9061704" y="4517136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83</a:t>
            </a:r>
          </a:p>
        </p:txBody>
      </p:sp>
      <p:sp>
        <p:nvSpPr>
          <p:cNvPr id="1211" name="Cell"/>
          <p:cNvSpPr/>
          <p:nvPr/>
        </p:nvSpPr>
        <p:spPr>
          <a:xfrm>
            <a:off x="9811512" y="4517136"/>
            <a:ext cx="713231" cy="292608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75</a:t>
            </a:r>
          </a:p>
        </p:txBody>
      </p:sp>
      <p:sp>
        <p:nvSpPr>
          <p:cNvPr id="1212" name="Avg"/>
          <p:cNvSpPr txBox="1"/>
          <p:nvPr/>
        </p:nvSpPr>
        <p:spPr>
          <a:xfrm>
            <a:off x="10588752" y="4498848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196</a:t>
            </a:r>
          </a:p>
        </p:txBody>
      </p:sp>
      <p:sp>
        <p:nvSpPr>
          <p:cNvPr id="1213" name="Metric"/>
          <p:cNvSpPr txBox="1"/>
          <p:nvPr/>
        </p:nvSpPr>
        <p:spPr>
          <a:xfrm>
            <a:off x="1078992" y="4864608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Subclass axioms</a:t>
            </a:r>
          </a:p>
        </p:txBody>
      </p:sp>
      <p:sp>
        <p:nvSpPr>
          <p:cNvPr id="1214" name="Method"/>
          <p:cNvSpPr txBox="1"/>
          <p:nvPr/>
        </p:nvSpPr>
        <p:spPr>
          <a:xfrm>
            <a:off x="2514600" y="4864608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15" name="Cell"/>
          <p:cNvSpPr/>
          <p:nvPr/>
        </p:nvSpPr>
        <p:spPr>
          <a:xfrm>
            <a:off x="3813048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16" name="Cell"/>
          <p:cNvSpPr/>
          <p:nvPr/>
        </p:nvSpPr>
        <p:spPr>
          <a:xfrm>
            <a:off x="4562856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17" name="Cell"/>
          <p:cNvSpPr/>
          <p:nvPr/>
        </p:nvSpPr>
        <p:spPr>
          <a:xfrm>
            <a:off x="5312664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18" name="Cell"/>
          <p:cNvSpPr/>
          <p:nvPr/>
        </p:nvSpPr>
        <p:spPr>
          <a:xfrm>
            <a:off x="6062472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19" name="Cell"/>
          <p:cNvSpPr/>
          <p:nvPr/>
        </p:nvSpPr>
        <p:spPr>
          <a:xfrm>
            <a:off x="6812279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0" name="Cell"/>
          <p:cNvSpPr/>
          <p:nvPr/>
        </p:nvSpPr>
        <p:spPr>
          <a:xfrm>
            <a:off x="7562088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1" name="Cell"/>
          <p:cNvSpPr/>
          <p:nvPr/>
        </p:nvSpPr>
        <p:spPr>
          <a:xfrm>
            <a:off x="8311896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2" name="Cell"/>
          <p:cNvSpPr/>
          <p:nvPr/>
        </p:nvSpPr>
        <p:spPr>
          <a:xfrm>
            <a:off x="9061704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3" name="Cell"/>
          <p:cNvSpPr/>
          <p:nvPr/>
        </p:nvSpPr>
        <p:spPr>
          <a:xfrm>
            <a:off x="9811512" y="4882896"/>
            <a:ext cx="713231" cy="292608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4" name="Avg"/>
          <p:cNvSpPr txBox="1"/>
          <p:nvPr/>
        </p:nvSpPr>
        <p:spPr>
          <a:xfrm>
            <a:off x="10588752" y="4864608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5" name="Method"/>
          <p:cNvSpPr txBox="1"/>
          <p:nvPr/>
        </p:nvSpPr>
        <p:spPr>
          <a:xfrm>
            <a:off x="2514600" y="5193792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26" name="Cell"/>
          <p:cNvSpPr/>
          <p:nvPr/>
        </p:nvSpPr>
        <p:spPr>
          <a:xfrm>
            <a:off x="3813048" y="5212080"/>
            <a:ext cx="713231" cy="292608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227" name="Cell"/>
          <p:cNvSpPr/>
          <p:nvPr/>
        </p:nvSpPr>
        <p:spPr>
          <a:xfrm>
            <a:off x="4562856" y="5212080"/>
            <a:ext cx="713231" cy="292608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12</a:t>
            </a:r>
          </a:p>
        </p:txBody>
      </p:sp>
      <p:sp>
        <p:nvSpPr>
          <p:cNvPr id="1228" name="Cell"/>
          <p:cNvSpPr/>
          <p:nvPr/>
        </p:nvSpPr>
        <p:spPr>
          <a:xfrm>
            <a:off x="5312664" y="5212080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29" name="Cell"/>
          <p:cNvSpPr/>
          <p:nvPr/>
        </p:nvSpPr>
        <p:spPr>
          <a:xfrm>
            <a:off x="6062472" y="5212080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21</a:t>
            </a:r>
          </a:p>
        </p:txBody>
      </p:sp>
      <p:sp>
        <p:nvSpPr>
          <p:cNvPr id="1230" name="Cell"/>
          <p:cNvSpPr/>
          <p:nvPr/>
        </p:nvSpPr>
        <p:spPr>
          <a:xfrm>
            <a:off x="6812279" y="5212080"/>
            <a:ext cx="713231" cy="292608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59</a:t>
            </a:r>
          </a:p>
        </p:txBody>
      </p:sp>
      <p:sp>
        <p:nvSpPr>
          <p:cNvPr id="1231" name="Cell"/>
          <p:cNvSpPr/>
          <p:nvPr/>
        </p:nvSpPr>
        <p:spPr>
          <a:xfrm>
            <a:off x="7562088" y="5212080"/>
            <a:ext cx="713231" cy="292608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232" name="Cell"/>
          <p:cNvSpPr/>
          <p:nvPr/>
        </p:nvSpPr>
        <p:spPr>
          <a:xfrm>
            <a:off x="8311896" y="5212080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157</a:t>
            </a:r>
          </a:p>
        </p:txBody>
      </p:sp>
      <p:sp>
        <p:nvSpPr>
          <p:cNvPr id="1233" name="Cell"/>
          <p:cNvSpPr/>
          <p:nvPr/>
        </p:nvSpPr>
        <p:spPr>
          <a:xfrm>
            <a:off x="9061704" y="5212080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147</a:t>
            </a:r>
          </a:p>
        </p:txBody>
      </p:sp>
      <p:sp>
        <p:nvSpPr>
          <p:cNvPr id="1234" name="Cell"/>
          <p:cNvSpPr/>
          <p:nvPr/>
        </p:nvSpPr>
        <p:spPr>
          <a:xfrm>
            <a:off x="9811512" y="5212080"/>
            <a:ext cx="713231" cy="292608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114</a:t>
            </a:r>
          </a:p>
        </p:txBody>
      </p:sp>
      <p:sp>
        <p:nvSpPr>
          <p:cNvPr id="1235" name="Avg"/>
          <p:cNvSpPr txBox="1"/>
          <p:nvPr/>
        </p:nvSpPr>
        <p:spPr>
          <a:xfrm>
            <a:off x="10588752" y="5193792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59</a:t>
            </a:r>
          </a:p>
        </p:txBody>
      </p:sp>
      <p:sp>
        <p:nvSpPr>
          <p:cNvPr id="123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Hierarchies follow what the LLM knows: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114–157 subclass axioms for the music store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, 2–59 for the clinical schemas.</a:t>
            </a:r>
          </a:p>
        </p:txBody>
      </p:sp>
      <p:sp>
        <p:nvSpPr>
          <p:cNvPr id="123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8: annotation assertions (labels and comments), prov:wasDerivedFrom assertions, rdfs:subClassOf axioms.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