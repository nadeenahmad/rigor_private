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6.xml"/>
  <Override ContentType="application/vnd.openxmlformats-officedocument.presentationml.slide+xml" PartName="/ppt/slides/slide25.xml"/>
  <Override ContentType="application/vnd.openxmlformats-officedocument.presentationml.slide+xml" PartName="/ppt/slides/slide2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PartName="/ppt/slides/slide36.xml" ContentType="application/vnd.openxmlformats-officedocument.presentationml.slide+xml"/>
  <Override PartName="/ppt/slides/slide37.xml" ContentType="application/vnd.openxmlformats-officedocument.presentationml.slide+xml"/>
  <Override PartName="/ppt/notesSlides/notesSlide36.xml" ContentType="application/vnd.openxmlformats-officedocument.presentationml.notesSlide+xml"/>
  <Override PartName="/ppt/notesSlides/notesSlide37.xml" ContentType="application/vnd.openxmlformats-officedocument.presentationml.notesSlid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91" r:id="rId45"/>
    <p:sldId id="280" r:id="rId29"/>
    <p:sldId id="292" r:id="rId46"/>
    <p:sldId id="281" r:id="rId30"/>
    <p:sldId id="282" r:id="rId31"/>
  </p:sldIdLst>
  <p:sldSz cy="6858000" cx="12192000"/>
  <p:notesSz cx="6858000" cy="12192000"/>
  <p:embeddedFontLst>
    <p:embeddedFont>
      <p:font typeface="IBM Plex Sans"/>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4" roundtripDataSignature="AMtx7miIhFui5hy+i4o3KOYM/gPuu+Lj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Relationships xmlns="http://schemas.openxmlformats.org/package/2006/relationships"><Relationship Id="rId40" Type="http://schemas.openxmlformats.org/officeDocument/2006/relationships/font" Target="fonts/IBMPlexSans-regular.fntdata"/><Relationship Id="rId42" Type="http://schemas.openxmlformats.org/officeDocument/2006/relationships/font" Target="fonts/IBMPlexSans-italic.fntdata"/><Relationship Id="rId41" Type="http://schemas.openxmlformats.org/officeDocument/2006/relationships/font" Target="fonts/IBMPlexSans-bold.fntdata"/><Relationship Id="rId44" Type="http://customschemas.google.com/relationships/presentationmetadata" Target="metadata"/><Relationship Id="rId43" Type="http://schemas.openxmlformats.org/officeDocument/2006/relationships/font" Target="fonts/IBMPlexSans-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29" Type="http://schemas.openxmlformats.org/officeDocument/2006/relationships/slide" Target="slides/slide25.xml"/><Relationship Id="rId31" Type="http://schemas.openxmlformats.org/officeDocument/2006/relationships/slide" Target="slides/slide27.xml"/><Relationship Id="rId30" Type="http://schemas.openxmlformats.org/officeDocument/2006/relationships/slide" Target="slides/slide26.xml"/>  <Relationship Id="rId45" Type="http://schemas.openxmlformats.org/officeDocument/2006/relationships/slide" Target="slides/slide36.xml"/>
  <Relationship Id="rId46" Type="http://schemas.openxmlformats.org/officeDocument/2006/relationships/slide" Target="slides/slide37.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1" name="Google Shape;1141;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b="0" i="0" lang="en-US" sz="1200" u="none" cap="none" strike="noStrike">
                <a:solidFill>
                  <a:schemeClr val="dk1"/>
                </a:solidFill>
                <a:latin typeface="IBM Plex Sans"/>
                <a:ea typeface="IBM Plex Sans"/>
                <a:cs typeface="IBM Plex Sans"/>
                <a:sym typeface="IBM Plex Sans"/>
              </a:rPr>
              <a:t>[9:23–9:57]  SPOKEN SCRIPT (55 words)</a:t>
            </a:r>
          </a:p>
          <a:p>
            <a:r>
              <a:rPr b="0" i="0" lang="en-US" sz="1200" u="none" cap="none" strike="noStrike">
                <a:solidFill>
                  <a:schemeClr val="dk1"/>
                </a:solidFill>
                <a:latin typeface="IBM Plex Sans"/>
                <a:ea typeface="IBM Plex Sans"/>
                <a:cs typeface="IBM Plex Sans"/>
                <a:sym typeface="IBM Plex Sans"/>
              </a:rPr>
              <a:t>Fewer errors. But is anything lost? On average RIGOR covers ninety-three percent of the database columns, as much as direct mapping. Non-Iterative, with the same retrieved context but no seed, covers a third, and swings with the LLM, from six to seventy-eight percent. With RIGOR, every LLM keeps at least seventy-seven percent, in every database. [pause]</a:t>
            </a:r>
          </a:p>
          <a:p/>
          <a:p>
            <a:r>
              <a:rPr b="0" i="0" lang="en-US" sz="1200" u="none" cap="none" strike="noStrike">
                <a:solidFill>
                  <a:schemeClr val="dk1"/>
                </a:solidFill>
                <a:latin typeface="IBM Plex Sans"/>
                <a:ea typeface="IBM Plex Sans"/>
                <a:cs typeface="IBM Plex Sans"/>
                <a:sym typeface="IBM Plex Sans"/>
              </a:rPr>
              <a:t>PRESENTER / POINTER: RIGOR's average next to Direct Mapping's; then the red Non-Iterative row.</a:t>
            </a:r>
          </a:p>
          <a:p>
            <a:r>
              <a:rPr b="0" i="0" lang="en-US" sz="1200" u="none" cap="none" strike="noStrike">
                <a:solidFill>
                  <a:schemeClr val="dk1"/>
                </a:solidFill>
                <a:latin typeface="IBM Plex Sans"/>
                <a:ea typeface="IBM Plex Sans"/>
                <a:cs typeface="IBM Plex Sans"/>
                <a:sym typeface="IBM Plex Sans"/>
              </a:rPr>
              <a:t>AUDIENCE TAKEAWAY: RIGOR keeps the schema as well as Direct Mapping, with every LLM.</a:t>
            </a:r>
          </a:p>
          <a:p>
            <a:r>
              <a:rPr b="0" i="0" lang="en-US" sz="1200" u="none" cap="none" strike="noStrike">
                <a:solidFill>
                  <a:schemeClr val="dk1"/>
                </a:solidFill>
                <a:latin typeface="IBM Plex Sans"/>
                <a:ea typeface="IBM Plex Sans"/>
                <a:cs typeface="IBM Plex Sans"/>
                <a:sym typeface="IBM Plex Sans"/>
              </a:rPr>
              <a:t>SOURCE AND SCOPE: Paper Table 9 (column coverage per run; embedding similarity &gt;= 0.55).</a:t>
            </a:r>
          </a:p>
          <a:p>
            <a:r>
              <a:rPr b="0" i="0" lang="en-US" sz="1200" u="none" cap="none" strike="noStrike">
                <a:solidFill>
                  <a:schemeClr val="dk1"/>
                </a:solidFill>
                <a:latin typeface="IBM Plex Sans"/>
                <a:ea typeface="IBM Plex Sans"/>
                <a:cs typeface="IBM Plex Sans"/>
                <a:sym typeface="IBM Plex Sans"/>
              </a:rPr>
              <a:t>IF RUNNING LATE, DROP: "and swings with the LLM, from six to seventy-eight percent"</a:t>
            </a:r>
          </a:p>
          <a:p/>
          <a:p>
            <a:r>
              <a:rPr b="0" i="0" lang="en-US" sz="1200" u="none" cap="none" strike="noStrike">
                <a:solidFill>
                  <a:schemeClr val="dk1"/>
                </a:solidFill>
                <a:latin typeface="IBM Plex Sans"/>
                <a:ea typeface="IBM Plex Sans"/>
                <a:cs typeface="IBM Plex Sans"/>
                <a:sym typeface="IBM Plex Sans"/>
              </a:rPr>
              <a:t>IF ASKED WHY NON-ITERATIVE DROPS BUT THE BASELINE DOES NOT: the baseline only translates the table, so it keeps column names but adds no meaning. Non-Iterative does everything in one pass with a lot of retrieved context and silently drops properties (e.g. 6 data properties for 350 Liver Cancer columns with Mistral, Table 8); nothing checks coverage. RIGOR starts from a seed with every column, works one table at a time, and its judge rejects fragments that drop a column.</a:t>
            </a:r>
          </a:p>
          <a:p/>
          <a:p>
            <a:r>
              <a:rPr b="0" i="0" lang="en-US" sz="1200" u="none" cap="none" strike="noStrike">
                <a:solidFill>
                  <a:schemeClr val="dk1"/>
                </a:solidFill>
                <a:latin typeface="IBM Plex Sans"/>
                <a:ea typeface="IBM Plex Sans"/>
                <a:cs typeface="IBM Plex Sans"/>
                <a:sym typeface="IBM Plex Sans"/>
              </a:rPr>
              <a:t>IF ASKED ABOUT MODEL SIZE AND COST: with RIGOR, Mistral Small 24B reaches 98% coverage (Claude 95%) for about $0.12 across the three databases, against about $33 with Claude (Tables 9, 15).</a:t>
            </a:r>
          </a:p>
        </p:txBody>
      </p:sp>
      <p:sp>
        <p:nvSpPr>
          <p:cNvPr id="1142" name="Google Shape;1142;p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8" name="Shape 1198"/>
        <p:cNvGrpSpPr/>
        <p:nvPr/>
      </p:nvGrpSpPr>
      <p:grpSpPr>
        <a:xfrm>
          <a:off x="0" y="0"/>
          <a:ext cx="0" cy="0"/>
          <a:chOff x="0" y="0"/>
          <a:chExt cx="0" cy="0"/>
        </a:xfrm>
      </p:grpSpPr>
      <p:sp>
        <p:nvSpPr>
          <p:cNvPr id="1199" name="Google Shape;119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0" name="Google Shape;1200;p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b="0" i="0" lang="en-US" sz="1200" u="none" cap="none" strike="noStrike">
                <a:solidFill>
                  <a:schemeClr val="dk1"/>
                </a:solidFill>
                <a:latin typeface="IBM Plex Sans"/>
                <a:ea typeface="IBM Plex Sans"/>
                <a:cs typeface="IBM Plex Sans"/>
                <a:sym typeface="IBM Plex Sans"/>
              </a:rPr>
              <a:t>[10:21–11:07]  SPOKEN SCRIPT (81 words)</a:t>
            </a:r>
          </a:p>
          <a:p>
            <a:r>
              <a:rPr b="0" i="0" lang="en-US" sz="1200" u="none" cap="none" strike="noStrike">
                <a:solidFill>
                  <a:schemeClr val="dk1"/>
                </a:solidFill>
                <a:latin typeface="IBM Plex Sans"/>
                <a:ea typeface="IBM Plex Sans"/>
                <a:cs typeface="IBM Plex Sans"/>
                <a:sym typeface="IBM Plex Sans"/>
              </a:rPr>
              <a:t>Meaning is added. But is the link back to the data still correct? BURR, an external benchmark, checks exactly this: every class, relation and attribute must map back to the right table, foreign key or column, scored with F1 against a gold mapping. On BURR's ISWC scenario, RIGOR has the highest F1 on all three, ahead of rule-based and LLM-based systems. Relations stand out: zero point six seven against zero point one one, because foreign keys become named relations, like hasPatientData.</a:t>
            </a:r>
          </a:p>
          <a:p/>
          <a:p>
            <a:r>
              <a:rPr b="0" i="0" lang="en-US" sz="1200" u="none" cap="none" strike="noStrike">
                <a:solidFill>
                  <a:schemeClr val="dk1"/>
                </a:solidFill>
                <a:latin typeface="IBM Plex Sans"/>
                <a:ea typeface="IBM Plex Sans"/>
                <a:cs typeface="IBM Plex Sans"/>
                <a:sym typeface="IBM Plex Sans"/>
              </a:rPr>
              <a:t>PRESENTER / POINTER: Left card first, then land on the RIGOR row.</a:t>
            </a:r>
          </a:p>
          <a:p>
            <a:r>
              <a:rPr b="0" i="0" lang="en-US" sz="1200" u="none" cap="none" strike="noStrike">
                <a:solidFill>
                  <a:schemeClr val="dk1"/>
                </a:solidFill>
                <a:latin typeface="IBM Plex Sans"/>
                <a:ea typeface="IBM Plex Sans"/>
                <a:cs typeface="IBM Plex Sans"/>
                <a:sym typeface="IBM Plex Sans"/>
              </a:rPr>
              <a:t>AUDIENCE TAKEAWAY: Semantic enrichment did not break the correspondence that OBDA and KG population need.</a:t>
            </a:r>
          </a:p>
          <a:p>
            <a:r>
              <a:rPr b="0" i="0" lang="en-US" sz="1200" u="none" cap="none" strike="noStrike">
                <a:solidFill>
                  <a:schemeClr val="dk1"/>
                </a:solidFill>
                <a:latin typeface="IBM Plex Sans"/>
                <a:ea typeface="IBM Plex Sans"/>
                <a:cs typeface="IBM Plex Sans"/>
                <a:sym typeface="IBM Plex Sans"/>
              </a:rPr>
              <a:t>SOURCE AND SCOPE: Paper Table 13. BURR = Laskowski et al., PACMMOD 2025; matching rule from BURR Section 4, Eq. 3. Left-card element names are illustrative.</a:t>
            </a:r>
          </a:p>
          <a:p>
            <a:r>
              <a:rPr b="0" i="0" lang="en-US" sz="1200" u="none" cap="none" strike="noStrike">
                <a:solidFill>
                  <a:schemeClr val="dk1"/>
                </a:solidFill>
                <a:latin typeface="IBM Plex Sans"/>
                <a:ea typeface="IBM Plex Sans"/>
                <a:cs typeface="IBM Plex Sans"/>
                <a:sym typeface="IBM Plex Sans"/>
              </a:rPr>
              <a:t>IF RUNNING LATE, DROP: "scored with F1 against a gold mapping"</a:t>
            </a:r>
          </a:p>
          <a:p/>
          <a:p>
            <a:r>
              <a:rPr b="0" i="0" lang="en-US" sz="1200" u="none" cap="none" strike="noStrike">
                <a:solidFill>
                  <a:schemeClr val="dk1"/>
                </a:solidFill>
                <a:latin typeface="IBM Plex Sans"/>
                <a:ea typeface="IBM Plex Sans"/>
                <a:cs typeface="IBM Plex Sans"/>
                <a:sym typeface="IBM Plex Sans"/>
              </a:rPr>
              <a:t>DO NOT SAY: 'BURR found LLMs trail rule-based systems'. BURR's results show Gemini 2.5 Pro ahead of the rule-based systems overall (rule-based systems win only on NPD).</a:t>
            </a:r>
          </a:p>
          <a:p/>
          <a:p>
            <a:r>
              <a:rPr b="0" i="0" lang="en-US" sz="1200" u="none" cap="none" strike="noStrike">
                <a:solidFill>
                  <a:schemeClr val="dk1"/>
                </a:solidFill>
                <a:latin typeface="IBM Plex Sans"/>
                <a:ea typeface="IBM Plex Sans"/>
                <a:cs typeface="IBM Plex Sans"/>
                <a:sym typeface="IBM Plex Sans"/>
              </a:rPr>
              <a:t>IF ASKED ABOUT GEMINI 2.5 PRO (BURR Table 3, ISWC .65 / .68 / .56): in BURR it is a general-purpose LLM prompted with few-shot examples and a checklist to write the D2RQ mapping directly. It is a mapping generator, not an ontology-learning system that builds an enriched ontology, so we compare with ontology-learning systems. Against it, RIGOR's class F1 is higher, relations are on par, attributes lower, and RIGOR also produces labels, hierarchy and provenance. It is prompted, not fine-tuned.</a:t>
            </a:r>
          </a:p>
        </p:txBody>
      </p:sp>
      <p:sp>
        <p:nvSpPr>
          <p:cNvPr id="1201" name="Google Shape;1201;p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3" name="Google Shape;1253;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[11:07–12:00]  SPOKEN SCRIPT (86 words)</a:t>
            </a:r>
          </a:p>
          <a:p>
            <a:r>
              <a:rPr lang="en-US" sz="1200">
                <a:solidFill>
                  <a:schemeClr val="dk1"/>
                </a:solidFill>
                <a:latin typeface="Calibri"/>
                <a:ea typeface="Calibri"/>
                <a:cs typeface="Calibri"/>
                <a:sym typeface="Calibri"/>
              </a:rPr>
              <a:t>Automatic checks agree. Do evaluators agree? For each table, an LLM judge and ten ontology experts saw the schema, five competency questions, the questions the ontology must answer, and four anonymized ontologies. They scored each on seven quality dimensions and ranked them first to fourth. The LLM judge ranked RIGOR first every time. [pause] The experts ranked RIGOR first seventy percent of the time, with the highest average score. [pause] Direct mapping gives structure without meaning. LLMs alone give meaning without structure. RIGOR gives both, and checks them.</a:t>
            </a:r>
          </a:p>
          <a:p/>
          <a:p>
            <a:r>
              <a:rPr lang="en-US" sz="1200">
                <a:solidFill>
                  <a:schemeClr val="dk1"/>
                </a:solidFill>
                <a:latin typeface="Calibri"/>
                <a:ea typeface="Calibri"/>
                <a:cs typeface="Calibri"/>
                <a:sym typeface="Calibri"/>
              </a:rPr>
              <a:t>PRESENTER / POINTER: The 'How they judged' box in one breath; then the two claims; then the closing strip.</a:t>
            </a:r>
          </a:p>
          <a:p>
            <a:r>
              <a:rPr lang="en-US" sz="1200">
                <a:solidFill>
                  <a:schemeClr val="dk1"/>
                </a:solidFill>
                <a:latin typeface="Calibri"/>
                <a:ea typeface="Calibri"/>
                <a:cs typeface="Calibri"/>
                <a:sym typeface="Calibri"/>
              </a:rPr>
              <a:t>AUDIENCE TAKEAWAY: Judged blind against competency questions, an LLM judge and human experts both rank RIGOR first.</a:t>
            </a:r>
          </a:p>
          <a:p>
            <a:r>
              <a:rPr lang="en-US" sz="1200">
                <a:solidFill>
                  <a:schemeClr val="dk1"/>
                </a:solidFill>
                <a:latin typeface="Calibri"/>
                <a:ea typeface="Calibri"/>
                <a:cs typeface="Calibri"/>
                <a:sym typeface="Calibri"/>
              </a:rPr>
              <a:t>SOURCE AND SCOPE: Paper Sec. 4.2 and 4.6 (5 expert-verified CQs per table, 7 dimensions, ranking), Table 1 (judge scores and first places: 58 of 58 tables), Table 11 (expert scores), Table 12 (Kendall's W 0.39-0.72). Judge evaluated the Claude ontologies; experts 4 medical tables, 28 of 40 first places.</a:t>
            </a:r>
          </a:p>
          <a:p>
            <a:r>
              <a:rPr lang="en-US" sz="1200">
                <a:solidFill>
                  <a:schemeClr val="dk1"/>
                </a:solidFill>
                <a:latin typeface="Calibri"/>
                <a:ea typeface="Calibri"/>
                <a:cs typeface="Calibri"/>
                <a:sym typeface="Calibri"/>
              </a:rPr>
              <a:t>IF RUNNING LATE, DROP: "with the highest average score"</a:t>
            </a:r>
          </a:p>
          <a:p/>
          <a:p>
            <a:r>
              <a:rPr lang="en-US" sz="1200">
                <a:solidFill>
                  <a:schemeClr val="dk1"/>
                </a:solidFill>
                <a:latin typeface="Calibri"/>
                <a:ea typeface="Calibri"/>
                <a:cs typeface="Calibri"/>
                <a:sym typeface="Calibri"/>
              </a:rPr>
              <a:t>IF ASKED HOW MANY: the judge ranked RIGOR first on 58 of 58 tables (16 Liver Cancer, 31 eICU-CRD, 11 Chinook); the experts in 28 of 40 rankings (10 experts x 4 tables).</a:t>
            </a:r>
          </a:p>
        </p:txBody>
      </p:sp>
      <p:sp>
        <p:nvSpPr>
          <p:cNvPr id="1254" name="Google Shape;1254;p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[8:45–9:23]  SPOKEN SCRIPT (63 words)</a:t>
            </a:r>
          </a:p>
          <a:p>
            <a:r>
              <a:rPr lang="en-US" sz="1200">
                <a:solidFill>
                  <a:schemeClr val="dk1"/>
                </a:solidFill>
                <a:latin typeface="Calibri"/>
                <a:ea typeface="Calibri"/>
                <a:cs typeface="Calibri"/>
                <a:sym typeface="Calibri"/>
              </a:rPr>
              <a:t>We climb from the easiest check to the hardest. First, the basics: all thirty ontologies are valid OWL and logically consistent, for every method. Modeling errors are another story: direct mapping averages about five hundred per ontology, RIGOR eight. Look at this column: same model, same database. The small Mistral model on eICU makes two hundred twenty errors without RIGOR, two with it. [pause]</a:t>
            </a:r>
          </a:p>
          <a:p/>
          <a:p>
            <a:r>
              <a:rPr lang="en-US" sz="1200">
                <a:solidFill>
                  <a:schemeClr val="dk1"/>
                </a:solidFill>
                <a:latin typeface="Calibri"/>
                <a:ea typeface="Calibri"/>
                <a:cs typeface="Calibri"/>
                <a:sym typeface="Calibri"/>
              </a:rPr>
              <a:t>PRESENTER / POINTER: One breath for validity; then the averages; then point at the Mistral eICU column.</a:t>
            </a:r>
          </a:p>
          <a:p>
            <a:r>
              <a:rPr lang="en-US" sz="1200">
                <a:solidFill>
                  <a:schemeClr val="dk1"/>
                </a:solidFill>
                <a:latin typeface="Calibri"/>
                <a:ea typeface="Calibri"/>
                <a:cs typeface="Calibri"/>
                <a:sym typeface="Calibri"/>
              </a:rPr>
              <a:t>AUDIENCE TAKEAWAY: Every ontology is valid; RIGOR's have far fewer modeling errors, with every LLM.</a:t>
            </a:r>
          </a:p>
          <a:p>
            <a:r>
              <a:rPr lang="en-US" sz="1200">
                <a:solidFill>
                  <a:schemeClr val="dk1"/>
                </a:solidFill>
                <a:latin typeface="Calibri"/>
                <a:ea typeface="Calibri"/>
                <a:cs typeface="Calibri"/>
                <a:sym typeface="Calibri"/>
              </a:rPr>
              <a:t>SOURCE AND SCOPE: Paper Sec. 4.7 (RDFLib, HermiT) and Table 7 (OOPS! totals per run). 72% of the other methods' pitfalls are P08, missing annotations.</a:t>
            </a:r>
          </a:p>
          <a:p>
            <a:r>
              <a:rPr lang="en-US" sz="1200">
                <a:solidFill>
                  <a:schemeClr val="dk1"/>
                </a:solidFill>
                <a:latin typeface="Calibri"/>
                <a:ea typeface="Calibri"/>
                <a:cs typeface="Calibri"/>
                <a:sym typeface="Calibri"/>
              </a:rPr>
              <a:t>IF RUNNING LATE, DROP: "for every method"</a:t>
            </a:r>
          </a:p>
          <a:p/>
          <a:p>
            <a:r>
              <a:rPr lang="en-US" sz="1200">
                <a:solidFill>
                  <a:schemeClr val="dk1"/>
                </a:solidFill>
                <a:latin typeface="Calibri"/>
                <a:ea typeface="Calibri"/>
                <a:cs typeface="Calibri"/>
                <a:sym typeface="Calibri"/>
              </a:rPr>
              <a:t>IF ASKED ABOUT CRITICAL ERRORS: P19 (multiple domains or ranges) is the only pitfall OOPS! rates critical, and it is the second-domain error from the validation slide. Per ontology: Direct Mapping 15, LLM baseline 17, Non-Iterative 5.4, RIGOR 2.8; zero in 6 of RIGOR's 9 ontologies (Table 7). RIGOR's prompt allows one domain and one range, and the graph check rejects a second.</a:t>
            </a:r>
          </a:p>
        </p:txBody>
      </p:sp>
      <p:sp>
        <p:nvSpPr>
          <p:cNvPr id="19" name="Google Shape;19;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[9:57–10:21]  SPOKEN SCRIPT (39 words)</a:t>
            </a:r>
          </a:p>
          <a:p>
            <a:r>
              <a:rPr lang="en-US" sz="1200">
                <a:solidFill>
                  <a:schemeClr val="dk1"/>
                </a:solidFill>
                <a:latin typeface="Calibri"/>
                <a:ea typeface="Calibri"/>
                <a:cs typeface="Calibri"/>
                <a:sym typeface="Calibri"/>
              </a:rPr>
              <a:t>Nothing is lost. Is meaning added? Direct mapping and the LLM baseline add none, in any run. Non-Iterative RAG adds labels, but no provenance and no class hierarchy. Only RIGOR adds all three, with every LLM, in every database. [pause]</a:t>
            </a:r>
          </a:p>
          <a:p/>
          <a:p>
            <a:r>
              <a:rPr lang="en-US" sz="1200">
                <a:solidFill>
                  <a:schemeClr val="dk1"/>
                </a:solidFill>
                <a:latin typeface="Calibri"/>
                <a:ea typeface="Calibri"/>
                <a:cs typeface="Calibri"/>
                <a:sym typeface="Calibri"/>
              </a:rPr>
              <a:t>PRESENTER / POINTER: Point at the red block first, then the three RIGOR rows.</a:t>
            </a:r>
          </a:p>
          <a:p>
            <a:r>
              <a:rPr lang="en-US" sz="1200">
                <a:solidFill>
                  <a:schemeClr val="dk1"/>
                </a:solidFill>
                <a:latin typeface="Calibri"/>
                <a:ea typeface="Calibri"/>
                <a:cs typeface="Calibri"/>
                <a:sym typeface="Calibri"/>
              </a:rPr>
              <a:t>AUDIENCE TAKEAWAY: Only RIGOR adds labels, provenance and a class hierarchy, with every LLM.</a:t>
            </a:r>
          </a:p>
          <a:p>
            <a:r>
              <a:rPr lang="en-US" sz="1200">
                <a:solidFill>
                  <a:schemeClr val="dk1"/>
                </a:solidFill>
                <a:latin typeface="Calibri"/>
                <a:ea typeface="Calibri"/>
                <a:cs typeface="Calibri"/>
                <a:sym typeface="Calibri"/>
              </a:rPr>
              <a:t>SOURCE AND SCOPE: Paper Table 8. Hierarchy as inheritance richness (subclass axioms per class; OntoQA, Tartir et al. 2005; OntoMetrics, Lantow 2016), computed from Table 8 counts. Shading is within each database.</a:t>
            </a:r>
          </a:p>
          <a:p>
            <a:r>
              <a:rPr lang="en-US" sz="1200">
                <a:solidFill>
                  <a:schemeClr val="dk1"/>
                </a:solidFill>
                <a:latin typeface="Calibri"/>
                <a:ea typeface="Calibri"/>
                <a:cs typeface="Calibri"/>
                <a:sym typeface="Calibri"/>
              </a:rPr>
              <a:t>IF RUNNING LATE, DROP: "Non-Iterative RAG adds labels, but no provenance and no class hierarchy."</a:t>
            </a:r>
          </a:p>
          <a:p/>
          <a:p>
            <a:r>
              <a:rPr lang="en-US" sz="1200">
                <a:solidFill>
                  <a:schemeClr val="dk1"/>
                </a:solidFill>
                <a:latin typeface="Calibri"/>
                <a:ea typeface="Calibri"/>
                <a:cs typeface="Calibri"/>
                <a:sym typeface="Calibri"/>
              </a:rPr>
              <a:t>IF ASKED 'DOES CHINOOK NEED SO MANY SUBCLASSES?': Count is not quality, so we report whether a hierarchy exists, and only RIGOR builds one. RIGOR's Chinook ontologies have zero OOPS! pitfalls and the judge ranks RIGOR first on all 11 Chinook tables; it does score RIGOR's conciseness lower there (2.59 vs 3.32 for the baseline, Table 10), so tighter hierarchies are future work.</a:t>
            </a:r>
          </a:p>
          <a:p/>
          <a:p>
            <a:r>
              <a:rPr lang="en-US" sz="1200">
                <a:solidFill>
                  <a:schemeClr val="dk1"/>
                </a:solidFill>
                <a:latin typeface="Calibri"/>
                <a:ea typeface="Calibri"/>
                <a:cs typeface="Calibri"/>
                <a:sym typeface="Calibri"/>
              </a:rPr>
              <a:t>DOMAIN PATTERN (notes only): inheritance richness is 0.10-0.70 on the clinical schemas and 2.1-4.1 on the music store; the LLM proposes more specializations in a familiar domain.</a:t>
            </a:r>
          </a:p>
        </p:txBody>
      </p:sp>
      <p:sp>
        <p:nvSpPr>
          <p:cNvPr id="19" name="Google Shape;19;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FFFFF"/>
        </a:solidFill>
      </p:bgPr>
    </p:bg>
    <p:spTree>
      <p:nvGrpSpPr>
        <p:cNvPr id="12" name="Shape 12"/>
        <p:cNvGrpSpPr/>
        <p:nvPr/>
      </p:nvGrpSpPr>
      <p:grpSpPr>
        <a:xfrm>
          <a:off x="0" y="0"/>
          <a:ext cx="0" cy="0"/>
          <a:chOff x="0" y="0"/>
          <a:chExt cx="0" cy="0"/>
        </a:xfrm>
      </p:grpSpPr>
      <p:sp>
        <p:nvSpPr>
          <p:cNvPr id="13" name="Google Shape;13;p25"/>
          <p:cNvSpPr txBox="1"/>
          <p:nvPr>
            <p:ph type="title"/>
          </p:nvPr>
        </p:nvSpPr>
        <p:spPr>
          <a:xfrm>
            <a:off x="812800" y="1153120"/>
            <a:ext cx="10566400" cy="39112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F2328"/>
              </a:buClr>
              <a:buSzPts val="2800"/>
              <a:buFont typeface="Calibri"/>
              <a:buNone/>
              <a:defRPr sz="2800">
                <a:solidFill>
                  <a:srgbClr val="1F232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5"/>
          <p:cNvSpPr txBox="1"/>
          <p:nvPr>
            <p:ph idx="1" type="body"/>
          </p:nvPr>
        </p:nvSpPr>
        <p:spPr>
          <a:xfrm>
            <a:off x="812800" y="1849041"/>
            <a:ext cx="10566400" cy="4196159"/>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F2328"/>
              </a:buClr>
              <a:buSzPts val="1600"/>
              <a:buNone/>
              <a:defRPr sz="1600">
                <a:solidFill>
                  <a:srgbClr val="1F2328"/>
                </a:solidFill>
                <a:latin typeface="Calibri"/>
                <a:ea typeface="Calibri"/>
                <a:cs typeface="Calibri"/>
                <a:sym typeface="Calibri"/>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812800" y="1153120"/>
            <a:ext cx="10566400" cy="39112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F2328"/>
              </a:buClr>
              <a:buSzPts val="2800"/>
              <a:buFont typeface="Calibri"/>
              <a:buNone/>
              <a:defRPr b="0" i="0" sz="2800" u="none" cap="none" strike="noStrike">
                <a:solidFill>
                  <a:srgbClr val="1F232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9pPr>
          </a:lstStyle>
          <a:p/>
        </p:txBody>
      </p:sp>
      <p:sp>
        <p:nvSpPr>
          <p:cNvPr id="11" name="Google Shape;11;p24"/>
          <p:cNvSpPr txBox="1"/>
          <p:nvPr>
            <p:ph idx="1" type="body"/>
          </p:nvPr>
        </p:nvSpPr>
        <p:spPr>
          <a:xfrm>
            <a:off x="812800" y="1849041"/>
            <a:ext cx="10566400" cy="4196159"/>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F2328"/>
              </a:buClr>
              <a:buSzPts val="1600"/>
              <a:buFont typeface="Calibri"/>
              <a:buNone/>
              <a:defRPr b="0" i="0" sz="1600" u="none" cap="none" strike="noStrike">
                <a:solidFill>
                  <a:srgbClr val="1F2328"/>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Calibri"/>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Notes"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Notes" Type="http://schemas.openxmlformats.org/officeDocument/2006/relationships/notesSlide" Target="../notesSlides/notesSlide37.xml"/></Relationships>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3" name="Shape 1143"/>
        <p:cNvGrpSpPr/>
        <p:nvPr/>
      </p:nvGrpSpPr>
      <p:grpSpPr>
        <a:xfrm>
          <a:off x="0" y="0"/>
          <a:ext cx="0" cy="0"/>
          <a:chOff x="0" y="0"/>
          <a:chExt cx="0" cy="0"/>
        </a:xfrm>
      </p:grpSpPr>
      <p:sp>
        <p:nvSpPr>
          <p:cNvPr id="1144" name="Google Shape;1144;p20"/>
          <p:cNvSpPr txBox="1"/>
          <p:nvPr/>
        </p:nvSpPr>
        <p:spPr>
          <a:xfrm>
            <a:off x="804672" y="512064"/>
            <a:ext cx="10753344"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onsolas"/>
                <a:ea typeface="Consolas"/>
                <a:cs typeface="Consolas"/>
                <a:sym typeface="Consolas"/>
              </a:rPr>
              <a:t>RESULT 2  /  NOTHING IS LOST</a:t>
            </a:r>
            <a:endParaRPr/>
          </a:p>
        </p:txBody>
      </p:sp>
      <p:sp>
        <p:nvSpPr>
          <p:cNvPr id="1145" name="Google Shape;1145;p20"/>
          <p:cNvSpPr txBox="1"/>
          <p:nvPr/>
        </p:nvSpPr>
        <p:spPr>
          <a:xfrm>
            <a:off x="804672" y="914400"/>
            <a:ext cx="10762488" cy="667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1F2328"/>
                </a:solidFill>
                <a:latin typeface="Cambria"/>
                <a:ea typeface="Cambria"/>
                <a:cs typeface="Cambria"/>
                <a:sym typeface="Cambria"/>
              </a:rPr>
              <a:t>Nothing is lost: RIGOR keeps the schema.</a:t>
            </a:r>
            <a:endParaRPr/>
          </a:p>
        </p:txBody>
      </p:sp>
      <p:sp>
        <p:nvSpPr>
          <p:cNvPr id="1146" name="Subtitle"/>
          <p:cNvSpPr txBox="1"/>
          <p:nvPr/>
        </p:nvSpPr>
        <p:spPr>
          <a:xfrm>
            <a:off x="822960" y="1645920"/>
            <a:ext cx="10680192" cy="329184"/>
          </a:xfrm>
          <a:prstGeom prst="rect">
            <a:avLst/>
          </a:prstGeom>
          <a:noFill/>
          <a:ln>
            <a:noFill/>
          </a:ln>
        </p:spPr>
        <p:txBody>
          <a:bodyPr wrap="square" lIns="0" tIns="0" rIns="0" bIns="0" anchor="t">
            <a:noAutofit/>
          </a:bodyPr>
          <a:lstStyle/>
          <a:p>
            <a:pPr algn="l"/>
            <a:r>
              <a:rPr lang="en-US" sz="1600" b="0" i="0" dirty="0">
                <a:solidFill>
                  <a:srgbClr val="3A434C"/>
                </a:solidFill>
                <a:latin typeface="Calibri"/>
                <a:cs typeface="Calibri"/>
              </a:rPr>
              <a:t xml:space="preserve">Share of database columns covered, for every LLM and database.</a:t>
            </a:r>
          </a:p>
        </p:txBody>
      </p:sp>
      <p:sp>
        <p:nvSpPr>
          <p:cNvPr id="1147" name="Ladder"/>
          <p:cNvSpPr/>
          <p:nvPr/>
        </p:nvSpPr>
        <p:spPr>
          <a:xfrm>
            <a:off x="804672" y="2103120"/>
            <a:ext cx="2042769" cy="310896"/>
          </a:xfrm>
          <a:prstGeom prst="rect">
            <a:avLst/>
          </a:prstGeom>
          <a:solidFill>
            <a:srgbClr val="E8F6EF"/>
          </a:solidFill>
          <a:ln>
            <a:noFill/>
          </a:ln>
        </p:spPr>
        <p:txBody>
          <a:bodyPr wrap="square" lIns="0" tIns="0" rIns="0" bIns="0" anchor="ctr">
            <a:noAutofit/>
          </a:bodyPr>
          <a:lstStyle/>
          <a:p>
            <a:pPr algn="ctr"/>
            <a:r>
              <a:rPr lang="en-US" sz="1000" b="1" i="0" dirty="0">
                <a:solidFill>
                  <a:srgbClr val="0B6E4F"/>
                </a:solidFill>
                <a:latin typeface="Consolas"/>
                <a:cs typeface="Consolas"/>
              </a:rPr>
              <a:t xml:space="preserve">1  VALID, FEWER ERRORS</a:t>
            </a:r>
          </a:p>
        </p:txBody>
      </p:sp>
      <p:sp>
        <p:nvSpPr>
          <p:cNvPr id="1148" name="Ladder"/>
          <p:cNvSpPr/>
          <p:nvPr/>
        </p:nvSpPr>
        <p:spPr>
          <a:xfrm>
            <a:off x="2938881" y="2103120"/>
            <a:ext cx="2042769" cy="310896"/>
          </a:xfrm>
          <a:prstGeom prst="rect">
            <a:avLst/>
          </a:prstGeom>
          <a:solidFill>
            <a:srgbClr val="0B6E4F"/>
          </a:solidFill>
          <a:ln>
            <a:noFill/>
          </a:ln>
        </p:spPr>
        <p:txBody>
          <a:bodyPr wrap="square" lIns="0" tIns="0" rIns="0" bIns="0" anchor="ctr">
            <a:noAutofit/>
          </a:bodyPr>
          <a:lstStyle/>
          <a:p>
            <a:pPr algn="ctr"/>
            <a:r>
              <a:rPr lang="en-US" sz="1000" b="1" i="0" dirty="0">
                <a:solidFill>
                  <a:srgbClr val="FFFFFF"/>
                </a:solidFill>
                <a:latin typeface="Consolas"/>
                <a:cs typeface="Consolas"/>
              </a:rPr>
              <a:t xml:space="preserve">2  KEEPS THE SCHEMA</a:t>
            </a:r>
          </a:p>
        </p:txBody>
      </p:sp>
      <p:sp>
        <p:nvSpPr>
          <p:cNvPr id="1149" name="Ladder"/>
          <p:cNvSpPr/>
          <p:nvPr/>
        </p:nvSpPr>
        <p:spPr>
          <a:xfrm>
            <a:off x="5073091" y="2103120"/>
            <a:ext cx="2042769" cy="310896"/>
          </a:xfrm>
          <a:prstGeom prst="rect">
            <a:avLst/>
          </a:prstGeom>
          <a:solidFill>
            <a:srgbClr val="FFFFFF"/>
          </a:solidFill>
          <a:ln w="9525">
            <a:solidFill>
              <a:srgbClr val="D9DEDB"/>
            </a:solidFill>
          </a:ln>
        </p:spPr>
        <p:txBody>
          <a:bodyPr wrap="square" lIns="0" tIns="0" rIns="0" bIns="0" anchor="ctr">
            <a:noAutofit/>
          </a:bodyPr>
          <a:lstStyle/>
          <a:p>
            <a:pPr algn="ctr"/>
            <a:r>
              <a:rPr lang="en-US" sz="1000" b="1" i="0" dirty="0">
                <a:solidFill>
                  <a:srgbClr val="6B747B"/>
                </a:solidFill>
                <a:latin typeface="Consolas"/>
                <a:cs typeface="Consolas"/>
              </a:rPr>
              <a:t xml:space="preserve">3  ADDS MEANING</a:t>
            </a:r>
          </a:p>
        </p:txBody>
      </p:sp>
      <p:sp>
        <p:nvSpPr>
          <p:cNvPr id="1150" name="Ladder"/>
          <p:cNvSpPr/>
          <p:nvPr/>
        </p:nvSpPr>
        <p:spPr>
          <a:xfrm>
            <a:off x="7207300" y="2103120"/>
            <a:ext cx="2042769" cy="310896"/>
          </a:xfrm>
          <a:prstGeom prst="rect">
            <a:avLst/>
          </a:prstGeom>
          <a:solidFill>
            <a:srgbClr val="FFFFFF"/>
          </a:solidFill>
          <a:ln w="9525">
            <a:solidFill>
              <a:srgbClr val="D9DEDB"/>
            </a:solidFill>
          </a:ln>
        </p:spPr>
        <p:txBody>
          <a:bodyPr wrap="square" lIns="0" tIns="0" rIns="0" bIns="0" anchor="ctr">
            <a:noAutofit/>
          </a:bodyPr>
          <a:lstStyle/>
          <a:p>
            <a:pPr algn="ctr"/>
            <a:r>
              <a:rPr lang="en-US" sz="1000" b="1" i="0" dirty="0">
                <a:solidFill>
                  <a:srgbClr val="6B747B"/>
                </a:solidFill>
                <a:latin typeface="Consolas"/>
                <a:cs typeface="Consolas"/>
              </a:rPr>
              <a:t xml:space="preserve">4  GOLD MAPPINGS</a:t>
            </a:r>
          </a:p>
        </p:txBody>
      </p:sp>
      <p:sp>
        <p:nvSpPr>
          <p:cNvPr id="1151" name="Ladder"/>
          <p:cNvSpPr/>
          <p:nvPr/>
        </p:nvSpPr>
        <p:spPr>
          <a:xfrm>
            <a:off x="9341510" y="2103120"/>
            <a:ext cx="2042769" cy="310896"/>
          </a:xfrm>
          <a:prstGeom prst="rect">
            <a:avLst/>
          </a:prstGeom>
          <a:solidFill>
            <a:srgbClr val="FFFFFF"/>
          </a:solidFill>
          <a:ln w="9525">
            <a:solidFill>
              <a:srgbClr val="D9DEDB"/>
            </a:solidFill>
          </a:ln>
        </p:spPr>
        <p:txBody>
          <a:bodyPr wrap="square" lIns="0" tIns="0" rIns="0" bIns="0" anchor="ctr">
            <a:noAutofit/>
          </a:bodyPr>
          <a:lstStyle/>
          <a:p>
            <a:pPr algn="ctr"/>
            <a:r>
              <a:rPr lang="en-US" sz="1000" b="1" i="0" dirty="0">
                <a:solidFill>
                  <a:srgbClr val="6B747B"/>
                </a:solidFill>
                <a:latin typeface="Consolas"/>
                <a:cs typeface="Consolas"/>
              </a:rPr>
              <a:t xml:space="preserve">5  JUDGES</a:t>
            </a:r>
          </a:p>
        </p:txBody>
      </p:sp>
      <p:sp>
        <p:nvSpPr>
          <p:cNvPr id="1152" name="Card"/>
          <p:cNvSpPr/>
          <p:nvPr/>
        </p:nvSpPr>
        <p:spPr>
          <a:xfrm>
            <a:off x="804672" y="2606040"/>
            <a:ext cx="10579608" cy="3154680"/>
          </a:xfrm>
          <a:prstGeom prst="roundRect">
            <a:avLst>
              <a:gd name="adj" fmla="val 12000"/>
            </a:avLst>
          </a:prstGeom>
          <a:solidFill>
            <a:srgbClr val="FFFFFF"/>
          </a:solidFill>
          <a:ln w="9525">
            <a:solidFill>
              <a:srgbClr val="D9DEDB"/>
            </a:solidFill>
          </a:ln>
        </p:spPr>
        <p:txBody>
          <a:bodyPr wrap="square" lIns="0" tIns="0" rIns="0" bIns="0" anchor="t">
            <a:noAutofit/>
          </a:bodyPr>
          <a:lstStyle/>
          <a:p>
            <a:pPr algn="l"/>
          </a:p>
        </p:txBody>
      </p:sp>
      <p:sp>
        <p:nvSpPr>
          <p:cNvPr id="1153" name="Card label"/>
          <p:cNvSpPr txBox="1"/>
          <p:nvPr/>
        </p:nvSpPr>
        <p:spPr>
          <a:xfrm>
            <a:off x="1078992" y="2788920"/>
            <a:ext cx="10030968" cy="274320"/>
          </a:xfrm>
          <a:prstGeom prst="rect">
            <a:avLst/>
          </a:prstGeom>
          <a:noFill/>
          <a:ln>
            <a:noFill/>
          </a:ln>
        </p:spPr>
        <p:txBody>
          <a:bodyPr wrap="square" lIns="0" tIns="0" rIns="0" bIns="0" anchor="t">
            <a:noAutofit/>
          </a:bodyPr>
          <a:lstStyle/>
          <a:p>
            <a:pPr algn="l"/>
            <a:r>
              <a:rPr lang="en-US" sz="1300" b="1" i="0" dirty="0">
                <a:solidFill>
                  <a:srgbClr val="2F6B78"/>
                </a:solidFill>
                <a:latin typeface="Consolas"/>
                <a:cs typeface="Consolas"/>
              </a:rPr>
              <a:t xml:space="preserve">KEEPS THE SCHEMA</a:t>
            </a:r>
          </a:p>
        </p:txBody>
      </p:sp>
      <p:sp>
        <p:nvSpPr>
          <p:cNvPr id="1154" name="Card note"/>
          <p:cNvSpPr txBox="1"/>
          <p:nvPr/>
        </p:nvSpPr>
        <p:spPr>
          <a:xfrm>
            <a:off x="1078992" y="3081528"/>
            <a:ext cx="10030968" cy="237744"/>
          </a:xfrm>
          <a:prstGeom prst="rect">
            <a:avLst/>
          </a:prstGeom>
          <a:noFill/>
          <a:ln>
            <a:noFill/>
          </a:ln>
        </p:spPr>
        <p:txBody>
          <a:bodyPr wrap="square" lIns="0" tIns="0" rIns="0" bIns="0" anchor="t">
            <a:noAutofit/>
          </a:bodyPr>
          <a:lstStyle/>
          <a:p>
            <a:pPr algn="l"/>
            <a:r>
              <a:rPr lang="en-US" sz="1150" b="0" i="1" dirty="0">
                <a:solidFill>
                  <a:srgbClr val="5B6770"/>
                </a:solidFill>
                <a:latin typeface="Calibri"/>
                <a:cs typeface="Calibri"/>
              </a:rPr>
              <a:t xml:space="preserve">columns covered, per ontology (%)</a:t>
            </a:r>
          </a:p>
        </p:txBody>
      </p:sp>
      <p:sp>
        <p:nvSpPr>
          <p:cNvPr id="1155" name="Database"/>
          <p:cNvSpPr txBox="1"/>
          <p:nvPr/>
        </p:nvSpPr>
        <p:spPr>
          <a:xfrm>
            <a:off x="2679191" y="3383280"/>
            <a:ext cx="2523744" cy="219456"/>
          </a:xfrm>
          <a:prstGeom prst="rect">
            <a:avLst/>
          </a:prstGeom>
          <a:noFill/>
          <a:ln>
            <a:noFill/>
          </a:ln>
        </p:spPr>
        <p:txBody>
          <a:bodyPr wrap="square" lIns="0" tIns="0" rIns="0" bIns="0" anchor="ctr">
            <a:noAutofit/>
          </a:bodyPr>
          <a:lstStyle/>
          <a:p>
            <a:pPr algn="ctr"/>
            <a:r>
              <a:rPr lang="en-US" sz="1100" b="1" i="0" dirty="0">
                <a:solidFill>
                  <a:srgbClr val="1F2328"/>
                </a:solidFill>
                <a:latin typeface="Calibri"/>
                <a:cs typeface="Calibri"/>
              </a:rPr>
              <a:t xml:space="preserve">Liver Cancer</a:t>
            </a:r>
          </a:p>
        </p:txBody>
      </p:sp>
      <p:sp>
        <p:nvSpPr>
          <p:cNvPr id="1156" name="LLM"/>
          <p:cNvSpPr txBox="1"/>
          <p:nvPr/>
        </p:nvSpPr>
        <p:spPr>
          <a:xfrm>
            <a:off x="2679191" y="3611880"/>
            <a:ext cx="841248" cy="182880"/>
          </a:xfrm>
          <a:prstGeom prst="rect">
            <a:avLst/>
          </a:prstGeom>
          <a:noFill/>
          <a:ln>
            <a:noFill/>
          </a:ln>
        </p:spPr>
        <p:txBody>
          <a:bodyPr wrap="square" lIns="0" tIns="0" rIns="0" bIns="0" anchor="ctr">
            <a:noAutofit/>
          </a:bodyPr>
          <a:lstStyle/>
          <a:p>
            <a:pPr algn="ctr"/>
            <a:r>
              <a:rPr lang="en-US" sz="850" b="0" i="0" dirty="0">
                <a:solidFill>
                  <a:srgbClr val="5B6770"/>
                </a:solidFill>
                <a:latin typeface="Calibri"/>
                <a:cs typeface="Calibri"/>
              </a:rPr>
              <a:t xml:space="preserve">Claude</a:t>
            </a:r>
          </a:p>
        </p:txBody>
      </p:sp>
      <p:sp>
        <p:nvSpPr>
          <p:cNvPr id="1157" name="LLM"/>
          <p:cNvSpPr txBox="1"/>
          <p:nvPr/>
        </p:nvSpPr>
        <p:spPr>
          <a:xfrm>
            <a:off x="3520439" y="3611880"/>
            <a:ext cx="841248" cy="182880"/>
          </a:xfrm>
          <a:prstGeom prst="rect">
            <a:avLst/>
          </a:prstGeom>
          <a:noFill/>
          <a:ln>
            <a:noFill/>
          </a:ln>
        </p:spPr>
        <p:txBody>
          <a:bodyPr wrap="square" lIns="0" tIns="0" rIns="0" bIns="0" anchor="ctr">
            <a:noAutofit/>
          </a:bodyPr>
          <a:lstStyle/>
          <a:p>
            <a:pPr algn="ctr"/>
            <a:r>
              <a:rPr lang="en-US" sz="850" b="0" i="0" dirty="0">
                <a:solidFill>
                  <a:srgbClr val="5B6770"/>
                </a:solidFill>
                <a:latin typeface="Calibri"/>
                <a:cs typeface="Calibri"/>
              </a:rPr>
              <a:t xml:space="preserve">Mistral</a:t>
            </a:r>
          </a:p>
        </p:txBody>
      </p:sp>
      <p:sp>
        <p:nvSpPr>
          <p:cNvPr id="1158" name="LLM"/>
          <p:cNvSpPr txBox="1"/>
          <p:nvPr/>
        </p:nvSpPr>
        <p:spPr>
          <a:xfrm>
            <a:off x="4361688" y="3611880"/>
            <a:ext cx="841248" cy="182880"/>
          </a:xfrm>
          <a:prstGeom prst="rect">
            <a:avLst/>
          </a:prstGeom>
          <a:noFill/>
          <a:ln>
            <a:noFill/>
          </a:ln>
        </p:spPr>
        <p:txBody>
          <a:bodyPr wrap="square" lIns="0" tIns="0" rIns="0" bIns="0" anchor="ctr">
            <a:noAutofit/>
          </a:bodyPr>
          <a:lstStyle/>
          <a:p>
            <a:pPr algn="ctr"/>
            <a:r>
              <a:rPr lang="en-US" sz="850" b="0" i="0" dirty="0">
                <a:solidFill>
                  <a:srgbClr val="5B6770"/>
                </a:solidFill>
                <a:latin typeface="Calibri"/>
                <a:cs typeface="Calibri"/>
              </a:rPr>
              <a:t xml:space="preserve">DeepSeek</a:t>
            </a:r>
          </a:p>
        </p:txBody>
      </p:sp>
      <p:sp>
        <p:nvSpPr>
          <p:cNvPr id="1159" name="Database"/>
          <p:cNvSpPr txBox="1"/>
          <p:nvPr/>
        </p:nvSpPr>
        <p:spPr>
          <a:xfrm>
            <a:off x="5202936" y="3383280"/>
            <a:ext cx="2523744" cy="219456"/>
          </a:xfrm>
          <a:prstGeom prst="rect">
            <a:avLst/>
          </a:prstGeom>
          <a:noFill/>
          <a:ln>
            <a:noFill/>
          </a:ln>
        </p:spPr>
        <p:txBody>
          <a:bodyPr wrap="square" lIns="0" tIns="0" rIns="0" bIns="0" anchor="ctr">
            <a:noAutofit/>
          </a:bodyPr>
          <a:lstStyle/>
          <a:p>
            <a:pPr algn="ctr"/>
            <a:r>
              <a:rPr lang="en-US" sz="1100" b="1" i="0" dirty="0">
                <a:solidFill>
                  <a:srgbClr val="1F2328"/>
                </a:solidFill>
                <a:latin typeface="Calibri"/>
                <a:cs typeface="Calibri"/>
              </a:rPr>
              <a:t xml:space="preserve">eICU-CRD</a:t>
            </a:r>
          </a:p>
        </p:txBody>
      </p:sp>
      <p:sp>
        <p:nvSpPr>
          <p:cNvPr id="1160" name="LLM"/>
          <p:cNvSpPr txBox="1"/>
          <p:nvPr/>
        </p:nvSpPr>
        <p:spPr>
          <a:xfrm>
            <a:off x="5202936" y="3611880"/>
            <a:ext cx="841248" cy="182880"/>
          </a:xfrm>
          <a:prstGeom prst="rect">
            <a:avLst/>
          </a:prstGeom>
          <a:noFill/>
          <a:ln>
            <a:noFill/>
          </a:ln>
        </p:spPr>
        <p:txBody>
          <a:bodyPr wrap="square" lIns="0" tIns="0" rIns="0" bIns="0" anchor="ctr">
            <a:noAutofit/>
          </a:bodyPr>
          <a:lstStyle/>
          <a:p>
            <a:pPr algn="ctr"/>
            <a:r>
              <a:rPr lang="en-US" sz="850" b="0" i="0" dirty="0">
                <a:solidFill>
                  <a:srgbClr val="5B6770"/>
                </a:solidFill>
                <a:latin typeface="Calibri"/>
                <a:cs typeface="Calibri"/>
              </a:rPr>
              <a:t xml:space="preserve">Claude</a:t>
            </a:r>
          </a:p>
        </p:txBody>
      </p:sp>
      <p:sp>
        <p:nvSpPr>
          <p:cNvPr id="1161" name="LLM"/>
          <p:cNvSpPr txBox="1"/>
          <p:nvPr/>
        </p:nvSpPr>
        <p:spPr>
          <a:xfrm>
            <a:off x="6044183" y="3611880"/>
            <a:ext cx="841248" cy="182880"/>
          </a:xfrm>
          <a:prstGeom prst="rect">
            <a:avLst/>
          </a:prstGeom>
          <a:noFill/>
          <a:ln>
            <a:noFill/>
          </a:ln>
        </p:spPr>
        <p:txBody>
          <a:bodyPr wrap="square" lIns="0" tIns="0" rIns="0" bIns="0" anchor="ctr">
            <a:noAutofit/>
          </a:bodyPr>
          <a:lstStyle/>
          <a:p>
            <a:pPr algn="ctr"/>
            <a:r>
              <a:rPr lang="en-US" sz="850" b="0" i="0" dirty="0">
                <a:solidFill>
                  <a:srgbClr val="5B6770"/>
                </a:solidFill>
                <a:latin typeface="Calibri"/>
                <a:cs typeface="Calibri"/>
              </a:rPr>
              <a:t xml:space="preserve">Mistral</a:t>
            </a:r>
          </a:p>
        </p:txBody>
      </p:sp>
      <p:sp>
        <p:nvSpPr>
          <p:cNvPr id="1162" name="LLM"/>
          <p:cNvSpPr txBox="1"/>
          <p:nvPr/>
        </p:nvSpPr>
        <p:spPr>
          <a:xfrm>
            <a:off x="6885432" y="3611880"/>
            <a:ext cx="841248" cy="182880"/>
          </a:xfrm>
          <a:prstGeom prst="rect">
            <a:avLst/>
          </a:prstGeom>
          <a:noFill/>
          <a:ln>
            <a:noFill/>
          </a:ln>
        </p:spPr>
        <p:txBody>
          <a:bodyPr wrap="square" lIns="0" tIns="0" rIns="0" bIns="0" anchor="ctr">
            <a:noAutofit/>
          </a:bodyPr>
          <a:lstStyle/>
          <a:p>
            <a:pPr algn="ctr"/>
            <a:r>
              <a:rPr lang="en-US" sz="850" b="0" i="0" dirty="0">
                <a:solidFill>
                  <a:srgbClr val="5B6770"/>
                </a:solidFill>
                <a:latin typeface="Calibri"/>
                <a:cs typeface="Calibri"/>
              </a:rPr>
              <a:t xml:space="preserve">DeepSeek</a:t>
            </a:r>
          </a:p>
        </p:txBody>
      </p:sp>
      <p:sp>
        <p:nvSpPr>
          <p:cNvPr id="1163" name="Database"/>
          <p:cNvSpPr txBox="1"/>
          <p:nvPr/>
        </p:nvSpPr>
        <p:spPr>
          <a:xfrm>
            <a:off x="7726679" y="3383280"/>
            <a:ext cx="2523744" cy="219456"/>
          </a:xfrm>
          <a:prstGeom prst="rect">
            <a:avLst/>
          </a:prstGeom>
          <a:noFill/>
          <a:ln>
            <a:noFill/>
          </a:ln>
        </p:spPr>
        <p:txBody>
          <a:bodyPr wrap="square" lIns="0" tIns="0" rIns="0" bIns="0" anchor="ctr">
            <a:noAutofit/>
          </a:bodyPr>
          <a:lstStyle/>
          <a:p>
            <a:pPr algn="ctr"/>
            <a:r>
              <a:rPr lang="en-US" sz="1100" b="1" i="0" dirty="0">
                <a:solidFill>
                  <a:srgbClr val="1F2328"/>
                </a:solidFill>
                <a:latin typeface="Calibri"/>
                <a:cs typeface="Calibri"/>
              </a:rPr>
              <a:t xml:space="preserve">Chinook</a:t>
            </a:r>
          </a:p>
        </p:txBody>
      </p:sp>
      <p:sp>
        <p:nvSpPr>
          <p:cNvPr id="1164" name="LLM"/>
          <p:cNvSpPr txBox="1"/>
          <p:nvPr/>
        </p:nvSpPr>
        <p:spPr>
          <a:xfrm>
            <a:off x="7726679" y="3611880"/>
            <a:ext cx="841248" cy="182880"/>
          </a:xfrm>
          <a:prstGeom prst="rect">
            <a:avLst/>
          </a:prstGeom>
          <a:noFill/>
          <a:ln>
            <a:noFill/>
          </a:ln>
        </p:spPr>
        <p:txBody>
          <a:bodyPr wrap="square" lIns="0" tIns="0" rIns="0" bIns="0" anchor="ctr">
            <a:noAutofit/>
          </a:bodyPr>
          <a:lstStyle/>
          <a:p>
            <a:pPr algn="ctr"/>
            <a:r>
              <a:rPr lang="en-US" sz="850" b="0" i="0" dirty="0">
                <a:solidFill>
                  <a:srgbClr val="5B6770"/>
                </a:solidFill>
                <a:latin typeface="Calibri"/>
                <a:cs typeface="Calibri"/>
              </a:rPr>
              <a:t xml:space="preserve">Claude</a:t>
            </a:r>
          </a:p>
        </p:txBody>
      </p:sp>
      <p:sp>
        <p:nvSpPr>
          <p:cNvPr id="1165" name="LLM"/>
          <p:cNvSpPr txBox="1"/>
          <p:nvPr/>
        </p:nvSpPr>
        <p:spPr>
          <a:xfrm>
            <a:off x="8567928" y="3611880"/>
            <a:ext cx="841248" cy="182880"/>
          </a:xfrm>
          <a:prstGeom prst="rect">
            <a:avLst/>
          </a:prstGeom>
          <a:noFill/>
          <a:ln>
            <a:noFill/>
          </a:ln>
        </p:spPr>
        <p:txBody>
          <a:bodyPr wrap="square" lIns="0" tIns="0" rIns="0" bIns="0" anchor="ctr">
            <a:noAutofit/>
          </a:bodyPr>
          <a:lstStyle/>
          <a:p>
            <a:pPr algn="ctr"/>
            <a:r>
              <a:rPr lang="en-US" sz="850" b="0" i="0" dirty="0">
                <a:solidFill>
                  <a:srgbClr val="5B6770"/>
                </a:solidFill>
                <a:latin typeface="Calibri"/>
                <a:cs typeface="Calibri"/>
              </a:rPr>
              <a:t xml:space="preserve">Mistral</a:t>
            </a:r>
          </a:p>
        </p:txBody>
      </p:sp>
      <p:sp>
        <p:nvSpPr>
          <p:cNvPr id="1166" name="LLM"/>
          <p:cNvSpPr txBox="1"/>
          <p:nvPr/>
        </p:nvSpPr>
        <p:spPr>
          <a:xfrm>
            <a:off x="9409176" y="3611880"/>
            <a:ext cx="841248" cy="182880"/>
          </a:xfrm>
          <a:prstGeom prst="rect">
            <a:avLst/>
          </a:prstGeom>
          <a:noFill/>
          <a:ln>
            <a:noFill/>
          </a:ln>
        </p:spPr>
        <p:txBody>
          <a:bodyPr wrap="square" lIns="0" tIns="0" rIns="0" bIns="0" anchor="ctr">
            <a:noAutofit/>
          </a:bodyPr>
          <a:lstStyle/>
          <a:p>
            <a:pPr algn="ctr"/>
            <a:r>
              <a:rPr lang="en-US" sz="850" b="0" i="0" dirty="0">
                <a:solidFill>
                  <a:srgbClr val="5B6770"/>
                </a:solidFill>
                <a:latin typeface="Calibri"/>
                <a:cs typeface="Calibri"/>
              </a:rPr>
              <a:t xml:space="preserve">DeepSeek</a:t>
            </a:r>
          </a:p>
        </p:txBody>
      </p:sp>
      <p:sp>
        <p:nvSpPr>
          <p:cNvPr id="1167" name="Avg head"/>
          <p:cNvSpPr txBox="1"/>
          <p:nvPr/>
        </p:nvSpPr>
        <p:spPr>
          <a:xfrm>
            <a:off x="10296144" y="3493008"/>
            <a:ext cx="685800" cy="237744"/>
          </a:xfrm>
          <a:prstGeom prst="rect">
            <a:avLst/>
          </a:prstGeom>
          <a:noFill/>
          <a:ln>
            <a:noFill/>
          </a:ln>
        </p:spPr>
        <p:txBody>
          <a:bodyPr wrap="square" lIns="0" tIns="0" rIns="0" bIns="0" anchor="ctr">
            <a:noAutofit/>
          </a:bodyPr>
          <a:lstStyle/>
          <a:p>
            <a:pPr algn="ctr"/>
            <a:r>
              <a:rPr lang="en-US" sz="1000" b="1" i="0" dirty="0">
                <a:solidFill>
                  <a:srgbClr val="5B6770"/>
                </a:solidFill>
                <a:latin typeface="Calibri"/>
                <a:cs typeface="Calibri"/>
              </a:rPr>
              <a:t xml:space="preserve">Avg</a:t>
            </a:r>
          </a:p>
        </p:txBody>
      </p:sp>
      <p:sp>
        <p:nvSpPr>
          <p:cNvPr id="1168" name="Method"/>
          <p:cNvSpPr txBox="1"/>
          <p:nvPr/>
        </p:nvSpPr>
        <p:spPr>
          <a:xfrm>
            <a:off x="1078992" y="3840480"/>
            <a:ext cx="1600200" cy="457200"/>
          </a:xfrm>
          <a:prstGeom prst="rect">
            <a:avLst/>
          </a:prstGeom>
          <a:noFill/>
          <a:ln>
            <a:noFill/>
          </a:ln>
        </p:spPr>
        <p:txBody>
          <a:bodyPr wrap="square" lIns="0" tIns="0" rIns="0" bIns="0" anchor="ctr">
            <a:noAutofit/>
          </a:bodyPr>
          <a:lstStyle/>
          <a:p>
            <a:pPr algn="l"/>
            <a:r>
              <a:rPr lang="en-US" sz="1200" b="0" i="0" dirty="0">
                <a:solidFill>
                  <a:srgbClr val="1F2328"/>
                </a:solidFill>
                <a:latin typeface="Calibri"/>
                <a:cs typeface="Calibri"/>
              </a:rPr>
              <a:t xml:space="preserve">Direct Mapping</a:t>
            </a:r>
          </a:p>
        </p:txBody>
      </p:sp>
      <p:sp>
        <p:nvSpPr>
          <p:cNvPr id="1169" name="Cell"/>
          <p:cNvSpPr/>
          <p:nvPr/>
        </p:nvSpPr>
        <p:spPr>
          <a:xfrm>
            <a:off x="2697479" y="3858768"/>
            <a:ext cx="2487168" cy="420624"/>
          </a:xfrm>
          <a:prstGeom prst="rect">
            <a:avLst/>
          </a:prstGeom>
          <a:solidFill>
            <a:srgbClr val="BFE3CF"/>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97</a:t>
            </a:r>
          </a:p>
        </p:txBody>
      </p:sp>
      <p:sp>
        <p:nvSpPr>
          <p:cNvPr id="1170" name="Cell"/>
          <p:cNvSpPr/>
          <p:nvPr/>
        </p:nvSpPr>
        <p:spPr>
          <a:xfrm>
            <a:off x="5221223" y="3858768"/>
            <a:ext cx="2487168" cy="420624"/>
          </a:xfrm>
          <a:prstGeom prst="rect">
            <a:avLst/>
          </a:prstGeom>
          <a:solidFill>
            <a:srgbClr val="BFE3CF"/>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99</a:t>
            </a:r>
          </a:p>
        </p:txBody>
      </p:sp>
      <p:sp>
        <p:nvSpPr>
          <p:cNvPr id="1171" name="Cell"/>
          <p:cNvSpPr/>
          <p:nvPr/>
        </p:nvSpPr>
        <p:spPr>
          <a:xfrm>
            <a:off x="7744967" y="3858768"/>
            <a:ext cx="2487168" cy="420624"/>
          </a:xfrm>
          <a:prstGeom prst="rect">
            <a:avLst/>
          </a:prstGeom>
          <a:solidFill>
            <a:srgbClr val="DDF0E5"/>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78</a:t>
            </a:r>
          </a:p>
        </p:txBody>
      </p:sp>
      <p:sp>
        <p:nvSpPr>
          <p:cNvPr id="1172" name="Avg"/>
          <p:cNvSpPr txBox="1"/>
          <p:nvPr/>
        </p:nvSpPr>
        <p:spPr>
          <a:xfrm>
            <a:off x="10296144" y="3840480"/>
            <a:ext cx="685800" cy="457200"/>
          </a:xfrm>
          <a:prstGeom prst="rect">
            <a:avLst/>
          </a:prstGeom>
          <a:noFill/>
          <a:ln>
            <a:noFill/>
          </a:ln>
        </p:spPr>
        <p:txBody>
          <a:bodyPr wrap="square" lIns="0" tIns="0" rIns="0" bIns="0" anchor="ctr">
            <a:noAutofit/>
          </a:bodyPr>
          <a:lstStyle/>
          <a:p>
            <a:pPr algn="ctr"/>
            <a:r>
              <a:rPr lang="en-US" sz="1250" b="0" i="0" dirty="0">
                <a:solidFill>
                  <a:srgbClr val="1F2328"/>
                </a:solidFill>
                <a:latin typeface="Calibri"/>
                <a:cs typeface="Calibri"/>
              </a:rPr>
              <a:t xml:space="preserve">91%</a:t>
            </a:r>
          </a:p>
        </p:txBody>
      </p:sp>
      <p:sp>
        <p:nvSpPr>
          <p:cNvPr id="1173" name="Method"/>
          <p:cNvSpPr txBox="1"/>
          <p:nvPr/>
        </p:nvSpPr>
        <p:spPr>
          <a:xfrm>
            <a:off x="1078992" y="4297680"/>
            <a:ext cx="1600200" cy="457200"/>
          </a:xfrm>
          <a:prstGeom prst="rect">
            <a:avLst/>
          </a:prstGeom>
          <a:noFill/>
          <a:ln>
            <a:noFill/>
          </a:ln>
        </p:spPr>
        <p:txBody>
          <a:bodyPr wrap="square" lIns="0" tIns="0" rIns="0" bIns="0" anchor="ctr">
            <a:noAutofit/>
          </a:bodyPr>
          <a:lstStyle/>
          <a:p>
            <a:pPr algn="l"/>
            <a:r>
              <a:rPr lang="en-US" sz="1200" b="0" i="0" dirty="0">
                <a:solidFill>
                  <a:srgbClr val="1F2328"/>
                </a:solidFill>
                <a:latin typeface="Calibri"/>
                <a:cs typeface="Calibri"/>
              </a:rPr>
              <a:t xml:space="preserve">LLM baseline</a:t>
            </a:r>
          </a:p>
        </p:txBody>
      </p:sp>
      <p:sp>
        <p:nvSpPr>
          <p:cNvPr id="1174" name="Cell"/>
          <p:cNvSpPr/>
          <p:nvPr/>
        </p:nvSpPr>
        <p:spPr>
          <a:xfrm>
            <a:off x="2697479" y="4315968"/>
            <a:ext cx="804672" cy="420624"/>
          </a:xfrm>
          <a:prstGeom prst="rect">
            <a:avLst/>
          </a:prstGeom>
          <a:solidFill>
            <a:srgbClr val="BFE3CF"/>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94</a:t>
            </a:r>
          </a:p>
        </p:txBody>
      </p:sp>
      <p:sp>
        <p:nvSpPr>
          <p:cNvPr id="1175" name="Cell"/>
          <p:cNvSpPr/>
          <p:nvPr/>
        </p:nvSpPr>
        <p:spPr>
          <a:xfrm>
            <a:off x="3538727" y="4315968"/>
            <a:ext cx="804672" cy="420624"/>
          </a:xfrm>
          <a:prstGeom prst="rect">
            <a:avLst/>
          </a:prstGeom>
          <a:solidFill>
            <a:srgbClr val="F6DAD3"/>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31</a:t>
            </a:r>
          </a:p>
        </p:txBody>
      </p:sp>
      <p:sp>
        <p:nvSpPr>
          <p:cNvPr id="1176" name="Cell"/>
          <p:cNvSpPr/>
          <p:nvPr/>
        </p:nvSpPr>
        <p:spPr>
          <a:xfrm>
            <a:off x="4379975" y="4315968"/>
            <a:ext cx="804672" cy="420624"/>
          </a:xfrm>
          <a:prstGeom prst="rect">
            <a:avLst/>
          </a:prstGeom>
          <a:solidFill>
            <a:srgbClr val="DDF0E5"/>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89</a:t>
            </a:r>
          </a:p>
        </p:txBody>
      </p:sp>
      <p:sp>
        <p:nvSpPr>
          <p:cNvPr id="1177" name="Cell"/>
          <p:cNvSpPr/>
          <p:nvPr/>
        </p:nvSpPr>
        <p:spPr>
          <a:xfrm>
            <a:off x="5221223" y="4315968"/>
            <a:ext cx="804672" cy="420624"/>
          </a:xfrm>
          <a:prstGeom prst="rect">
            <a:avLst/>
          </a:prstGeom>
          <a:solidFill>
            <a:srgbClr val="BFE3CF"/>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96</a:t>
            </a:r>
          </a:p>
        </p:txBody>
      </p:sp>
      <p:sp>
        <p:nvSpPr>
          <p:cNvPr id="1178" name="Cell"/>
          <p:cNvSpPr/>
          <p:nvPr/>
        </p:nvSpPr>
        <p:spPr>
          <a:xfrm>
            <a:off x="6062471" y="4315968"/>
            <a:ext cx="804672" cy="420624"/>
          </a:xfrm>
          <a:prstGeom prst="rect">
            <a:avLst/>
          </a:prstGeom>
          <a:solidFill>
            <a:srgbClr val="F1F3F2"/>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68</a:t>
            </a:r>
          </a:p>
        </p:txBody>
      </p:sp>
      <p:sp>
        <p:nvSpPr>
          <p:cNvPr id="1179" name="Cell"/>
          <p:cNvSpPr/>
          <p:nvPr/>
        </p:nvSpPr>
        <p:spPr>
          <a:xfrm>
            <a:off x="6903720" y="4315968"/>
            <a:ext cx="804672" cy="420624"/>
          </a:xfrm>
          <a:prstGeom prst="rect">
            <a:avLst/>
          </a:prstGeom>
          <a:solidFill>
            <a:srgbClr val="DDF0E5"/>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86</a:t>
            </a:r>
          </a:p>
        </p:txBody>
      </p:sp>
      <p:sp>
        <p:nvSpPr>
          <p:cNvPr id="1180" name="Cell"/>
          <p:cNvSpPr/>
          <p:nvPr/>
        </p:nvSpPr>
        <p:spPr>
          <a:xfrm>
            <a:off x="7744967" y="4315968"/>
            <a:ext cx="804672" cy="420624"/>
          </a:xfrm>
          <a:prstGeom prst="rect">
            <a:avLst/>
          </a:prstGeom>
          <a:solidFill>
            <a:srgbClr val="BFE3CF"/>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100</a:t>
            </a:r>
          </a:p>
        </p:txBody>
      </p:sp>
      <p:sp>
        <p:nvSpPr>
          <p:cNvPr id="1181" name="Cell"/>
          <p:cNvSpPr/>
          <p:nvPr/>
        </p:nvSpPr>
        <p:spPr>
          <a:xfrm>
            <a:off x="8586216" y="4315968"/>
            <a:ext cx="804672" cy="420624"/>
          </a:xfrm>
          <a:prstGeom prst="rect">
            <a:avLst/>
          </a:prstGeom>
          <a:solidFill>
            <a:srgbClr val="F1F3F2"/>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50</a:t>
            </a:r>
          </a:p>
        </p:txBody>
      </p:sp>
      <p:sp>
        <p:nvSpPr>
          <p:cNvPr id="1182" name="Cell"/>
          <p:cNvSpPr/>
          <p:nvPr/>
        </p:nvSpPr>
        <p:spPr>
          <a:xfrm>
            <a:off x="9427463" y="4315968"/>
            <a:ext cx="804672" cy="420624"/>
          </a:xfrm>
          <a:prstGeom prst="rect">
            <a:avLst/>
          </a:prstGeom>
          <a:solidFill>
            <a:srgbClr val="F1F3F2"/>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52</a:t>
            </a:r>
          </a:p>
        </p:txBody>
      </p:sp>
      <p:sp>
        <p:nvSpPr>
          <p:cNvPr id="1183" name="Avg"/>
          <p:cNvSpPr txBox="1"/>
          <p:nvPr/>
        </p:nvSpPr>
        <p:spPr>
          <a:xfrm>
            <a:off x="10296144" y="4297680"/>
            <a:ext cx="685800" cy="457200"/>
          </a:xfrm>
          <a:prstGeom prst="rect">
            <a:avLst/>
          </a:prstGeom>
          <a:noFill/>
          <a:ln>
            <a:noFill/>
          </a:ln>
        </p:spPr>
        <p:txBody>
          <a:bodyPr wrap="square" lIns="0" tIns="0" rIns="0" bIns="0" anchor="ctr">
            <a:noAutofit/>
          </a:bodyPr>
          <a:lstStyle/>
          <a:p>
            <a:pPr algn="ctr"/>
            <a:r>
              <a:rPr lang="en-US" sz="1250" b="0" i="0" dirty="0">
                <a:solidFill>
                  <a:srgbClr val="1F2328"/>
                </a:solidFill>
                <a:latin typeface="Calibri"/>
                <a:cs typeface="Calibri"/>
              </a:rPr>
              <a:t xml:space="preserve">74%</a:t>
            </a:r>
          </a:p>
        </p:txBody>
      </p:sp>
      <p:sp>
        <p:nvSpPr>
          <p:cNvPr id="1184" name="Method"/>
          <p:cNvSpPr txBox="1"/>
          <p:nvPr/>
        </p:nvSpPr>
        <p:spPr>
          <a:xfrm>
            <a:off x="1078992" y="4754880"/>
            <a:ext cx="1600200" cy="457200"/>
          </a:xfrm>
          <a:prstGeom prst="rect">
            <a:avLst/>
          </a:prstGeom>
          <a:noFill/>
          <a:ln>
            <a:noFill/>
          </a:ln>
        </p:spPr>
        <p:txBody>
          <a:bodyPr wrap="square" lIns="0" tIns="0" rIns="0" bIns="0" anchor="ctr">
            <a:noAutofit/>
          </a:bodyPr>
          <a:lstStyle/>
          <a:p>
            <a:pPr algn="l"/>
            <a:r>
              <a:rPr lang="en-US" sz="1200" b="0" i="0" dirty="0">
                <a:solidFill>
                  <a:srgbClr val="1F2328"/>
                </a:solidFill>
                <a:latin typeface="Calibri"/>
                <a:cs typeface="Calibri"/>
              </a:rPr>
              <a:t xml:space="preserve">Non-Iterative</a:t>
            </a:r>
          </a:p>
        </p:txBody>
      </p:sp>
      <p:sp>
        <p:nvSpPr>
          <p:cNvPr id="1185" name="Cell"/>
          <p:cNvSpPr/>
          <p:nvPr/>
        </p:nvSpPr>
        <p:spPr>
          <a:xfrm>
            <a:off x="2697479" y="4773168"/>
            <a:ext cx="804672" cy="420624"/>
          </a:xfrm>
          <a:prstGeom prst="rect">
            <a:avLst/>
          </a:prstGeom>
          <a:solidFill>
            <a:srgbClr val="F6DAD3"/>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41</a:t>
            </a:r>
          </a:p>
        </p:txBody>
      </p:sp>
      <p:sp>
        <p:nvSpPr>
          <p:cNvPr id="1186" name="Cell"/>
          <p:cNvSpPr/>
          <p:nvPr/>
        </p:nvSpPr>
        <p:spPr>
          <a:xfrm>
            <a:off x="3538727" y="4773168"/>
            <a:ext cx="804672" cy="420624"/>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6</a:t>
            </a:r>
          </a:p>
        </p:txBody>
      </p:sp>
      <p:sp>
        <p:nvSpPr>
          <p:cNvPr id="1187" name="Cell"/>
          <p:cNvSpPr/>
          <p:nvPr/>
        </p:nvSpPr>
        <p:spPr>
          <a:xfrm>
            <a:off x="4379975" y="4773168"/>
            <a:ext cx="804672" cy="420624"/>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12</a:t>
            </a:r>
          </a:p>
        </p:txBody>
      </p:sp>
      <p:sp>
        <p:nvSpPr>
          <p:cNvPr id="1188" name="Cell"/>
          <p:cNvSpPr/>
          <p:nvPr/>
        </p:nvSpPr>
        <p:spPr>
          <a:xfrm>
            <a:off x="5221223" y="4773168"/>
            <a:ext cx="804672" cy="420624"/>
          </a:xfrm>
          <a:prstGeom prst="rect">
            <a:avLst/>
          </a:prstGeom>
          <a:solidFill>
            <a:srgbClr val="F6DAD3"/>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22</a:t>
            </a:r>
          </a:p>
        </p:txBody>
      </p:sp>
      <p:sp>
        <p:nvSpPr>
          <p:cNvPr id="1189" name="Cell"/>
          <p:cNvSpPr/>
          <p:nvPr/>
        </p:nvSpPr>
        <p:spPr>
          <a:xfrm>
            <a:off x="6062471" y="4773168"/>
            <a:ext cx="804672" cy="420624"/>
          </a:xfrm>
          <a:prstGeom prst="rect">
            <a:avLst/>
          </a:prstGeom>
          <a:solidFill>
            <a:srgbClr val="F6DAD3"/>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28</a:t>
            </a:r>
          </a:p>
        </p:txBody>
      </p:sp>
      <p:sp>
        <p:nvSpPr>
          <p:cNvPr id="1190" name="Cell"/>
          <p:cNvSpPr/>
          <p:nvPr/>
        </p:nvSpPr>
        <p:spPr>
          <a:xfrm>
            <a:off x="6903720" y="4773168"/>
            <a:ext cx="804672" cy="420624"/>
          </a:xfrm>
          <a:prstGeom prst="rect">
            <a:avLst/>
          </a:prstGeom>
          <a:solidFill>
            <a:srgbClr val="F6DAD3"/>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46</a:t>
            </a:r>
          </a:p>
        </p:txBody>
      </p:sp>
      <p:sp>
        <p:nvSpPr>
          <p:cNvPr id="1191" name="Cell"/>
          <p:cNvSpPr/>
          <p:nvPr/>
        </p:nvSpPr>
        <p:spPr>
          <a:xfrm>
            <a:off x="7744967" y="4773168"/>
            <a:ext cx="804672" cy="420624"/>
          </a:xfrm>
          <a:prstGeom prst="rect">
            <a:avLst/>
          </a:prstGeom>
          <a:solidFill>
            <a:srgbClr val="F1F3F2"/>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58</a:t>
            </a:r>
          </a:p>
        </p:txBody>
      </p:sp>
      <p:sp>
        <p:nvSpPr>
          <p:cNvPr id="1192" name="Cell"/>
          <p:cNvSpPr/>
          <p:nvPr/>
        </p:nvSpPr>
        <p:spPr>
          <a:xfrm>
            <a:off x="8586216" y="4773168"/>
            <a:ext cx="804672" cy="420624"/>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16</a:t>
            </a:r>
          </a:p>
        </p:txBody>
      </p:sp>
      <p:sp>
        <p:nvSpPr>
          <p:cNvPr id="1193" name="Cell"/>
          <p:cNvSpPr/>
          <p:nvPr/>
        </p:nvSpPr>
        <p:spPr>
          <a:xfrm>
            <a:off x="9427463" y="4773168"/>
            <a:ext cx="804672" cy="420624"/>
          </a:xfrm>
          <a:prstGeom prst="rect">
            <a:avLst/>
          </a:prstGeom>
          <a:solidFill>
            <a:srgbClr val="DDF0E5"/>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78</a:t>
            </a:r>
          </a:p>
        </p:txBody>
      </p:sp>
      <p:sp>
        <p:nvSpPr>
          <p:cNvPr id="1194" name="Avg"/>
          <p:cNvSpPr txBox="1"/>
          <p:nvPr/>
        </p:nvSpPr>
        <p:spPr>
          <a:xfrm>
            <a:off x="10296144" y="4754880"/>
            <a:ext cx="685800" cy="457200"/>
          </a:xfrm>
          <a:prstGeom prst="rect">
            <a:avLst/>
          </a:prstGeom>
          <a:noFill/>
          <a:ln>
            <a:noFill/>
          </a:ln>
        </p:spPr>
        <p:txBody>
          <a:bodyPr wrap="square" lIns="0" tIns="0" rIns="0" bIns="0" anchor="ctr">
            <a:noAutofit/>
          </a:bodyPr>
          <a:lstStyle/>
          <a:p>
            <a:pPr algn="ctr"/>
            <a:r>
              <a:rPr lang="en-US" sz="1250" b="0" i="0" dirty="0">
                <a:solidFill>
                  <a:srgbClr val="1F2328"/>
                </a:solidFill>
                <a:latin typeface="Calibri"/>
                <a:cs typeface="Calibri"/>
              </a:rPr>
              <a:t xml:space="preserve">34%</a:t>
            </a:r>
          </a:p>
        </p:txBody>
      </p:sp>
      <p:sp>
        <p:nvSpPr>
          <p:cNvPr id="1195" name="Method"/>
          <p:cNvSpPr txBox="1"/>
          <p:nvPr/>
        </p:nvSpPr>
        <p:spPr>
          <a:xfrm>
            <a:off x="1078992" y="5212080"/>
            <a:ext cx="1600200" cy="457200"/>
          </a:xfrm>
          <a:prstGeom prst="rect">
            <a:avLst/>
          </a:prstGeom>
          <a:noFill/>
          <a:ln>
            <a:noFill/>
          </a:ln>
        </p:spPr>
        <p:txBody>
          <a:bodyPr wrap="square" lIns="0" tIns="0" rIns="0" bIns="0" anchor="ctr">
            <a:noAutofit/>
          </a:bodyPr>
          <a:lstStyle/>
          <a:p>
            <a:pPr algn="l"/>
            <a:r>
              <a:rPr lang="en-US" sz="1200" b="1" i="0" dirty="0">
                <a:solidFill>
                  <a:srgbClr val="0B6E4F"/>
                </a:solidFill>
                <a:latin typeface="Calibri"/>
                <a:cs typeface="Calibri"/>
              </a:rPr>
              <a:t xml:space="preserve">RIGOR</a:t>
            </a:r>
          </a:p>
        </p:txBody>
      </p:sp>
      <p:sp>
        <p:nvSpPr>
          <p:cNvPr id="1196" name="Cell"/>
          <p:cNvSpPr/>
          <p:nvPr/>
        </p:nvSpPr>
        <p:spPr>
          <a:xfrm>
            <a:off x="2697479" y="5230368"/>
            <a:ext cx="804672" cy="420624"/>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91</a:t>
            </a:r>
          </a:p>
        </p:txBody>
      </p:sp>
      <p:sp>
        <p:nvSpPr>
          <p:cNvPr id="1197" name="Cell"/>
          <p:cNvSpPr/>
          <p:nvPr/>
        </p:nvSpPr>
        <p:spPr>
          <a:xfrm>
            <a:off x="3538727" y="5230368"/>
            <a:ext cx="804672" cy="420624"/>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99</a:t>
            </a:r>
          </a:p>
        </p:txBody>
      </p:sp>
      <p:sp>
        <p:nvSpPr>
          <p:cNvPr id="1198" name="Cell"/>
          <p:cNvSpPr/>
          <p:nvPr/>
        </p:nvSpPr>
        <p:spPr>
          <a:xfrm>
            <a:off x="4379975" y="5230368"/>
            <a:ext cx="804672" cy="420624"/>
          </a:xfrm>
          <a:prstGeom prst="rect">
            <a:avLst/>
          </a:prstGeom>
          <a:solidFill>
            <a:srgbClr val="DDF0E5"/>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87</a:t>
            </a:r>
          </a:p>
        </p:txBody>
      </p:sp>
      <p:sp>
        <p:nvSpPr>
          <p:cNvPr id="1199" name="Cell"/>
          <p:cNvSpPr/>
          <p:nvPr/>
        </p:nvSpPr>
        <p:spPr>
          <a:xfrm>
            <a:off x="5221223" y="5230368"/>
            <a:ext cx="804672" cy="420624"/>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100</a:t>
            </a:r>
          </a:p>
        </p:txBody>
      </p:sp>
      <p:sp>
        <p:nvSpPr>
          <p:cNvPr id="1200" name="Cell"/>
          <p:cNvSpPr/>
          <p:nvPr/>
        </p:nvSpPr>
        <p:spPr>
          <a:xfrm>
            <a:off x="6062471" y="5230368"/>
            <a:ext cx="804672" cy="420624"/>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99</a:t>
            </a:r>
          </a:p>
        </p:txBody>
      </p:sp>
      <p:sp>
        <p:nvSpPr>
          <p:cNvPr id="1201" name="Cell"/>
          <p:cNvSpPr/>
          <p:nvPr/>
        </p:nvSpPr>
        <p:spPr>
          <a:xfrm>
            <a:off x="6903720" y="5230368"/>
            <a:ext cx="804672" cy="420624"/>
          </a:xfrm>
          <a:prstGeom prst="rect">
            <a:avLst/>
          </a:prstGeom>
          <a:solidFill>
            <a:srgbClr val="DDF0E5"/>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77</a:t>
            </a:r>
          </a:p>
        </p:txBody>
      </p:sp>
      <p:sp>
        <p:nvSpPr>
          <p:cNvPr id="1202" name="Cell"/>
          <p:cNvSpPr/>
          <p:nvPr/>
        </p:nvSpPr>
        <p:spPr>
          <a:xfrm>
            <a:off x="7744967" y="5230368"/>
            <a:ext cx="804672" cy="420624"/>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95</a:t>
            </a:r>
          </a:p>
        </p:txBody>
      </p:sp>
      <p:sp>
        <p:nvSpPr>
          <p:cNvPr id="1203" name="Cell"/>
          <p:cNvSpPr/>
          <p:nvPr/>
        </p:nvSpPr>
        <p:spPr>
          <a:xfrm>
            <a:off x="8586216" y="5230368"/>
            <a:ext cx="804672" cy="420624"/>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95</a:t>
            </a:r>
          </a:p>
        </p:txBody>
      </p:sp>
      <p:sp>
        <p:nvSpPr>
          <p:cNvPr id="1204" name="Cell"/>
          <p:cNvSpPr/>
          <p:nvPr/>
        </p:nvSpPr>
        <p:spPr>
          <a:xfrm>
            <a:off x="9427463" y="5230368"/>
            <a:ext cx="804672" cy="420624"/>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95</a:t>
            </a:r>
          </a:p>
        </p:txBody>
      </p:sp>
      <p:sp>
        <p:nvSpPr>
          <p:cNvPr id="1205" name="Avg"/>
          <p:cNvSpPr txBox="1"/>
          <p:nvPr/>
        </p:nvSpPr>
        <p:spPr>
          <a:xfrm>
            <a:off x="10296144" y="5212080"/>
            <a:ext cx="685800" cy="457200"/>
          </a:xfrm>
          <a:prstGeom prst="rect">
            <a:avLst/>
          </a:prstGeom>
          <a:noFill/>
          <a:ln>
            <a:noFill/>
          </a:ln>
        </p:spPr>
        <p:txBody>
          <a:bodyPr wrap="square" lIns="0" tIns="0" rIns="0" bIns="0" anchor="ctr">
            <a:noAutofit/>
          </a:bodyPr>
          <a:lstStyle/>
          <a:p>
            <a:pPr algn="ctr"/>
            <a:r>
              <a:rPr lang="en-US" sz="1250" b="1" i="0" dirty="0">
                <a:solidFill>
                  <a:srgbClr val="0B6E4F"/>
                </a:solidFill>
                <a:latin typeface="Calibri"/>
                <a:cs typeface="Calibri"/>
              </a:rPr>
              <a:t xml:space="preserve">93%</a:t>
            </a:r>
          </a:p>
        </p:txBody>
      </p:sp>
      <p:sp>
        <p:nvSpPr>
          <p:cNvPr id="1206" name="Strip"/>
          <p:cNvSpPr/>
          <p:nvPr/>
        </p:nvSpPr>
        <p:spPr>
          <a:xfrm>
            <a:off x="804672" y="5879592"/>
            <a:ext cx="10579608" cy="420624"/>
          </a:xfrm>
          <a:prstGeom prst="roundRect">
            <a:avLst>
              <a:gd name="adj" fmla="val 12000"/>
            </a:avLst>
          </a:prstGeom>
          <a:solidFill>
            <a:srgbClr val="E6F2EC"/>
          </a:solidFill>
          <a:ln>
            <a:noFill/>
          </a:ln>
        </p:spPr>
        <p:txBody>
          <a:bodyPr wrap="square" lIns="201168" tIns="0" rIns="201168" bIns="0" anchor="ctr">
            <a:noAutofit/>
          </a:bodyPr>
          <a:lstStyle/>
          <a:p>
            <a:pPr algn="l"/>
            <a:r>
              <a:rPr lang="en-US" sz="1400" b="0" i="0" dirty="0">
                <a:solidFill>
                  <a:srgbClr val="3A434C"/>
                </a:solidFill>
                <a:latin typeface="Calibri"/>
                <a:cs typeface="Calibri"/>
              </a:rPr>
              <a:t xml:space="preserve">Same context, no seed: </a:t>
            </a:r>
            <a:r>
              <a:rPr lang="en-US" sz="1400" b="1" i="0" dirty="0">
                <a:solidFill>
                  <a:srgbClr val="B23A1E"/>
                </a:solidFill>
                <a:latin typeface="Calibri"/>
                <a:cs typeface="Calibri"/>
              </a:rPr>
              <a:t xml:space="preserve">Non-Iterative 6–78%</a:t>
            </a:r>
            <a:r>
              <a:rPr lang="en-US" sz="1400" b="0" i="0" dirty="0">
                <a:solidFill>
                  <a:srgbClr val="3A434C"/>
                </a:solidFill>
                <a:latin typeface="Calibri"/>
                <a:cs typeface="Calibri"/>
              </a:rPr>
              <a:t xml:space="preserve">, depending on the LLM.  With RIGOR: </a:t>
            </a:r>
            <a:r>
              <a:rPr lang="en-US" sz="1400" b="1" i="0" dirty="0">
                <a:solidFill>
                  <a:srgbClr val="0B6E4F"/>
                </a:solidFill>
                <a:latin typeface="Calibri"/>
                <a:cs typeface="Calibri"/>
              </a:rPr>
              <a:t xml:space="preserve">≥ 77% for every LLM, in every database.</a:t>
            </a:r>
          </a:p>
        </p:txBody>
      </p:sp>
      <p:sp>
        <p:nvSpPr>
          <p:cNvPr id="1207" name="Source"/>
          <p:cNvSpPr txBox="1"/>
          <p:nvPr/>
        </p:nvSpPr>
        <p:spPr>
          <a:xfrm>
            <a:off x="822960" y="6382512"/>
            <a:ext cx="10607040" cy="237744"/>
          </a:xfrm>
          <a:prstGeom prst="rect">
            <a:avLst/>
          </a:prstGeom>
          <a:noFill/>
          <a:ln>
            <a:noFill/>
          </a:ln>
        </p:spPr>
        <p:txBody>
          <a:bodyPr wrap="square" lIns="0" tIns="0" rIns="0" bIns="0" anchor="t">
            <a:noAutofit/>
          </a:bodyPr>
          <a:lstStyle/>
          <a:p>
            <a:pPr algn="l"/>
            <a:r>
              <a:rPr lang="en-US" sz="1000" b="0" i="0" dirty="0">
                <a:solidFill>
                  <a:srgbClr val="5B6770"/>
                </a:solidFill>
                <a:latin typeface="Calibri"/>
                <a:cs typeface="Calibri"/>
              </a:rPr>
              <a:t xml:space="preserve">Coverage: a column counts as covered when an ontology class or property name is similar to it (embedding similarity ≥ 0.55). Paper Sec. 4.6, Table 9.</a:t>
            </a: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2" name="Shape 1202"/>
        <p:cNvGrpSpPr/>
        <p:nvPr/>
      </p:nvGrpSpPr>
      <p:grpSpPr>
        <a:xfrm>
          <a:off x="0" y="0"/>
          <a:ext cx="0" cy="0"/>
          <a:chOff x="0" y="0"/>
          <a:chExt cx="0" cy="0"/>
        </a:xfrm>
      </p:grpSpPr>
      <p:sp>
        <p:nvSpPr>
          <p:cNvPr id="1203" name="Google Shape;1203;p21"/>
          <p:cNvSpPr txBox="1"/>
          <p:nvPr/>
        </p:nvSpPr>
        <p:spPr>
          <a:xfrm>
            <a:off x="804672" y="512064"/>
            <a:ext cx="107532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RESULT 4  /  EXTERNAL BENCHMARK</a:t>
            </a:r>
            <a:endParaRPr b="0" i="0" sz="1400" u="none" cap="none" strike="noStrike">
              <a:solidFill>
                <a:srgbClr val="000000"/>
              </a:solidFill>
              <a:latin typeface="Arial"/>
              <a:ea typeface="Arial"/>
              <a:cs typeface="Arial"/>
              <a:sym typeface="Arial"/>
            </a:endParaRPr>
          </a:p>
        </p:txBody>
      </p:sp>
      <p:sp>
        <p:nvSpPr>
          <p:cNvPr id="1204" name="Google Shape;1204;p21"/>
          <p:cNvSpPr txBox="1"/>
          <p:nvPr/>
        </p:nvSpPr>
        <p:spPr>
          <a:xfrm>
            <a:off x="804672" y="914400"/>
            <a:ext cx="10762500" cy="667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RIGOR keeps the link to the data.</a:t>
            </a:r>
            <a:endParaRPr b="0" i="0" sz="1400" u="none" cap="none" strike="noStrike">
              <a:solidFill>
                <a:srgbClr val="000000"/>
              </a:solidFill>
              <a:latin typeface="Arial"/>
              <a:ea typeface="Arial"/>
              <a:cs typeface="Arial"/>
              <a:sym typeface="Arial"/>
            </a:endParaRPr>
          </a:p>
        </p:txBody>
      </p:sp>
      <p:sp>
        <p:nvSpPr>
          <p:cNvPr id="1205" name="Google Shape;1205;p21"/>
          <p:cNvSpPr txBox="1"/>
          <p:nvPr/>
        </p:nvSpPr>
        <p:spPr>
          <a:xfrm>
            <a:off x="822960" y="1645920"/>
            <a:ext cx="10680300" cy="329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A434C"/>
                </a:solidFill>
                <a:latin typeface="Calibri"/>
                <a:ea typeface="Calibri"/>
                <a:cs typeface="Calibri"/>
                <a:sym typeface="Calibri"/>
              </a:rPr>
              <a:t>BURR [Laskowski et al., PACMMOD 2025]  ·  ISWC scenario  ·  highest F1 among ontology-learning systems</a:t>
            </a:r>
            <a:endParaRPr b="0" i="0" sz="1400" u="none" cap="none" strike="noStrike">
              <a:solidFill>
                <a:srgbClr val="000000"/>
              </a:solidFill>
              <a:latin typeface="Arial"/>
              <a:ea typeface="Arial"/>
              <a:cs typeface="Arial"/>
              <a:sym typeface="Arial"/>
            </a:endParaRPr>
          </a:p>
        </p:txBody>
      </p:sp>
      <p:sp>
        <p:nvSpPr>
          <p:cNvPr id="1206" name="Google Shape;1206;p21"/>
          <p:cNvSpPr/>
          <p:nvPr/>
        </p:nvSpPr>
        <p:spPr>
          <a:xfrm>
            <a:off x="5870448" y="2523744"/>
            <a:ext cx="5468100" cy="3063300"/>
          </a:xfrm>
          <a:prstGeom prst="roundRect">
            <a:avLst>
              <a:gd fmla="val 16667" name="adj"/>
            </a:avLst>
          </a:prstGeom>
          <a:solidFill>
            <a:srgbClr val="FFFFFF"/>
          </a:solidFill>
          <a:ln cap="flat" cmpd="sng" w="10775">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07" name="Google Shape;1207;p21"/>
          <p:cNvSpPr txBox="1"/>
          <p:nvPr/>
        </p:nvSpPr>
        <p:spPr>
          <a:xfrm>
            <a:off x="6099048" y="2706624"/>
            <a:ext cx="1828800" cy="329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2F6B78"/>
                </a:solidFill>
                <a:latin typeface="Consolas"/>
                <a:ea typeface="Consolas"/>
                <a:cs typeface="Consolas"/>
                <a:sym typeface="Consolas"/>
              </a:rPr>
              <a:t>SYSTEM</a:t>
            </a:r>
            <a:endParaRPr/>
          </a:p>
        </p:txBody>
      </p:sp>
      <p:sp>
        <p:nvSpPr>
          <p:cNvPr id="1208" name="Google Shape;1208;p21"/>
          <p:cNvSpPr txBox="1"/>
          <p:nvPr/>
        </p:nvSpPr>
        <p:spPr>
          <a:xfrm>
            <a:off x="8156447" y="2706624"/>
            <a:ext cx="1051500" cy="329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150" u="none" cap="none" strike="noStrike">
                <a:solidFill>
                  <a:srgbClr val="2F6B78"/>
                </a:solidFill>
                <a:latin typeface="Consolas"/>
                <a:ea typeface="Consolas"/>
                <a:cs typeface="Consolas"/>
                <a:sym typeface="Consolas"/>
              </a:rPr>
              <a:t>CLASSES</a:t>
            </a:r>
            <a:endParaRPr/>
          </a:p>
        </p:txBody>
      </p:sp>
      <p:sp>
        <p:nvSpPr>
          <p:cNvPr id="1209" name="Google Shape;1209;p21"/>
          <p:cNvSpPr txBox="1"/>
          <p:nvPr/>
        </p:nvSpPr>
        <p:spPr>
          <a:xfrm>
            <a:off x="9208008" y="2706624"/>
            <a:ext cx="1051500" cy="329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150" u="none" cap="none" strike="noStrike">
                <a:solidFill>
                  <a:srgbClr val="2F6B78"/>
                </a:solidFill>
                <a:latin typeface="Consolas"/>
                <a:ea typeface="Consolas"/>
                <a:cs typeface="Consolas"/>
                <a:sym typeface="Consolas"/>
              </a:rPr>
              <a:t>RELATIONS</a:t>
            </a:r>
            <a:endParaRPr/>
          </a:p>
        </p:txBody>
      </p:sp>
      <p:sp>
        <p:nvSpPr>
          <p:cNvPr id="1210" name="Google Shape;1210;p21"/>
          <p:cNvSpPr txBox="1"/>
          <p:nvPr/>
        </p:nvSpPr>
        <p:spPr>
          <a:xfrm>
            <a:off x="10259567" y="2706624"/>
            <a:ext cx="1051500" cy="329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150" u="none" cap="none" strike="noStrike">
                <a:solidFill>
                  <a:srgbClr val="2F6B78"/>
                </a:solidFill>
                <a:latin typeface="Consolas"/>
                <a:ea typeface="Consolas"/>
                <a:cs typeface="Consolas"/>
                <a:sym typeface="Consolas"/>
              </a:rPr>
              <a:t>ATTRIBUTES</a:t>
            </a:r>
            <a:endParaRPr/>
          </a:p>
        </p:txBody>
      </p:sp>
      <p:cxnSp>
        <p:nvCxnSpPr>
          <p:cNvPr id="1211" name="Google Shape;1211;p21"/>
          <p:cNvCxnSpPr/>
          <p:nvPr/>
        </p:nvCxnSpPr>
        <p:spPr>
          <a:xfrm>
            <a:off x="6071616" y="3145536"/>
            <a:ext cx="5065800" cy="0"/>
          </a:xfrm>
          <a:prstGeom prst="straightConnector1">
            <a:avLst/>
          </a:prstGeom>
          <a:noFill/>
          <a:ln cap="flat" cmpd="sng" w="13950">
            <a:solidFill>
              <a:srgbClr val="D9DEDB"/>
            </a:solidFill>
            <a:prstDash val="solid"/>
            <a:round/>
            <a:headEnd len="sm" w="sm" type="none"/>
            <a:tailEnd len="sm" w="sm" type="none"/>
          </a:ln>
          <a:effectLst>
            <a:outerShdw blurRad="40000" rotWithShape="0" dir="5400000" dist="20000">
              <a:srgbClr val="000000">
                <a:alpha val="38040"/>
              </a:srgbClr>
            </a:outerShdw>
          </a:effectLst>
        </p:spPr>
      </p:cxnSp>
      <p:sp>
        <p:nvSpPr>
          <p:cNvPr id="1212" name="Google Shape;1212;p21"/>
          <p:cNvSpPr txBox="1"/>
          <p:nvPr/>
        </p:nvSpPr>
        <p:spPr>
          <a:xfrm>
            <a:off x="6117336" y="3182112"/>
            <a:ext cx="2011800" cy="274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39" u="none" cap="none" strike="noStrike">
                <a:solidFill>
                  <a:srgbClr val="3A434C"/>
                </a:solidFill>
                <a:latin typeface="Calibri"/>
                <a:ea typeface="Calibri"/>
                <a:cs typeface="Calibri"/>
                <a:sym typeface="Calibri"/>
              </a:rPr>
              <a:t>W3C-Mapper / Ontop</a:t>
            </a:r>
            <a:endParaRPr/>
          </a:p>
        </p:txBody>
      </p:sp>
      <p:sp>
        <p:nvSpPr>
          <p:cNvPr id="1213" name="Google Shape;1213;p21"/>
          <p:cNvSpPr txBox="1"/>
          <p:nvPr/>
        </p:nvSpPr>
        <p:spPr>
          <a:xfrm>
            <a:off x="6117336" y="3438144"/>
            <a:ext cx="1828800" cy="201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130" u="none" cap="none" strike="noStrike">
                <a:solidFill>
                  <a:srgbClr val="5B6770"/>
                </a:solidFill>
                <a:latin typeface="Calibri"/>
                <a:ea typeface="Calibri"/>
                <a:cs typeface="Calibri"/>
                <a:sym typeface="Calibri"/>
              </a:rPr>
              <a:t>rule-based</a:t>
            </a:r>
            <a:endParaRPr/>
          </a:p>
        </p:txBody>
      </p:sp>
      <p:sp>
        <p:nvSpPr>
          <p:cNvPr id="1214" name="Google Shape;1214;p21"/>
          <p:cNvSpPr txBox="1"/>
          <p:nvPr/>
        </p:nvSpPr>
        <p:spPr>
          <a:xfrm>
            <a:off x="8202167" y="3241548"/>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839" u="none" cap="none" strike="noStrike">
                <a:solidFill>
                  <a:srgbClr val="3A434C"/>
                </a:solidFill>
                <a:latin typeface="Calibri"/>
                <a:ea typeface="Calibri"/>
                <a:cs typeface="Calibri"/>
                <a:sym typeface="Calibri"/>
              </a:rPr>
              <a:t>0.53</a:t>
            </a:r>
            <a:endParaRPr/>
          </a:p>
        </p:txBody>
      </p:sp>
      <p:sp>
        <p:nvSpPr>
          <p:cNvPr id="1215" name="Google Shape;1215;p21"/>
          <p:cNvSpPr txBox="1"/>
          <p:nvPr/>
        </p:nvSpPr>
        <p:spPr>
          <a:xfrm>
            <a:off x="9253728" y="3241548"/>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839" u="none" cap="none" strike="noStrike">
                <a:solidFill>
                  <a:srgbClr val="3A434C"/>
                </a:solidFill>
                <a:latin typeface="Calibri"/>
                <a:ea typeface="Calibri"/>
                <a:cs typeface="Calibri"/>
                <a:sym typeface="Calibri"/>
              </a:rPr>
              <a:t>0.11</a:t>
            </a:r>
            <a:endParaRPr/>
          </a:p>
        </p:txBody>
      </p:sp>
      <p:sp>
        <p:nvSpPr>
          <p:cNvPr id="1216" name="Google Shape;1216;p21"/>
          <p:cNvSpPr txBox="1"/>
          <p:nvPr/>
        </p:nvSpPr>
        <p:spPr>
          <a:xfrm>
            <a:off x="10305288" y="3241548"/>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839" u="none" cap="none" strike="noStrike">
                <a:solidFill>
                  <a:srgbClr val="3A434C"/>
                </a:solidFill>
                <a:latin typeface="Calibri"/>
                <a:ea typeface="Calibri"/>
                <a:cs typeface="Calibri"/>
                <a:sym typeface="Calibri"/>
              </a:rPr>
              <a:t>0.39</a:t>
            </a:r>
            <a:endParaRPr/>
          </a:p>
        </p:txBody>
      </p:sp>
      <p:sp>
        <p:nvSpPr>
          <p:cNvPr id="1217" name="Google Shape;1217;p21"/>
          <p:cNvSpPr txBox="1"/>
          <p:nvPr/>
        </p:nvSpPr>
        <p:spPr>
          <a:xfrm>
            <a:off x="6117336" y="3739896"/>
            <a:ext cx="2011800" cy="274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39" u="none" cap="none" strike="noStrike">
                <a:solidFill>
                  <a:srgbClr val="3A434C"/>
                </a:solidFill>
                <a:latin typeface="Calibri"/>
                <a:ea typeface="Calibri"/>
                <a:cs typeface="Calibri"/>
                <a:sym typeface="Calibri"/>
              </a:rPr>
              <a:t>RDB2Onto</a:t>
            </a:r>
            <a:endParaRPr/>
          </a:p>
        </p:txBody>
      </p:sp>
      <p:sp>
        <p:nvSpPr>
          <p:cNvPr id="1218" name="Google Shape;1218;p21"/>
          <p:cNvSpPr txBox="1"/>
          <p:nvPr/>
        </p:nvSpPr>
        <p:spPr>
          <a:xfrm>
            <a:off x="6117336" y="3995928"/>
            <a:ext cx="1828800" cy="201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130" u="none" cap="none" strike="noStrike">
                <a:solidFill>
                  <a:srgbClr val="5B6770"/>
                </a:solidFill>
                <a:latin typeface="Calibri"/>
                <a:ea typeface="Calibri"/>
                <a:cs typeface="Calibri"/>
                <a:sym typeface="Calibri"/>
              </a:rPr>
              <a:t>rule-based</a:t>
            </a:r>
            <a:endParaRPr/>
          </a:p>
        </p:txBody>
      </p:sp>
      <p:sp>
        <p:nvSpPr>
          <p:cNvPr id="1219" name="Google Shape;1219;p21"/>
          <p:cNvSpPr txBox="1"/>
          <p:nvPr/>
        </p:nvSpPr>
        <p:spPr>
          <a:xfrm>
            <a:off x="8202167" y="3799332"/>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839" u="none" cap="none" strike="noStrike">
                <a:solidFill>
                  <a:srgbClr val="3A434C"/>
                </a:solidFill>
                <a:latin typeface="Calibri"/>
                <a:ea typeface="Calibri"/>
                <a:cs typeface="Calibri"/>
                <a:sym typeface="Calibri"/>
              </a:rPr>
              <a:t>0.67</a:t>
            </a:r>
            <a:endParaRPr/>
          </a:p>
        </p:txBody>
      </p:sp>
      <p:sp>
        <p:nvSpPr>
          <p:cNvPr id="1220" name="Google Shape;1220;p21"/>
          <p:cNvSpPr txBox="1"/>
          <p:nvPr/>
        </p:nvSpPr>
        <p:spPr>
          <a:xfrm>
            <a:off x="9253728" y="3799332"/>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839" u="none" cap="none" strike="noStrike">
                <a:solidFill>
                  <a:srgbClr val="3A434C"/>
                </a:solidFill>
                <a:latin typeface="Calibri"/>
                <a:ea typeface="Calibri"/>
                <a:cs typeface="Calibri"/>
                <a:sym typeface="Calibri"/>
              </a:rPr>
              <a:t>0.62</a:t>
            </a:r>
            <a:endParaRPr/>
          </a:p>
        </p:txBody>
      </p:sp>
      <p:sp>
        <p:nvSpPr>
          <p:cNvPr id="1221" name="Google Shape;1221;p21"/>
          <p:cNvSpPr txBox="1"/>
          <p:nvPr/>
        </p:nvSpPr>
        <p:spPr>
          <a:xfrm>
            <a:off x="10305288" y="3799332"/>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839" u="none" cap="none" strike="noStrike">
                <a:solidFill>
                  <a:srgbClr val="3A434C"/>
                </a:solidFill>
                <a:latin typeface="Calibri"/>
                <a:ea typeface="Calibri"/>
                <a:cs typeface="Calibri"/>
                <a:sym typeface="Calibri"/>
              </a:rPr>
              <a:t>0.44</a:t>
            </a:r>
            <a:endParaRPr/>
          </a:p>
        </p:txBody>
      </p:sp>
      <p:sp>
        <p:nvSpPr>
          <p:cNvPr id="1222" name="Google Shape;1222;p21"/>
          <p:cNvSpPr txBox="1"/>
          <p:nvPr/>
        </p:nvSpPr>
        <p:spPr>
          <a:xfrm>
            <a:off x="6117336" y="4297680"/>
            <a:ext cx="2011800" cy="274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639" u="none" cap="none" strike="noStrike">
                <a:solidFill>
                  <a:srgbClr val="3A434C"/>
                </a:solidFill>
                <a:latin typeface="Calibri"/>
                <a:ea typeface="Calibri"/>
                <a:cs typeface="Calibri"/>
                <a:sym typeface="Calibri"/>
              </a:rPr>
              <a:t>OntoGenix</a:t>
            </a:r>
            <a:endParaRPr/>
          </a:p>
        </p:txBody>
      </p:sp>
      <p:sp>
        <p:nvSpPr>
          <p:cNvPr id="1223" name="Google Shape;1223;p21"/>
          <p:cNvSpPr txBox="1"/>
          <p:nvPr/>
        </p:nvSpPr>
        <p:spPr>
          <a:xfrm>
            <a:off x="6117336" y="4553712"/>
            <a:ext cx="1828800" cy="201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130" u="none" cap="none" strike="noStrike">
                <a:solidFill>
                  <a:srgbClr val="5B6770"/>
                </a:solidFill>
                <a:latin typeface="Calibri"/>
                <a:ea typeface="Calibri"/>
                <a:cs typeface="Calibri"/>
                <a:sym typeface="Calibri"/>
              </a:rPr>
              <a:t>LLM-based</a:t>
            </a:r>
            <a:endParaRPr/>
          </a:p>
        </p:txBody>
      </p:sp>
      <p:sp>
        <p:nvSpPr>
          <p:cNvPr id="1224" name="Google Shape;1224;p21"/>
          <p:cNvSpPr txBox="1"/>
          <p:nvPr/>
        </p:nvSpPr>
        <p:spPr>
          <a:xfrm>
            <a:off x="8202167" y="4357116"/>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839" u="none" cap="none" strike="noStrike">
                <a:solidFill>
                  <a:srgbClr val="3A434C"/>
                </a:solidFill>
                <a:latin typeface="Calibri"/>
                <a:ea typeface="Calibri"/>
                <a:cs typeface="Calibri"/>
                <a:sym typeface="Calibri"/>
              </a:rPr>
              <a:t>0.58</a:t>
            </a:r>
            <a:endParaRPr/>
          </a:p>
        </p:txBody>
      </p:sp>
      <p:sp>
        <p:nvSpPr>
          <p:cNvPr id="1225" name="Google Shape;1225;p21"/>
          <p:cNvSpPr txBox="1"/>
          <p:nvPr/>
        </p:nvSpPr>
        <p:spPr>
          <a:xfrm>
            <a:off x="9253728" y="4357116"/>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839" u="none" cap="none" strike="noStrike">
                <a:solidFill>
                  <a:srgbClr val="3A434C"/>
                </a:solidFill>
                <a:latin typeface="Calibri"/>
                <a:ea typeface="Calibri"/>
                <a:cs typeface="Calibri"/>
                <a:sym typeface="Calibri"/>
              </a:rPr>
              <a:t>0.35</a:t>
            </a:r>
            <a:endParaRPr/>
          </a:p>
        </p:txBody>
      </p:sp>
      <p:sp>
        <p:nvSpPr>
          <p:cNvPr id="1226" name="Google Shape;1226;p21"/>
          <p:cNvSpPr txBox="1"/>
          <p:nvPr/>
        </p:nvSpPr>
        <p:spPr>
          <a:xfrm>
            <a:off x="10305288" y="4357116"/>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1839" u="none" cap="none" strike="noStrike">
                <a:solidFill>
                  <a:srgbClr val="3A434C"/>
                </a:solidFill>
                <a:latin typeface="Calibri"/>
                <a:ea typeface="Calibri"/>
                <a:cs typeface="Calibri"/>
                <a:sym typeface="Calibri"/>
              </a:rPr>
              <a:t>0.44</a:t>
            </a:r>
            <a:endParaRPr/>
          </a:p>
        </p:txBody>
      </p:sp>
      <p:sp>
        <p:nvSpPr>
          <p:cNvPr id="1227" name="Google Shape;1227;p21"/>
          <p:cNvSpPr/>
          <p:nvPr/>
        </p:nvSpPr>
        <p:spPr>
          <a:xfrm>
            <a:off x="5980176" y="4892040"/>
            <a:ext cx="5248800" cy="512100"/>
          </a:xfrm>
          <a:prstGeom prst="rect">
            <a:avLst/>
          </a:prstGeom>
          <a:solidFill>
            <a:srgbClr val="E9EEEB"/>
          </a:solidFill>
          <a:ln cap="flat" cmpd="sng" w="9525">
            <a:solidFill>
              <a:srgbClr val="3A7D8C"/>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28" name="Google Shape;1228;p21"/>
          <p:cNvSpPr txBox="1"/>
          <p:nvPr/>
        </p:nvSpPr>
        <p:spPr>
          <a:xfrm>
            <a:off x="6117336" y="4855464"/>
            <a:ext cx="2011800" cy="274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800" u="none" cap="none" strike="noStrike">
                <a:solidFill>
                  <a:srgbClr val="1F2328"/>
                </a:solidFill>
                <a:latin typeface="Calibri"/>
                <a:ea typeface="Calibri"/>
                <a:cs typeface="Calibri"/>
                <a:sym typeface="Calibri"/>
              </a:rPr>
              <a:t>RIGOR</a:t>
            </a:r>
            <a:endParaRPr/>
          </a:p>
        </p:txBody>
      </p:sp>
      <p:sp>
        <p:nvSpPr>
          <p:cNvPr id="1229" name="Google Shape;1229;p21"/>
          <p:cNvSpPr txBox="1"/>
          <p:nvPr/>
        </p:nvSpPr>
        <p:spPr>
          <a:xfrm>
            <a:off x="6117336" y="5111496"/>
            <a:ext cx="1828800" cy="201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130" u="none" cap="none" strike="noStrike">
                <a:solidFill>
                  <a:srgbClr val="2F6B78"/>
                </a:solidFill>
                <a:latin typeface="Calibri"/>
                <a:ea typeface="Calibri"/>
                <a:cs typeface="Calibri"/>
                <a:sym typeface="Calibri"/>
              </a:rPr>
              <a:t>LLM + rules</a:t>
            </a:r>
            <a:endParaRPr/>
          </a:p>
        </p:txBody>
      </p:sp>
      <p:sp>
        <p:nvSpPr>
          <p:cNvPr id="1230" name="Google Shape;1230;p21"/>
          <p:cNvSpPr txBox="1"/>
          <p:nvPr/>
        </p:nvSpPr>
        <p:spPr>
          <a:xfrm>
            <a:off x="8202167" y="4914900"/>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2000" u="none" cap="none" strike="noStrike">
                <a:solidFill>
                  <a:srgbClr val="1F2328"/>
                </a:solidFill>
                <a:latin typeface="Calibri"/>
                <a:ea typeface="Calibri"/>
                <a:cs typeface="Calibri"/>
                <a:sym typeface="Calibri"/>
              </a:rPr>
              <a:t>0.73</a:t>
            </a:r>
            <a:endParaRPr/>
          </a:p>
        </p:txBody>
      </p:sp>
      <p:sp>
        <p:nvSpPr>
          <p:cNvPr id="1231" name="Google Shape;1231;p21"/>
          <p:cNvSpPr txBox="1"/>
          <p:nvPr/>
        </p:nvSpPr>
        <p:spPr>
          <a:xfrm>
            <a:off x="9253728" y="4914900"/>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2000" u="none" cap="none" strike="noStrike">
                <a:solidFill>
                  <a:srgbClr val="1F2328"/>
                </a:solidFill>
                <a:latin typeface="Calibri"/>
                <a:ea typeface="Calibri"/>
                <a:cs typeface="Calibri"/>
                <a:sym typeface="Calibri"/>
              </a:rPr>
              <a:t>0.67</a:t>
            </a:r>
            <a:endParaRPr/>
          </a:p>
        </p:txBody>
      </p:sp>
      <p:sp>
        <p:nvSpPr>
          <p:cNvPr id="1232" name="Google Shape;1232;p21"/>
          <p:cNvSpPr txBox="1"/>
          <p:nvPr/>
        </p:nvSpPr>
        <p:spPr>
          <a:xfrm>
            <a:off x="10305288" y="4914900"/>
            <a:ext cx="960000" cy="3201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2000" u="none" cap="none" strike="noStrike">
                <a:solidFill>
                  <a:srgbClr val="1F2328"/>
                </a:solidFill>
                <a:latin typeface="Calibri"/>
                <a:ea typeface="Calibri"/>
                <a:cs typeface="Calibri"/>
                <a:sym typeface="Calibri"/>
              </a:rPr>
              <a:t>0.52</a:t>
            </a:r>
            <a:endParaRPr/>
          </a:p>
        </p:txBody>
      </p:sp>
      <p:sp>
        <p:nvSpPr>
          <p:cNvPr id="1233" name="Google Shape;1233;p21"/>
          <p:cNvSpPr/>
          <p:nvPr/>
        </p:nvSpPr>
        <p:spPr>
          <a:xfrm>
            <a:off x="841248" y="2523744"/>
            <a:ext cx="4846200" cy="3063300"/>
          </a:xfrm>
          <a:prstGeom prst="roundRect">
            <a:avLst>
              <a:gd fmla="val 12000" name="adj"/>
            </a:avLst>
          </a:prstGeom>
          <a:solidFill>
            <a:srgbClr val="F3F5F4"/>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34" name="Google Shape;1234;p21"/>
          <p:cNvSpPr txBox="1"/>
          <p:nvPr/>
        </p:nvSpPr>
        <p:spPr>
          <a:xfrm>
            <a:off x="1069848" y="2706624"/>
            <a:ext cx="43890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2F6B78"/>
                </a:solidFill>
                <a:latin typeface="Consolas"/>
                <a:ea typeface="Consolas"/>
                <a:cs typeface="Consolas"/>
                <a:sym typeface="Consolas"/>
              </a:rPr>
              <a:t>WHAT BURR CHECKS</a:t>
            </a:r>
            <a:endParaRPr/>
          </a:p>
        </p:txBody>
      </p:sp>
      <p:sp>
        <p:nvSpPr>
          <p:cNvPr id="1235" name="Google Shape;1235;p21"/>
          <p:cNvSpPr txBox="1"/>
          <p:nvPr/>
        </p:nvSpPr>
        <p:spPr>
          <a:xfrm>
            <a:off x="1069848" y="3035808"/>
            <a:ext cx="4389000" cy="31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500" u="none" cap="none" strike="noStrike">
                <a:solidFill>
                  <a:srgbClr val="1F2328"/>
                </a:solidFill>
                <a:latin typeface="Calibri"/>
                <a:ea typeface="Calibri"/>
                <a:cs typeface="Calibri"/>
                <a:sym typeface="Calibri"/>
              </a:rPr>
              <a:t>Every ontology element must map back to the database.</a:t>
            </a:r>
            <a:endParaRPr/>
          </a:p>
        </p:txBody>
      </p:sp>
      <p:sp>
        <p:nvSpPr>
          <p:cNvPr id="1236" name="Google Shape;1236;p21"/>
          <p:cNvSpPr txBox="1"/>
          <p:nvPr/>
        </p:nvSpPr>
        <p:spPr>
          <a:xfrm>
            <a:off x="1069848" y="3474720"/>
            <a:ext cx="10059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2F6B78"/>
                </a:solidFill>
                <a:latin typeface="Consolas"/>
                <a:ea typeface="Consolas"/>
                <a:cs typeface="Consolas"/>
                <a:sym typeface="Consolas"/>
              </a:rPr>
              <a:t>CLASSES</a:t>
            </a:r>
            <a:endParaRPr/>
          </a:p>
        </p:txBody>
      </p:sp>
      <p:sp>
        <p:nvSpPr>
          <p:cNvPr descr="database element" id="1237" name="Google Shape;1237;p21"/>
          <p:cNvSpPr/>
          <p:nvPr/>
        </p:nvSpPr>
        <p:spPr>
          <a:xfrm>
            <a:off x="2075688" y="3474720"/>
            <a:ext cx="12984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person</a:t>
            </a:r>
            <a:endParaRPr/>
          </a:p>
        </p:txBody>
      </p:sp>
      <p:sp>
        <p:nvSpPr>
          <p:cNvPr id="1238" name="Google Shape;1238;p21"/>
          <p:cNvSpPr txBox="1"/>
          <p:nvPr/>
        </p:nvSpPr>
        <p:spPr>
          <a:xfrm>
            <a:off x="3392424" y="3474720"/>
            <a:ext cx="2376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a:t>
            </a:r>
            <a:endParaRPr/>
          </a:p>
        </p:txBody>
      </p:sp>
      <p:sp>
        <p:nvSpPr>
          <p:cNvPr descr="ontology element" id="1239" name="Google Shape;1239;p21"/>
          <p:cNvSpPr/>
          <p:nvPr/>
        </p:nvSpPr>
        <p:spPr>
          <a:xfrm>
            <a:off x="3648456" y="3474720"/>
            <a:ext cx="18561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Class: </a:t>
            </a:r>
            <a:r>
              <a:rPr b="0" i="0" lang="en-US" sz="1050" u="none" cap="none" strike="noStrike">
                <a:solidFill>
                  <a:srgbClr val="1F2328"/>
                </a:solidFill>
                <a:latin typeface="Consolas"/>
                <a:ea typeface="Consolas"/>
                <a:cs typeface="Consolas"/>
                <a:sym typeface="Consolas"/>
              </a:rPr>
              <a:t>Person</a:t>
            </a:r>
            <a:endParaRPr/>
          </a:p>
        </p:txBody>
      </p:sp>
      <p:sp>
        <p:nvSpPr>
          <p:cNvPr id="1240" name="Google Shape;1240;p21"/>
          <p:cNvSpPr txBox="1"/>
          <p:nvPr/>
        </p:nvSpPr>
        <p:spPr>
          <a:xfrm>
            <a:off x="1069848" y="3895344"/>
            <a:ext cx="10059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2F6B78"/>
                </a:solidFill>
                <a:latin typeface="Consolas"/>
                <a:ea typeface="Consolas"/>
                <a:cs typeface="Consolas"/>
                <a:sym typeface="Consolas"/>
              </a:rPr>
              <a:t>RELATIONS</a:t>
            </a:r>
            <a:endParaRPr/>
          </a:p>
        </p:txBody>
      </p:sp>
      <p:sp>
        <p:nvSpPr>
          <p:cNvPr descr="database element" id="1241" name="Google Shape;1241;p21"/>
          <p:cNvSpPr/>
          <p:nvPr/>
        </p:nvSpPr>
        <p:spPr>
          <a:xfrm>
            <a:off x="2075688" y="3895344"/>
            <a:ext cx="12984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paper.author_id</a:t>
            </a:r>
            <a:endParaRPr/>
          </a:p>
        </p:txBody>
      </p:sp>
      <p:sp>
        <p:nvSpPr>
          <p:cNvPr id="1242" name="Google Shape;1242;p21"/>
          <p:cNvSpPr txBox="1"/>
          <p:nvPr/>
        </p:nvSpPr>
        <p:spPr>
          <a:xfrm>
            <a:off x="3392424" y="3895344"/>
            <a:ext cx="2376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a:t>
            </a:r>
            <a:endParaRPr/>
          </a:p>
        </p:txBody>
      </p:sp>
      <p:sp>
        <p:nvSpPr>
          <p:cNvPr descr="ontology element" id="1243" name="Google Shape;1243;p21"/>
          <p:cNvSpPr/>
          <p:nvPr/>
        </p:nvSpPr>
        <p:spPr>
          <a:xfrm>
            <a:off x="3648456" y="3895344"/>
            <a:ext cx="18561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ObjectProperty: </a:t>
            </a:r>
            <a:r>
              <a:rPr b="0" i="0" lang="en-US" sz="1050" u="none" cap="none" strike="noStrike">
                <a:solidFill>
                  <a:srgbClr val="1F2328"/>
                </a:solidFill>
                <a:latin typeface="Consolas"/>
                <a:ea typeface="Consolas"/>
                <a:cs typeface="Consolas"/>
                <a:sym typeface="Consolas"/>
              </a:rPr>
              <a:t>author</a:t>
            </a:r>
            <a:endParaRPr/>
          </a:p>
        </p:txBody>
      </p:sp>
      <p:sp>
        <p:nvSpPr>
          <p:cNvPr id="1244" name="Google Shape;1244;p21"/>
          <p:cNvSpPr txBox="1"/>
          <p:nvPr/>
        </p:nvSpPr>
        <p:spPr>
          <a:xfrm>
            <a:off x="1069848" y="4315968"/>
            <a:ext cx="10059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050" u="none" cap="none" strike="noStrike">
                <a:solidFill>
                  <a:srgbClr val="2F6B78"/>
                </a:solidFill>
                <a:latin typeface="Consolas"/>
                <a:ea typeface="Consolas"/>
                <a:cs typeface="Consolas"/>
                <a:sym typeface="Consolas"/>
              </a:rPr>
              <a:t>ATTRIBUTES</a:t>
            </a:r>
            <a:endParaRPr/>
          </a:p>
        </p:txBody>
      </p:sp>
      <p:sp>
        <p:nvSpPr>
          <p:cNvPr descr="database element" id="1245" name="Google Shape;1245;p21"/>
          <p:cNvSpPr/>
          <p:nvPr/>
        </p:nvSpPr>
        <p:spPr>
          <a:xfrm>
            <a:off x="2075688" y="4315968"/>
            <a:ext cx="12984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0" i="0" lang="en-US" sz="1050" u="none" cap="none" strike="noStrike">
                <a:solidFill>
                  <a:srgbClr val="1F2328"/>
                </a:solidFill>
                <a:latin typeface="Consolas"/>
                <a:ea typeface="Consolas"/>
                <a:cs typeface="Consolas"/>
                <a:sym typeface="Consolas"/>
              </a:rPr>
              <a:t>person.name</a:t>
            </a:r>
            <a:endParaRPr/>
          </a:p>
        </p:txBody>
      </p:sp>
      <p:sp>
        <p:nvSpPr>
          <p:cNvPr id="1246" name="Google Shape;1246;p21"/>
          <p:cNvSpPr txBox="1"/>
          <p:nvPr/>
        </p:nvSpPr>
        <p:spPr>
          <a:xfrm>
            <a:off x="3392424" y="4315968"/>
            <a:ext cx="2376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a:t>
            </a:r>
            <a:endParaRPr/>
          </a:p>
        </p:txBody>
      </p:sp>
      <p:sp>
        <p:nvSpPr>
          <p:cNvPr descr="ontology element" id="1247" name="Google Shape;1247;p21"/>
          <p:cNvSpPr/>
          <p:nvPr/>
        </p:nvSpPr>
        <p:spPr>
          <a:xfrm>
            <a:off x="3648456" y="4315968"/>
            <a:ext cx="18561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None/>
            </a:pPr>
            <a:r>
              <a:rPr b="1" i="0" lang="en-US" sz="1050" u="none" cap="none" strike="noStrike">
                <a:solidFill>
                  <a:srgbClr val="0B6E4F"/>
                </a:solidFill>
                <a:latin typeface="Consolas"/>
                <a:ea typeface="Consolas"/>
                <a:cs typeface="Consolas"/>
                <a:sym typeface="Consolas"/>
              </a:rPr>
              <a:t>DataProperty: </a:t>
            </a:r>
            <a:r>
              <a:rPr b="0" i="0" lang="en-US" sz="1050" u="none" cap="none" strike="noStrike">
                <a:solidFill>
                  <a:srgbClr val="1F2328"/>
                </a:solidFill>
                <a:latin typeface="Consolas"/>
                <a:ea typeface="Consolas"/>
                <a:cs typeface="Consolas"/>
                <a:sym typeface="Consolas"/>
              </a:rPr>
              <a:t>name</a:t>
            </a:r>
            <a:endParaRPr/>
          </a:p>
        </p:txBody>
      </p:sp>
      <p:sp>
        <p:nvSpPr>
          <p:cNvPr id="1248" name="Google Shape;1248;p21"/>
          <p:cNvSpPr txBox="1"/>
          <p:nvPr/>
        </p:nvSpPr>
        <p:spPr>
          <a:xfrm>
            <a:off x="1069848" y="4736592"/>
            <a:ext cx="4389000" cy="585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rgbClr val="3A434C"/>
                </a:solidFill>
                <a:latin typeface="Calibri"/>
                <a:ea typeface="Calibri"/>
                <a:cs typeface="Calibri"/>
                <a:sym typeface="Calibri"/>
              </a:rPr>
              <a:t>Elements match when they map to the same database elements, whatever their names. F1 per element type.</a:t>
            </a:r>
            <a:endParaRPr/>
          </a:p>
        </p:txBody>
      </p:sp>
      <p:sp>
        <p:nvSpPr>
          <p:cNvPr id="1249" name="Google Shape;1249;p21"/>
          <p:cNvSpPr txBox="1"/>
          <p:nvPr/>
        </p:nvSpPr>
        <p:spPr>
          <a:xfrm>
            <a:off x="1069848" y="5358384"/>
            <a:ext cx="4389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B6770"/>
                </a:solidFill>
                <a:latin typeface="Calibri"/>
                <a:ea typeface="Calibri"/>
                <a:cs typeface="Calibri"/>
                <a:sym typeface="Calibri"/>
              </a:rPr>
              <a:t>Illustrative elements  ·  ISWC gold mapping: D2RQ example by Bizer &amp; Seaborne</a:t>
            </a:r>
            <a:endParaRPr/>
          </a:p>
        </p:txBody>
      </p:sp>
      <p:sp>
        <p:nvSpPr>
          <p:cNvPr id="1250" name="Google Shape;1250;p21"/>
          <p:cNvSpPr txBox="1"/>
          <p:nvPr/>
        </p:nvSpPr>
        <p:spPr>
          <a:xfrm>
            <a:off x="850392" y="6382512"/>
            <a:ext cx="10488300" cy="246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One scenario  ·  9 tables · 46 columns · 11 FKs  ·  RIGOR with Claude  ·  its prov:wasDerivedFrom links exported as a D2RQ mapping  ·  Source: paper Table 13</a:t>
            </a:r>
            <a:endParaRPr/>
          </a:p>
        </p:txBody>
      </p:sp>
      <p:sp>
        <p:nvSpPr>
          <p:cNvPr id="1251" name="Ladder"/>
          <p:cNvSpPr/>
          <p:nvPr/>
        </p:nvSpPr>
        <p:spPr>
          <a:xfrm>
            <a:off x="804672" y="2103120"/>
            <a:ext cx="2042769" cy="310896"/>
          </a:xfrm>
          <a:prstGeom prst="rect">
            <a:avLst/>
          </a:prstGeom>
          <a:solidFill>
            <a:srgbClr val="E8F6EF"/>
          </a:solidFill>
          <a:ln>
            <a:noFill/>
          </a:ln>
        </p:spPr>
        <p:txBody>
          <a:bodyPr wrap="square" lIns="0" tIns="0" rIns="0" bIns="0" anchor="ctr">
            <a:noAutofit/>
          </a:bodyPr>
          <a:lstStyle/>
          <a:p>
            <a:pPr algn="ctr"/>
            <a:r>
              <a:rPr lang="en-US" sz="1000" b="1" i="0" dirty="0">
                <a:solidFill>
                  <a:srgbClr val="0B6E4F"/>
                </a:solidFill>
                <a:latin typeface="Consolas"/>
                <a:cs typeface="Consolas"/>
              </a:rPr>
              <a:t xml:space="preserve">1  VALID, FEWER ERRORS</a:t>
            </a:r>
          </a:p>
        </p:txBody>
      </p:sp>
      <p:sp>
        <p:nvSpPr>
          <p:cNvPr id="1252" name="Ladder"/>
          <p:cNvSpPr/>
          <p:nvPr/>
        </p:nvSpPr>
        <p:spPr>
          <a:xfrm>
            <a:off x="2938881" y="2103120"/>
            <a:ext cx="2042769" cy="310896"/>
          </a:xfrm>
          <a:prstGeom prst="rect">
            <a:avLst/>
          </a:prstGeom>
          <a:solidFill>
            <a:srgbClr val="E8F6EF"/>
          </a:solidFill>
          <a:ln>
            <a:noFill/>
          </a:ln>
        </p:spPr>
        <p:txBody>
          <a:bodyPr wrap="square" lIns="0" tIns="0" rIns="0" bIns="0" anchor="ctr">
            <a:noAutofit/>
          </a:bodyPr>
          <a:lstStyle/>
          <a:p>
            <a:pPr algn="ctr"/>
            <a:r>
              <a:rPr lang="en-US" sz="1000" b="1" i="0" dirty="0">
                <a:solidFill>
                  <a:srgbClr val="0B6E4F"/>
                </a:solidFill>
                <a:latin typeface="Consolas"/>
                <a:cs typeface="Consolas"/>
              </a:rPr>
              <a:t xml:space="preserve">2  KEEPS THE SCHEMA</a:t>
            </a:r>
          </a:p>
        </p:txBody>
      </p:sp>
      <p:sp>
        <p:nvSpPr>
          <p:cNvPr id="1253" name="Ladder"/>
          <p:cNvSpPr/>
          <p:nvPr/>
        </p:nvSpPr>
        <p:spPr>
          <a:xfrm>
            <a:off x="5073091" y="2103120"/>
            <a:ext cx="2042769" cy="310896"/>
          </a:xfrm>
          <a:prstGeom prst="rect">
            <a:avLst/>
          </a:prstGeom>
          <a:solidFill>
            <a:srgbClr val="E8F6EF"/>
          </a:solidFill>
          <a:ln>
            <a:noFill/>
          </a:ln>
        </p:spPr>
        <p:txBody>
          <a:bodyPr wrap="square" lIns="0" tIns="0" rIns="0" bIns="0" anchor="ctr">
            <a:noAutofit/>
          </a:bodyPr>
          <a:lstStyle/>
          <a:p>
            <a:pPr algn="ctr"/>
            <a:r>
              <a:rPr lang="en-US" sz="1000" b="1" i="0" dirty="0">
                <a:solidFill>
                  <a:srgbClr val="0B6E4F"/>
                </a:solidFill>
                <a:latin typeface="Consolas"/>
                <a:cs typeface="Consolas"/>
              </a:rPr>
              <a:t xml:space="preserve">3  ADDS MEANING</a:t>
            </a:r>
          </a:p>
        </p:txBody>
      </p:sp>
      <p:sp>
        <p:nvSpPr>
          <p:cNvPr id="1254" name="Ladder"/>
          <p:cNvSpPr/>
          <p:nvPr/>
        </p:nvSpPr>
        <p:spPr>
          <a:xfrm>
            <a:off x="7207300" y="2103120"/>
            <a:ext cx="2042769" cy="310896"/>
          </a:xfrm>
          <a:prstGeom prst="rect">
            <a:avLst/>
          </a:prstGeom>
          <a:solidFill>
            <a:srgbClr val="0B6E4F"/>
          </a:solidFill>
          <a:ln>
            <a:noFill/>
          </a:ln>
        </p:spPr>
        <p:txBody>
          <a:bodyPr wrap="square" lIns="0" tIns="0" rIns="0" bIns="0" anchor="ctr">
            <a:noAutofit/>
          </a:bodyPr>
          <a:lstStyle/>
          <a:p>
            <a:pPr algn="ctr"/>
            <a:r>
              <a:rPr lang="en-US" sz="1000" b="1" i="0" dirty="0">
                <a:solidFill>
                  <a:srgbClr val="FFFFFF"/>
                </a:solidFill>
                <a:latin typeface="Consolas"/>
                <a:cs typeface="Consolas"/>
              </a:rPr>
              <a:t xml:space="preserve">4  GOLD MAPPINGS</a:t>
            </a:r>
          </a:p>
        </p:txBody>
      </p:sp>
      <p:sp>
        <p:nvSpPr>
          <p:cNvPr id="1255" name="Ladder"/>
          <p:cNvSpPr/>
          <p:nvPr/>
        </p:nvSpPr>
        <p:spPr>
          <a:xfrm>
            <a:off x="9341510" y="2103120"/>
            <a:ext cx="2042769" cy="310896"/>
          </a:xfrm>
          <a:prstGeom prst="rect">
            <a:avLst/>
          </a:prstGeom>
          <a:solidFill>
            <a:srgbClr val="FFFFFF"/>
          </a:solidFill>
          <a:ln w="9525">
            <a:solidFill>
              <a:srgbClr val="D9DEDB"/>
            </a:solidFill>
          </a:ln>
        </p:spPr>
        <p:txBody>
          <a:bodyPr wrap="square" lIns="0" tIns="0" rIns="0" bIns="0" anchor="ctr">
            <a:noAutofit/>
          </a:bodyPr>
          <a:lstStyle/>
          <a:p>
            <a:pPr algn="ctr"/>
            <a:r>
              <a:rPr lang="en-US" sz="1000" b="1" i="0" dirty="0">
                <a:solidFill>
                  <a:srgbClr val="6B747B"/>
                </a:solidFill>
                <a:latin typeface="Consolas"/>
                <a:cs typeface="Consolas"/>
              </a:rPr>
              <a:t xml:space="preserve">5  JUDGES</a:t>
            </a:r>
          </a:p>
        </p:txBody>
      </p:sp>
      <p:sp>
        <p:nvSpPr>
          <p:cNvPr id="1256" name="Strip"/>
          <p:cNvSpPr/>
          <p:nvPr/>
        </p:nvSpPr>
        <p:spPr>
          <a:xfrm>
            <a:off x="804672" y="5879592"/>
            <a:ext cx="10579608" cy="420624"/>
          </a:xfrm>
          <a:prstGeom prst="roundRect">
            <a:avLst>
              <a:gd name="adj" fmla="val 12000"/>
            </a:avLst>
          </a:prstGeom>
          <a:solidFill>
            <a:srgbClr val="E6F2EC"/>
          </a:solidFill>
          <a:ln>
            <a:noFill/>
          </a:ln>
        </p:spPr>
        <p:txBody>
          <a:bodyPr wrap="square" lIns="201168" tIns="0" rIns="201168" bIns="0" anchor="ctr">
            <a:noAutofit/>
          </a:bodyPr>
          <a:lstStyle/>
          <a:p>
            <a:pPr algn="l"/>
            <a:r>
              <a:rPr lang="en-US" sz="1400" b="1" i="0" dirty="0">
                <a:solidFill>
                  <a:srgbClr val="1F2328"/>
                </a:solidFill>
                <a:latin typeface="Calibri"/>
                <a:cs typeface="Calibri"/>
              </a:rPr>
              <a:t xml:space="preserve">Relations: 0.67 vs 0.11</a:t>
            </a:r>
            <a:r>
              <a:rPr lang="en-US" sz="1400" b="0" i="0" dirty="0">
                <a:solidFill>
                  <a:srgbClr val="3A434C"/>
                </a:solidFill>
                <a:latin typeface="Calibri"/>
                <a:cs typeface="Calibri"/>
              </a:rPr>
              <a:t xml:space="preserve"> for W3C-Mapper / Ontop. Foreign keys become named relations, like hasPatientData.</a:t>
            </a: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5" name="Shape 1255"/>
        <p:cNvGrpSpPr/>
        <p:nvPr/>
      </p:nvGrpSpPr>
      <p:grpSpPr>
        <a:xfrm>
          <a:off x="0" y="0"/>
          <a:ext cx="0" cy="0"/>
          <a:chOff x="0" y="0"/>
          <a:chExt cx="0" cy="0"/>
        </a:xfrm>
      </p:grpSpPr>
      <p:sp>
        <p:nvSpPr>
          <p:cNvPr id="1256" name="Google Shape;1256;p19"/>
          <p:cNvSpPr txBox="1"/>
          <p:nvPr/>
        </p:nvSpPr>
        <p:spPr>
          <a:xfrm>
            <a:off x="804672" y="512064"/>
            <a:ext cx="10753344" cy="310896"/>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RESULT 5  /  LLM JUDGE AND HUMAN EXPERTS</a:t>
            </a:r>
            <a:endParaRPr b="0" i="0" sz="1400" u="none" cap="none" strike="noStrike">
              <a:solidFill>
                <a:srgbClr val="000000"/>
              </a:solidFill>
              <a:latin typeface="Arial"/>
              <a:ea typeface="Arial"/>
              <a:cs typeface="Arial"/>
              <a:sym typeface="Arial"/>
            </a:endParaRPr>
          </a:p>
        </p:txBody>
      </p:sp>
      <p:sp>
        <p:nvSpPr>
          <p:cNvPr id="1257" name="Google Shape;1257;p19"/>
          <p:cNvSpPr txBox="1"/>
          <p:nvPr/>
        </p:nvSpPr>
        <p:spPr>
          <a:xfrm>
            <a:off x="804672" y="914400"/>
            <a:ext cx="10762488" cy="667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An LLM judge and human experts both rank RIGOR first.</a:t>
            </a:r>
            <a:endParaRPr b="0" i="0" sz="1400" u="none" cap="none" strike="noStrike">
              <a:solidFill>
                <a:srgbClr val="000000"/>
              </a:solidFill>
              <a:latin typeface="Arial"/>
              <a:ea typeface="Arial"/>
              <a:cs typeface="Arial"/>
              <a:sym typeface="Arial"/>
            </a:endParaRPr>
          </a:p>
        </p:txBody>
      </p:sp>
      <p:sp>
        <p:nvSpPr>
          <p:cNvPr id="1258" name="Subtitle"/>
          <p:cNvSpPr txBox="1"/>
          <p:nvPr/>
        </p:nvSpPr>
        <p:spPr>
          <a:xfrm>
            <a:off x="822960" y="1645920"/>
            <a:ext cx="10680192" cy="329184"/>
          </a:xfrm>
          <a:prstGeom prst="rect">
            <a:avLst/>
          </a:prstGeom>
          <a:noFill/>
          <a:ln>
            <a:noFill/>
          </a:ln>
        </p:spPr>
        <p:txBody>
          <a:bodyPr wrap="square" lIns="0" tIns="0" rIns="0" bIns="0" anchor="t">
            <a:noAutofit/>
          </a:bodyPr>
          <a:lstStyle/>
          <a:p>
            <a:pPr algn="l"/>
            <a:r>
              <a:rPr lang="en-US" sz="1600" b="0" i="0" dirty="0">
                <a:solidFill>
                  <a:srgbClr val="3A434C"/>
                </a:solidFill>
                <a:latin typeface="Calibri"/>
                <a:cs typeface="Calibri"/>
              </a:rPr>
              <a:t xml:space="preserve">Blind evaluation: nobody knew which ontology came from which method.</a:t>
            </a:r>
          </a:p>
        </p:txBody>
      </p:sp>
      <p:sp>
        <p:nvSpPr>
          <p:cNvPr id="1259" name="Ladder"/>
          <p:cNvSpPr/>
          <p:nvPr/>
        </p:nvSpPr>
        <p:spPr>
          <a:xfrm>
            <a:off x="804672" y="2103120"/>
            <a:ext cx="2042769" cy="310896"/>
          </a:xfrm>
          <a:prstGeom prst="rect">
            <a:avLst/>
          </a:prstGeom>
          <a:solidFill>
            <a:srgbClr val="E8F6EF"/>
          </a:solidFill>
          <a:ln>
            <a:noFill/>
          </a:ln>
        </p:spPr>
        <p:txBody>
          <a:bodyPr wrap="square" lIns="0" tIns="0" rIns="0" bIns="0" anchor="ctr">
            <a:noAutofit/>
          </a:bodyPr>
          <a:lstStyle/>
          <a:p>
            <a:pPr algn="ctr"/>
            <a:r>
              <a:rPr lang="en-US" sz="1000" b="1" i="0" dirty="0">
                <a:solidFill>
                  <a:srgbClr val="0B6E4F"/>
                </a:solidFill>
                <a:latin typeface="Consolas"/>
                <a:cs typeface="Consolas"/>
              </a:rPr>
              <a:t xml:space="preserve">1  VALID, FEWER ERRORS</a:t>
            </a:r>
          </a:p>
        </p:txBody>
      </p:sp>
      <p:sp>
        <p:nvSpPr>
          <p:cNvPr id="1260" name="Ladder"/>
          <p:cNvSpPr/>
          <p:nvPr/>
        </p:nvSpPr>
        <p:spPr>
          <a:xfrm>
            <a:off x="2938881" y="2103120"/>
            <a:ext cx="2042769" cy="310896"/>
          </a:xfrm>
          <a:prstGeom prst="rect">
            <a:avLst/>
          </a:prstGeom>
          <a:solidFill>
            <a:srgbClr val="E8F6EF"/>
          </a:solidFill>
          <a:ln>
            <a:noFill/>
          </a:ln>
        </p:spPr>
        <p:txBody>
          <a:bodyPr wrap="square" lIns="0" tIns="0" rIns="0" bIns="0" anchor="ctr">
            <a:noAutofit/>
          </a:bodyPr>
          <a:lstStyle/>
          <a:p>
            <a:pPr algn="ctr"/>
            <a:r>
              <a:rPr lang="en-US" sz="1000" b="1" i="0" dirty="0">
                <a:solidFill>
                  <a:srgbClr val="0B6E4F"/>
                </a:solidFill>
                <a:latin typeface="Consolas"/>
                <a:cs typeface="Consolas"/>
              </a:rPr>
              <a:t xml:space="preserve">2  KEEPS THE SCHEMA</a:t>
            </a:r>
          </a:p>
        </p:txBody>
      </p:sp>
      <p:sp>
        <p:nvSpPr>
          <p:cNvPr id="1261" name="Ladder"/>
          <p:cNvSpPr/>
          <p:nvPr/>
        </p:nvSpPr>
        <p:spPr>
          <a:xfrm>
            <a:off x="5073091" y="2103120"/>
            <a:ext cx="2042769" cy="310896"/>
          </a:xfrm>
          <a:prstGeom prst="rect">
            <a:avLst/>
          </a:prstGeom>
          <a:solidFill>
            <a:srgbClr val="E8F6EF"/>
          </a:solidFill>
          <a:ln>
            <a:noFill/>
          </a:ln>
        </p:spPr>
        <p:txBody>
          <a:bodyPr wrap="square" lIns="0" tIns="0" rIns="0" bIns="0" anchor="ctr">
            <a:noAutofit/>
          </a:bodyPr>
          <a:lstStyle/>
          <a:p>
            <a:pPr algn="ctr"/>
            <a:r>
              <a:rPr lang="en-US" sz="1000" b="1" i="0" dirty="0">
                <a:solidFill>
                  <a:srgbClr val="0B6E4F"/>
                </a:solidFill>
                <a:latin typeface="Consolas"/>
                <a:cs typeface="Consolas"/>
              </a:rPr>
              <a:t xml:space="preserve">3  ADDS MEANING</a:t>
            </a:r>
          </a:p>
        </p:txBody>
      </p:sp>
      <p:sp>
        <p:nvSpPr>
          <p:cNvPr id="1262" name="Ladder"/>
          <p:cNvSpPr/>
          <p:nvPr/>
        </p:nvSpPr>
        <p:spPr>
          <a:xfrm>
            <a:off x="7207300" y="2103120"/>
            <a:ext cx="2042769" cy="310896"/>
          </a:xfrm>
          <a:prstGeom prst="rect">
            <a:avLst/>
          </a:prstGeom>
          <a:solidFill>
            <a:srgbClr val="E8F6EF"/>
          </a:solidFill>
          <a:ln>
            <a:noFill/>
          </a:ln>
        </p:spPr>
        <p:txBody>
          <a:bodyPr wrap="square" lIns="0" tIns="0" rIns="0" bIns="0" anchor="ctr">
            <a:noAutofit/>
          </a:bodyPr>
          <a:lstStyle/>
          <a:p>
            <a:pPr algn="ctr"/>
            <a:r>
              <a:rPr lang="en-US" sz="1000" b="1" i="0" dirty="0">
                <a:solidFill>
                  <a:srgbClr val="0B6E4F"/>
                </a:solidFill>
                <a:latin typeface="Consolas"/>
                <a:cs typeface="Consolas"/>
              </a:rPr>
              <a:t xml:space="preserve">4  GOLD MAPPINGS</a:t>
            </a:r>
          </a:p>
        </p:txBody>
      </p:sp>
      <p:sp>
        <p:nvSpPr>
          <p:cNvPr id="1263" name="Ladder"/>
          <p:cNvSpPr/>
          <p:nvPr/>
        </p:nvSpPr>
        <p:spPr>
          <a:xfrm>
            <a:off x="9341510" y="2103120"/>
            <a:ext cx="2042769" cy="310896"/>
          </a:xfrm>
          <a:prstGeom prst="rect">
            <a:avLst/>
          </a:prstGeom>
          <a:solidFill>
            <a:srgbClr val="0B6E4F"/>
          </a:solidFill>
          <a:ln>
            <a:noFill/>
          </a:ln>
        </p:spPr>
        <p:txBody>
          <a:bodyPr wrap="square" lIns="0" tIns="0" rIns="0" bIns="0" anchor="ctr">
            <a:noAutofit/>
          </a:bodyPr>
          <a:lstStyle/>
          <a:p>
            <a:pPr algn="ctr"/>
            <a:r>
              <a:rPr lang="en-US" sz="1000" b="1" i="0" dirty="0">
                <a:solidFill>
                  <a:srgbClr val="FFFFFF"/>
                </a:solidFill>
                <a:latin typeface="Consolas"/>
                <a:cs typeface="Consolas"/>
              </a:rPr>
              <a:t xml:space="preserve">5  JUDGES</a:t>
            </a:r>
          </a:p>
        </p:txBody>
      </p:sp>
      <p:sp>
        <p:nvSpPr>
          <p:cNvPr id="1264" name="How"/>
          <p:cNvSpPr/>
          <p:nvPr/>
        </p:nvSpPr>
        <p:spPr>
          <a:xfrm>
            <a:off x="804672" y="2606040"/>
            <a:ext cx="10579608" cy="658368"/>
          </a:xfrm>
          <a:prstGeom prst="roundRect">
            <a:avLst>
              <a:gd name="adj" fmla="val 12000"/>
            </a:avLst>
          </a:prstGeom>
          <a:solidFill>
            <a:srgbClr val="FFFFFF"/>
          </a:solidFill>
          <a:ln w="9525">
            <a:solidFill>
              <a:srgbClr val="D9DEDB"/>
            </a:solidFill>
          </a:ln>
        </p:spPr>
        <p:txBody>
          <a:bodyPr wrap="square" lIns="201168" tIns="0" rIns="201168" bIns="0" anchor="ctr">
            <a:noAutofit/>
          </a:bodyPr>
          <a:lstStyle/>
          <a:p>
            <a:pPr algn="l"/>
            <a:r>
              <a:rPr lang="en-US" sz="1150" b="1" i="0" dirty="0">
                <a:solidFill>
                  <a:srgbClr val="2F6B78"/>
                </a:solidFill>
                <a:latin typeface="Consolas"/>
                <a:cs typeface="Consolas"/>
              </a:rPr>
              <a:t xml:space="preserve">HOW THEY JUDGED   </a:t>
            </a:r>
            <a:r>
              <a:rPr lang="en-US" sz="1200" b="0" i="0" dirty="0">
                <a:solidFill>
                  <a:srgbClr val="3A434C"/>
                </a:solidFill>
                <a:latin typeface="Calibri"/>
                <a:cs typeface="Calibri"/>
              </a:rPr>
              <a:t xml:space="preserve">For each table: its schema, its 5 competency questions (what the ontology must answer) and four anonymized ontologies. Each scored 0–5 on accuracy, completeness, conciseness, adaptability, clarity, consistency and domain enrichment, then ranked 1st–4th.</a:t>
            </a:r>
          </a:p>
        </p:txBody>
      </p:sp>
      <p:sp>
        <p:nvSpPr>
          <p:cNvPr id="1265" name="Card"/>
          <p:cNvSpPr/>
          <p:nvPr/>
        </p:nvSpPr>
        <p:spPr>
          <a:xfrm>
            <a:off x="804672" y="3355848"/>
            <a:ext cx="5760720" cy="2404872"/>
          </a:xfrm>
          <a:prstGeom prst="roundRect">
            <a:avLst>
              <a:gd name="adj" fmla="val 12000"/>
            </a:avLst>
          </a:prstGeom>
          <a:solidFill>
            <a:srgbClr val="F3F5F4"/>
          </a:solidFill>
          <a:ln w="9525">
            <a:solidFill>
              <a:srgbClr val="D9DEDB"/>
            </a:solidFill>
          </a:ln>
        </p:spPr>
        <p:txBody>
          <a:bodyPr wrap="square" lIns="0" tIns="0" rIns="0" bIns="0" anchor="t">
            <a:noAutofit/>
          </a:bodyPr>
          <a:lstStyle/>
          <a:p>
            <a:pPr algn="l"/>
          </a:p>
        </p:txBody>
      </p:sp>
      <p:sp>
        <p:nvSpPr>
          <p:cNvPr id="1266" name="Card label"/>
          <p:cNvSpPr txBox="1"/>
          <p:nvPr/>
        </p:nvSpPr>
        <p:spPr>
          <a:xfrm>
            <a:off x="1078992" y="3538728"/>
            <a:ext cx="5212080" cy="274320"/>
          </a:xfrm>
          <a:prstGeom prst="rect">
            <a:avLst/>
          </a:prstGeom>
          <a:noFill/>
          <a:ln>
            <a:noFill/>
          </a:ln>
        </p:spPr>
        <p:txBody>
          <a:bodyPr wrap="square" lIns="0" tIns="0" rIns="0" bIns="0" anchor="t">
            <a:noAutofit/>
          </a:bodyPr>
          <a:lstStyle/>
          <a:p>
            <a:pPr algn="l"/>
            <a:r>
              <a:rPr lang="en-US" sz="1300" b="1" i="0" dirty="0">
                <a:solidFill>
                  <a:srgbClr val="2F6B78"/>
                </a:solidFill>
                <a:latin typeface="Consolas"/>
                <a:cs typeface="Consolas"/>
              </a:rPr>
              <a:t xml:space="preserve">LLM-AS-A-JUDGE  ·  GPT-5.4</a:t>
            </a:r>
          </a:p>
        </p:txBody>
      </p:sp>
      <p:sp>
        <p:nvSpPr>
          <p:cNvPr id="1267" name="Claim"/>
          <p:cNvSpPr txBox="1"/>
          <p:nvPr/>
        </p:nvSpPr>
        <p:spPr>
          <a:xfrm>
            <a:off x="1078992" y="3794760"/>
            <a:ext cx="5212080" cy="365760"/>
          </a:xfrm>
          <a:prstGeom prst="rect">
            <a:avLst/>
          </a:prstGeom>
          <a:noFill/>
          <a:ln>
            <a:noFill/>
          </a:ln>
        </p:spPr>
        <p:txBody>
          <a:bodyPr wrap="square" lIns="0" tIns="0" rIns="0" bIns="0" anchor="ctr">
            <a:noAutofit/>
          </a:bodyPr>
          <a:lstStyle/>
          <a:p>
            <a:pPr algn="l"/>
            <a:r>
              <a:rPr lang="en-US" sz="1800" b="1" i="0" dirty="0">
                <a:solidFill>
                  <a:srgbClr val="0B6E4F"/>
                </a:solidFill>
                <a:latin typeface="Calibri"/>
                <a:cs typeface="Calibri"/>
              </a:rPr>
              <a:t xml:space="preserve">Ranked RIGOR first every time</a:t>
            </a:r>
          </a:p>
        </p:txBody>
      </p:sp>
      <p:sp>
        <p:nvSpPr>
          <p:cNvPr id="1268" name="Database"/>
          <p:cNvSpPr txBox="1"/>
          <p:nvPr/>
        </p:nvSpPr>
        <p:spPr>
          <a:xfrm>
            <a:off x="2542032" y="4251960"/>
            <a:ext cx="1243584" cy="219456"/>
          </a:xfrm>
          <a:prstGeom prst="rect">
            <a:avLst/>
          </a:prstGeom>
          <a:noFill/>
          <a:ln>
            <a:noFill/>
          </a:ln>
        </p:spPr>
        <p:txBody>
          <a:bodyPr wrap="square" lIns="0" tIns="0" rIns="0" bIns="0" anchor="ctr">
            <a:noAutofit/>
          </a:bodyPr>
          <a:lstStyle/>
          <a:p>
            <a:pPr algn="ctr"/>
            <a:r>
              <a:rPr lang="en-US" sz="1100" b="1" i="0" dirty="0">
                <a:solidFill>
                  <a:srgbClr val="1F2328"/>
                </a:solidFill>
                <a:latin typeface="Calibri"/>
                <a:cs typeface="Calibri"/>
              </a:rPr>
              <a:t xml:space="preserve">Liver Cancer</a:t>
            </a:r>
          </a:p>
        </p:txBody>
      </p:sp>
      <p:sp>
        <p:nvSpPr>
          <p:cNvPr id="1269" name="Database"/>
          <p:cNvSpPr txBox="1"/>
          <p:nvPr/>
        </p:nvSpPr>
        <p:spPr>
          <a:xfrm>
            <a:off x="3785615" y="4251960"/>
            <a:ext cx="1243584" cy="219456"/>
          </a:xfrm>
          <a:prstGeom prst="rect">
            <a:avLst/>
          </a:prstGeom>
          <a:noFill/>
          <a:ln>
            <a:noFill/>
          </a:ln>
        </p:spPr>
        <p:txBody>
          <a:bodyPr wrap="square" lIns="0" tIns="0" rIns="0" bIns="0" anchor="ctr">
            <a:noAutofit/>
          </a:bodyPr>
          <a:lstStyle/>
          <a:p>
            <a:pPr algn="ctr"/>
            <a:r>
              <a:rPr lang="en-US" sz="1100" b="1" i="0" dirty="0">
                <a:solidFill>
                  <a:srgbClr val="1F2328"/>
                </a:solidFill>
                <a:latin typeface="Calibri"/>
                <a:cs typeface="Calibri"/>
              </a:rPr>
              <a:t xml:space="preserve">eICU-CRD</a:t>
            </a:r>
          </a:p>
        </p:txBody>
      </p:sp>
      <p:sp>
        <p:nvSpPr>
          <p:cNvPr id="1270" name="Database"/>
          <p:cNvSpPr txBox="1"/>
          <p:nvPr/>
        </p:nvSpPr>
        <p:spPr>
          <a:xfrm>
            <a:off x="5029200" y="4251960"/>
            <a:ext cx="1243584" cy="219456"/>
          </a:xfrm>
          <a:prstGeom prst="rect">
            <a:avLst/>
          </a:prstGeom>
          <a:noFill/>
          <a:ln>
            <a:noFill/>
          </a:ln>
        </p:spPr>
        <p:txBody>
          <a:bodyPr wrap="square" lIns="0" tIns="0" rIns="0" bIns="0" anchor="ctr">
            <a:noAutofit/>
          </a:bodyPr>
          <a:lstStyle/>
          <a:p>
            <a:pPr algn="ctr"/>
            <a:r>
              <a:rPr lang="en-US" sz="1100" b="1" i="0" dirty="0">
                <a:solidFill>
                  <a:srgbClr val="1F2328"/>
                </a:solidFill>
                <a:latin typeface="Calibri"/>
                <a:cs typeface="Calibri"/>
              </a:rPr>
              <a:t xml:space="preserve">Chinook</a:t>
            </a:r>
          </a:p>
        </p:txBody>
      </p:sp>
      <p:sp>
        <p:nvSpPr>
          <p:cNvPr id="1271" name="Method"/>
          <p:cNvSpPr txBox="1"/>
          <p:nvPr/>
        </p:nvSpPr>
        <p:spPr>
          <a:xfrm>
            <a:off x="1033271" y="4507992"/>
            <a:ext cx="1508760" cy="292608"/>
          </a:xfrm>
          <a:prstGeom prst="rect">
            <a:avLst/>
          </a:prstGeom>
          <a:noFill/>
          <a:ln>
            <a:noFill/>
          </a:ln>
        </p:spPr>
        <p:txBody>
          <a:bodyPr wrap="square" lIns="0" tIns="0" rIns="0" bIns="0" anchor="ctr">
            <a:noAutofit/>
          </a:bodyPr>
          <a:lstStyle/>
          <a:p>
            <a:pPr algn="l"/>
            <a:r>
              <a:rPr lang="en-US" sz="1200" b="0" i="0" dirty="0">
                <a:solidFill>
                  <a:srgbClr val="1F2328"/>
                </a:solidFill>
                <a:latin typeface="Calibri"/>
                <a:cs typeface="Calibri"/>
              </a:rPr>
              <a:t xml:space="preserve">Direct Mapping</a:t>
            </a:r>
          </a:p>
        </p:txBody>
      </p:sp>
      <p:sp>
        <p:nvSpPr>
          <p:cNvPr id="1272" name="Cell"/>
          <p:cNvSpPr/>
          <p:nvPr/>
        </p:nvSpPr>
        <p:spPr>
          <a:xfrm>
            <a:off x="2560320" y="4526280"/>
            <a:ext cx="1207008" cy="256032"/>
          </a:xfrm>
          <a:prstGeom prst="rect">
            <a:avLst/>
          </a:prstGeom>
          <a:solidFill>
            <a:srgbClr val="F1F3F2"/>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2.05</a:t>
            </a:r>
          </a:p>
        </p:txBody>
      </p:sp>
      <p:sp>
        <p:nvSpPr>
          <p:cNvPr id="1273" name="Cell"/>
          <p:cNvSpPr/>
          <p:nvPr/>
        </p:nvSpPr>
        <p:spPr>
          <a:xfrm>
            <a:off x="3803903" y="4526280"/>
            <a:ext cx="1207008" cy="256032"/>
          </a:xfrm>
          <a:prstGeom prst="rect">
            <a:avLst/>
          </a:prstGeom>
          <a:solidFill>
            <a:srgbClr val="F1F3F2"/>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2.13</a:t>
            </a:r>
          </a:p>
        </p:txBody>
      </p:sp>
      <p:sp>
        <p:nvSpPr>
          <p:cNvPr id="1274" name="Cell"/>
          <p:cNvSpPr/>
          <p:nvPr/>
        </p:nvSpPr>
        <p:spPr>
          <a:xfrm>
            <a:off x="5047488" y="4526280"/>
            <a:ext cx="1207008" cy="256032"/>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0.13</a:t>
            </a:r>
          </a:p>
        </p:txBody>
      </p:sp>
      <p:sp>
        <p:nvSpPr>
          <p:cNvPr id="1275" name="Method"/>
          <p:cNvSpPr txBox="1"/>
          <p:nvPr/>
        </p:nvSpPr>
        <p:spPr>
          <a:xfrm>
            <a:off x="1033271" y="4800600"/>
            <a:ext cx="1508760" cy="292608"/>
          </a:xfrm>
          <a:prstGeom prst="rect">
            <a:avLst/>
          </a:prstGeom>
          <a:noFill/>
          <a:ln>
            <a:noFill/>
          </a:ln>
        </p:spPr>
        <p:txBody>
          <a:bodyPr wrap="square" lIns="0" tIns="0" rIns="0" bIns="0" anchor="ctr">
            <a:noAutofit/>
          </a:bodyPr>
          <a:lstStyle/>
          <a:p>
            <a:pPr algn="l"/>
            <a:r>
              <a:rPr lang="en-US" sz="1200" b="0" i="0" dirty="0">
                <a:solidFill>
                  <a:srgbClr val="1F2328"/>
                </a:solidFill>
                <a:latin typeface="Calibri"/>
                <a:cs typeface="Calibri"/>
              </a:rPr>
              <a:t xml:space="preserve">LLM baseline</a:t>
            </a:r>
          </a:p>
        </p:txBody>
      </p:sp>
      <p:sp>
        <p:nvSpPr>
          <p:cNvPr id="1276" name="Cell"/>
          <p:cNvSpPr/>
          <p:nvPr/>
        </p:nvSpPr>
        <p:spPr>
          <a:xfrm>
            <a:off x="2560320" y="4818888"/>
            <a:ext cx="1207008" cy="256032"/>
          </a:xfrm>
          <a:prstGeom prst="rect">
            <a:avLst/>
          </a:prstGeom>
          <a:solidFill>
            <a:srgbClr val="F6DAD3"/>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1.38</a:t>
            </a:r>
          </a:p>
        </p:txBody>
      </p:sp>
      <p:sp>
        <p:nvSpPr>
          <p:cNvPr id="1277" name="Cell"/>
          <p:cNvSpPr/>
          <p:nvPr/>
        </p:nvSpPr>
        <p:spPr>
          <a:xfrm>
            <a:off x="3803903" y="4818888"/>
            <a:ext cx="1207008" cy="256032"/>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0.28</a:t>
            </a:r>
          </a:p>
        </p:txBody>
      </p:sp>
      <p:sp>
        <p:nvSpPr>
          <p:cNvPr id="1278" name="Cell"/>
          <p:cNvSpPr/>
          <p:nvPr/>
        </p:nvSpPr>
        <p:spPr>
          <a:xfrm>
            <a:off x="5047488" y="4818888"/>
            <a:ext cx="1207008" cy="256032"/>
          </a:xfrm>
          <a:prstGeom prst="rect">
            <a:avLst/>
          </a:prstGeom>
          <a:solidFill>
            <a:srgbClr val="F6DAD3"/>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1.48</a:t>
            </a:r>
          </a:p>
        </p:txBody>
      </p:sp>
      <p:sp>
        <p:nvSpPr>
          <p:cNvPr id="1279" name="Method"/>
          <p:cNvSpPr txBox="1"/>
          <p:nvPr/>
        </p:nvSpPr>
        <p:spPr>
          <a:xfrm>
            <a:off x="1033271" y="5093208"/>
            <a:ext cx="1508760" cy="292608"/>
          </a:xfrm>
          <a:prstGeom prst="rect">
            <a:avLst/>
          </a:prstGeom>
          <a:noFill/>
          <a:ln>
            <a:noFill/>
          </a:ln>
        </p:spPr>
        <p:txBody>
          <a:bodyPr wrap="square" lIns="0" tIns="0" rIns="0" bIns="0" anchor="ctr">
            <a:noAutofit/>
          </a:bodyPr>
          <a:lstStyle/>
          <a:p>
            <a:pPr algn="l"/>
            <a:r>
              <a:rPr lang="en-US" sz="1200" b="0" i="0" dirty="0">
                <a:solidFill>
                  <a:srgbClr val="1F2328"/>
                </a:solidFill>
                <a:latin typeface="Calibri"/>
                <a:cs typeface="Calibri"/>
              </a:rPr>
              <a:t xml:space="preserve">Non-Iterative RAG</a:t>
            </a:r>
          </a:p>
        </p:txBody>
      </p:sp>
      <p:sp>
        <p:nvSpPr>
          <p:cNvPr id="1280" name="Cell"/>
          <p:cNvSpPr/>
          <p:nvPr/>
        </p:nvSpPr>
        <p:spPr>
          <a:xfrm>
            <a:off x="2560320" y="5111496"/>
            <a:ext cx="1207008" cy="256032"/>
          </a:xfrm>
          <a:prstGeom prst="rect">
            <a:avLst/>
          </a:prstGeom>
          <a:solidFill>
            <a:srgbClr val="F6DAD3"/>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1.89</a:t>
            </a:r>
          </a:p>
        </p:txBody>
      </p:sp>
      <p:sp>
        <p:nvSpPr>
          <p:cNvPr id="1281" name="Cell"/>
          <p:cNvSpPr/>
          <p:nvPr/>
        </p:nvSpPr>
        <p:spPr>
          <a:xfrm>
            <a:off x="3803903" y="5111496"/>
            <a:ext cx="1207008" cy="256032"/>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0.67</a:t>
            </a:r>
          </a:p>
        </p:txBody>
      </p:sp>
      <p:sp>
        <p:nvSpPr>
          <p:cNvPr id="1282" name="Cell"/>
          <p:cNvSpPr/>
          <p:nvPr/>
        </p:nvSpPr>
        <p:spPr>
          <a:xfrm>
            <a:off x="5047488" y="5111496"/>
            <a:ext cx="1207008" cy="256032"/>
          </a:xfrm>
          <a:prstGeom prst="rect">
            <a:avLst/>
          </a:prstGeom>
          <a:solidFill>
            <a:srgbClr val="F1F3F2"/>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2.77</a:t>
            </a:r>
          </a:p>
        </p:txBody>
      </p:sp>
      <p:sp>
        <p:nvSpPr>
          <p:cNvPr id="1283" name="Method"/>
          <p:cNvSpPr txBox="1"/>
          <p:nvPr/>
        </p:nvSpPr>
        <p:spPr>
          <a:xfrm>
            <a:off x="1033271" y="5385816"/>
            <a:ext cx="1508760" cy="292608"/>
          </a:xfrm>
          <a:prstGeom prst="rect">
            <a:avLst/>
          </a:prstGeom>
          <a:noFill/>
          <a:ln>
            <a:noFill/>
          </a:ln>
        </p:spPr>
        <p:txBody>
          <a:bodyPr wrap="square" lIns="0" tIns="0" rIns="0" bIns="0" anchor="ctr">
            <a:noAutofit/>
          </a:bodyPr>
          <a:lstStyle/>
          <a:p>
            <a:pPr algn="l"/>
            <a:r>
              <a:rPr lang="en-US" sz="1200" b="1" i="0" dirty="0">
                <a:solidFill>
                  <a:srgbClr val="0B6E4F"/>
                </a:solidFill>
                <a:latin typeface="Calibri"/>
                <a:cs typeface="Calibri"/>
              </a:rPr>
              <a:t xml:space="preserve">RIGOR</a:t>
            </a:r>
          </a:p>
        </p:txBody>
      </p:sp>
      <p:sp>
        <p:nvSpPr>
          <p:cNvPr id="1284" name="Cell"/>
          <p:cNvSpPr/>
          <p:nvPr/>
        </p:nvSpPr>
        <p:spPr>
          <a:xfrm>
            <a:off x="2560320" y="5404104"/>
            <a:ext cx="1207008" cy="256032"/>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3.93</a:t>
            </a:r>
          </a:p>
        </p:txBody>
      </p:sp>
      <p:sp>
        <p:nvSpPr>
          <p:cNvPr id="1285" name="Cell"/>
          <p:cNvSpPr/>
          <p:nvPr/>
        </p:nvSpPr>
        <p:spPr>
          <a:xfrm>
            <a:off x="3803903" y="5404104"/>
            <a:ext cx="1207008" cy="256032"/>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3.64</a:t>
            </a:r>
          </a:p>
        </p:txBody>
      </p:sp>
      <p:sp>
        <p:nvSpPr>
          <p:cNvPr id="1286" name="Cell"/>
          <p:cNvSpPr/>
          <p:nvPr/>
        </p:nvSpPr>
        <p:spPr>
          <a:xfrm>
            <a:off x="5047488" y="5404104"/>
            <a:ext cx="1207008" cy="256032"/>
          </a:xfrm>
          <a:prstGeom prst="rect">
            <a:avLst/>
          </a:prstGeom>
          <a:solidFill>
            <a:srgbClr val="DDF0E5"/>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3.32</a:t>
            </a:r>
          </a:p>
        </p:txBody>
      </p:sp>
      <p:sp>
        <p:nvSpPr>
          <p:cNvPr id="1287" name="Card"/>
          <p:cNvSpPr/>
          <p:nvPr/>
        </p:nvSpPr>
        <p:spPr>
          <a:xfrm>
            <a:off x="6702552" y="3355848"/>
            <a:ext cx="4681728" cy="2404872"/>
          </a:xfrm>
          <a:prstGeom prst="roundRect">
            <a:avLst>
              <a:gd name="adj" fmla="val 12000"/>
            </a:avLst>
          </a:prstGeom>
          <a:solidFill>
            <a:srgbClr val="F3F5F4"/>
          </a:solidFill>
          <a:ln w="9525">
            <a:solidFill>
              <a:srgbClr val="D9DEDB"/>
            </a:solidFill>
          </a:ln>
        </p:spPr>
        <p:txBody>
          <a:bodyPr wrap="square" lIns="0" tIns="0" rIns="0" bIns="0" anchor="t">
            <a:noAutofit/>
          </a:bodyPr>
          <a:lstStyle/>
          <a:p>
            <a:pPr algn="l"/>
          </a:p>
        </p:txBody>
      </p:sp>
      <p:sp>
        <p:nvSpPr>
          <p:cNvPr id="1288" name="Card label"/>
          <p:cNvSpPr txBox="1"/>
          <p:nvPr/>
        </p:nvSpPr>
        <p:spPr>
          <a:xfrm>
            <a:off x="6976872" y="3538728"/>
            <a:ext cx="4133088" cy="274320"/>
          </a:xfrm>
          <a:prstGeom prst="rect">
            <a:avLst/>
          </a:prstGeom>
          <a:noFill/>
          <a:ln>
            <a:noFill/>
          </a:ln>
        </p:spPr>
        <p:txBody>
          <a:bodyPr wrap="square" lIns="0" tIns="0" rIns="0" bIns="0" anchor="t">
            <a:noAutofit/>
          </a:bodyPr>
          <a:lstStyle/>
          <a:p>
            <a:pPr algn="l"/>
            <a:r>
              <a:rPr lang="en-US" sz="1300" b="1" i="0" dirty="0">
                <a:solidFill>
                  <a:srgbClr val="2F6B78"/>
                </a:solidFill>
                <a:latin typeface="Consolas"/>
                <a:cs typeface="Consolas"/>
              </a:rPr>
              <a:t xml:space="preserve">10 ONTOLOGY EXPERTS</a:t>
            </a:r>
          </a:p>
        </p:txBody>
      </p:sp>
      <p:sp>
        <p:nvSpPr>
          <p:cNvPr id="1289" name="Claim"/>
          <p:cNvSpPr txBox="1"/>
          <p:nvPr/>
        </p:nvSpPr>
        <p:spPr>
          <a:xfrm>
            <a:off x="6976872" y="3794760"/>
            <a:ext cx="4133088" cy="365760"/>
          </a:xfrm>
          <a:prstGeom prst="rect">
            <a:avLst/>
          </a:prstGeom>
          <a:noFill/>
          <a:ln>
            <a:noFill/>
          </a:ln>
        </p:spPr>
        <p:txBody>
          <a:bodyPr wrap="square" lIns="0" tIns="0" rIns="0" bIns="0" anchor="ctr">
            <a:noAutofit/>
          </a:bodyPr>
          <a:lstStyle/>
          <a:p>
            <a:pPr algn="l"/>
            <a:r>
              <a:rPr lang="en-US" sz="1800" b="1" i="0" dirty="0">
                <a:solidFill>
                  <a:srgbClr val="0B6E4F"/>
                </a:solidFill>
                <a:latin typeface="Calibri"/>
                <a:cs typeface="Calibri"/>
              </a:rPr>
              <a:t xml:space="preserve">Ranked RIGOR first 70% of the time</a:t>
            </a:r>
          </a:p>
        </p:txBody>
      </p:sp>
      <p:sp>
        <p:nvSpPr>
          <p:cNvPr id="1290" name="Database"/>
          <p:cNvSpPr txBox="1"/>
          <p:nvPr/>
        </p:nvSpPr>
        <p:spPr>
          <a:xfrm>
            <a:off x="8439912" y="4251960"/>
            <a:ext cx="1353312" cy="219456"/>
          </a:xfrm>
          <a:prstGeom prst="rect">
            <a:avLst/>
          </a:prstGeom>
          <a:noFill/>
          <a:ln>
            <a:noFill/>
          </a:ln>
        </p:spPr>
        <p:txBody>
          <a:bodyPr wrap="square" lIns="0" tIns="0" rIns="0" bIns="0" anchor="ctr">
            <a:noAutofit/>
          </a:bodyPr>
          <a:lstStyle/>
          <a:p>
            <a:pPr algn="ctr"/>
            <a:r>
              <a:rPr lang="en-US" sz="1100" b="1" i="0" dirty="0">
                <a:solidFill>
                  <a:srgbClr val="1F2328"/>
                </a:solidFill>
                <a:latin typeface="Calibri"/>
                <a:cs typeface="Calibri"/>
              </a:rPr>
              <a:t xml:space="preserve">Liver Cancer</a:t>
            </a:r>
          </a:p>
        </p:txBody>
      </p:sp>
      <p:sp>
        <p:nvSpPr>
          <p:cNvPr id="1291" name="Database"/>
          <p:cNvSpPr txBox="1"/>
          <p:nvPr/>
        </p:nvSpPr>
        <p:spPr>
          <a:xfrm>
            <a:off x="9793224" y="4251960"/>
            <a:ext cx="1353312" cy="219456"/>
          </a:xfrm>
          <a:prstGeom prst="rect">
            <a:avLst/>
          </a:prstGeom>
          <a:noFill/>
          <a:ln>
            <a:noFill/>
          </a:ln>
        </p:spPr>
        <p:txBody>
          <a:bodyPr wrap="square" lIns="0" tIns="0" rIns="0" bIns="0" anchor="ctr">
            <a:noAutofit/>
          </a:bodyPr>
          <a:lstStyle/>
          <a:p>
            <a:pPr algn="ctr"/>
            <a:r>
              <a:rPr lang="en-US" sz="1100" b="1" i="0" dirty="0">
                <a:solidFill>
                  <a:srgbClr val="1F2328"/>
                </a:solidFill>
                <a:latin typeface="Calibri"/>
                <a:cs typeface="Calibri"/>
              </a:rPr>
              <a:t xml:space="preserve">eICU-CRD</a:t>
            </a:r>
          </a:p>
        </p:txBody>
      </p:sp>
      <p:sp>
        <p:nvSpPr>
          <p:cNvPr id="1292" name="Method"/>
          <p:cNvSpPr txBox="1"/>
          <p:nvPr/>
        </p:nvSpPr>
        <p:spPr>
          <a:xfrm>
            <a:off x="6931152" y="4507992"/>
            <a:ext cx="1508760" cy="292608"/>
          </a:xfrm>
          <a:prstGeom prst="rect">
            <a:avLst/>
          </a:prstGeom>
          <a:noFill/>
          <a:ln>
            <a:noFill/>
          </a:ln>
        </p:spPr>
        <p:txBody>
          <a:bodyPr wrap="square" lIns="0" tIns="0" rIns="0" bIns="0" anchor="ctr">
            <a:noAutofit/>
          </a:bodyPr>
          <a:lstStyle/>
          <a:p>
            <a:pPr algn="l"/>
            <a:r>
              <a:rPr lang="en-US" sz="1200" b="0" i="0" dirty="0">
                <a:solidFill>
                  <a:srgbClr val="1F2328"/>
                </a:solidFill>
                <a:latin typeface="Calibri"/>
                <a:cs typeface="Calibri"/>
              </a:rPr>
              <a:t xml:space="preserve">Direct Mapping</a:t>
            </a:r>
          </a:p>
        </p:txBody>
      </p:sp>
      <p:sp>
        <p:nvSpPr>
          <p:cNvPr id="1293" name="Cell"/>
          <p:cNvSpPr/>
          <p:nvPr/>
        </p:nvSpPr>
        <p:spPr>
          <a:xfrm>
            <a:off x="8458200" y="4526280"/>
            <a:ext cx="1316736" cy="256032"/>
          </a:xfrm>
          <a:prstGeom prst="rect">
            <a:avLst/>
          </a:prstGeom>
          <a:solidFill>
            <a:srgbClr val="F1F3F2"/>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2.95</a:t>
            </a:r>
          </a:p>
        </p:txBody>
      </p:sp>
      <p:sp>
        <p:nvSpPr>
          <p:cNvPr id="1294" name="Cell"/>
          <p:cNvSpPr/>
          <p:nvPr/>
        </p:nvSpPr>
        <p:spPr>
          <a:xfrm>
            <a:off x="9811512" y="4526280"/>
            <a:ext cx="1316736" cy="256032"/>
          </a:xfrm>
          <a:prstGeom prst="rect">
            <a:avLst/>
          </a:prstGeom>
          <a:solidFill>
            <a:srgbClr val="F1F3F2"/>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2.59</a:t>
            </a:r>
          </a:p>
        </p:txBody>
      </p:sp>
      <p:sp>
        <p:nvSpPr>
          <p:cNvPr id="1295" name="Method"/>
          <p:cNvSpPr txBox="1"/>
          <p:nvPr/>
        </p:nvSpPr>
        <p:spPr>
          <a:xfrm>
            <a:off x="6931152" y="4800600"/>
            <a:ext cx="1508760" cy="292608"/>
          </a:xfrm>
          <a:prstGeom prst="rect">
            <a:avLst/>
          </a:prstGeom>
          <a:noFill/>
          <a:ln>
            <a:noFill/>
          </a:ln>
        </p:spPr>
        <p:txBody>
          <a:bodyPr wrap="square" lIns="0" tIns="0" rIns="0" bIns="0" anchor="ctr">
            <a:noAutofit/>
          </a:bodyPr>
          <a:lstStyle/>
          <a:p>
            <a:pPr algn="l"/>
            <a:r>
              <a:rPr lang="en-US" sz="1200" b="0" i="0" dirty="0">
                <a:solidFill>
                  <a:srgbClr val="1F2328"/>
                </a:solidFill>
                <a:latin typeface="Calibri"/>
                <a:cs typeface="Calibri"/>
              </a:rPr>
              <a:t xml:space="preserve">LLM baseline</a:t>
            </a:r>
          </a:p>
        </p:txBody>
      </p:sp>
      <p:sp>
        <p:nvSpPr>
          <p:cNvPr id="1296" name="Cell"/>
          <p:cNvSpPr/>
          <p:nvPr/>
        </p:nvSpPr>
        <p:spPr>
          <a:xfrm>
            <a:off x="8458200" y="4818888"/>
            <a:ext cx="1316736" cy="256032"/>
          </a:xfrm>
          <a:prstGeom prst="rect">
            <a:avLst/>
          </a:prstGeom>
          <a:solidFill>
            <a:srgbClr val="F1F3F2"/>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2.74</a:t>
            </a:r>
          </a:p>
        </p:txBody>
      </p:sp>
      <p:sp>
        <p:nvSpPr>
          <p:cNvPr id="1297" name="Cell"/>
          <p:cNvSpPr/>
          <p:nvPr/>
        </p:nvSpPr>
        <p:spPr>
          <a:xfrm>
            <a:off x="9811512" y="4818888"/>
            <a:ext cx="1316736" cy="256032"/>
          </a:xfrm>
          <a:prstGeom prst="rect">
            <a:avLst/>
          </a:prstGeom>
          <a:solidFill>
            <a:srgbClr val="DDF0E5"/>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3.01</a:t>
            </a:r>
          </a:p>
        </p:txBody>
      </p:sp>
      <p:sp>
        <p:nvSpPr>
          <p:cNvPr id="1298" name="Method"/>
          <p:cNvSpPr txBox="1"/>
          <p:nvPr/>
        </p:nvSpPr>
        <p:spPr>
          <a:xfrm>
            <a:off x="6931152" y="5093208"/>
            <a:ext cx="1508760" cy="292608"/>
          </a:xfrm>
          <a:prstGeom prst="rect">
            <a:avLst/>
          </a:prstGeom>
          <a:noFill/>
          <a:ln>
            <a:noFill/>
          </a:ln>
        </p:spPr>
        <p:txBody>
          <a:bodyPr wrap="square" lIns="0" tIns="0" rIns="0" bIns="0" anchor="ctr">
            <a:noAutofit/>
          </a:bodyPr>
          <a:lstStyle/>
          <a:p>
            <a:pPr algn="l"/>
            <a:r>
              <a:rPr lang="en-US" sz="1200" b="0" i="0" dirty="0">
                <a:solidFill>
                  <a:srgbClr val="1F2328"/>
                </a:solidFill>
                <a:latin typeface="Calibri"/>
                <a:cs typeface="Calibri"/>
              </a:rPr>
              <a:t xml:space="preserve">Non-Iterative RAG</a:t>
            </a:r>
          </a:p>
        </p:txBody>
      </p:sp>
      <p:sp>
        <p:nvSpPr>
          <p:cNvPr id="1299" name="Cell"/>
          <p:cNvSpPr/>
          <p:nvPr/>
        </p:nvSpPr>
        <p:spPr>
          <a:xfrm>
            <a:off x="8458200" y="5111496"/>
            <a:ext cx="1316736" cy="256032"/>
          </a:xfrm>
          <a:prstGeom prst="rect">
            <a:avLst/>
          </a:prstGeom>
          <a:solidFill>
            <a:srgbClr val="F1F3F2"/>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2.39</a:t>
            </a:r>
          </a:p>
        </p:txBody>
      </p:sp>
      <p:sp>
        <p:nvSpPr>
          <p:cNvPr id="1300" name="Cell"/>
          <p:cNvSpPr/>
          <p:nvPr/>
        </p:nvSpPr>
        <p:spPr>
          <a:xfrm>
            <a:off x="9811512" y="5111496"/>
            <a:ext cx="1316736" cy="256032"/>
          </a:xfrm>
          <a:prstGeom prst="rect">
            <a:avLst/>
          </a:prstGeom>
          <a:solidFill>
            <a:srgbClr val="F6DAD3"/>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1.24</a:t>
            </a:r>
          </a:p>
        </p:txBody>
      </p:sp>
      <p:sp>
        <p:nvSpPr>
          <p:cNvPr id="1301" name="Method"/>
          <p:cNvSpPr txBox="1"/>
          <p:nvPr/>
        </p:nvSpPr>
        <p:spPr>
          <a:xfrm>
            <a:off x="6931152" y="5385816"/>
            <a:ext cx="1508760" cy="292608"/>
          </a:xfrm>
          <a:prstGeom prst="rect">
            <a:avLst/>
          </a:prstGeom>
          <a:noFill/>
          <a:ln>
            <a:noFill/>
          </a:ln>
        </p:spPr>
        <p:txBody>
          <a:bodyPr wrap="square" lIns="0" tIns="0" rIns="0" bIns="0" anchor="ctr">
            <a:noAutofit/>
          </a:bodyPr>
          <a:lstStyle/>
          <a:p>
            <a:pPr algn="l"/>
            <a:r>
              <a:rPr lang="en-US" sz="1200" b="1" i="0" dirty="0">
                <a:solidFill>
                  <a:srgbClr val="0B6E4F"/>
                </a:solidFill>
                <a:latin typeface="Calibri"/>
                <a:cs typeface="Calibri"/>
              </a:rPr>
              <a:t xml:space="preserve">RIGOR</a:t>
            </a:r>
          </a:p>
        </p:txBody>
      </p:sp>
      <p:sp>
        <p:nvSpPr>
          <p:cNvPr id="1302" name="Cell"/>
          <p:cNvSpPr/>
          <p:nvPr/>
        </p:nvSpPr>
        <p:spPr>
          <a:xfrm>
            <a:off x="8458200" y="5404104"/>
            <a:ext cx="1316736" cy="256032"/>
          </a:xfrm>
          <a:prstGeom prst="rect">
            <a:avLst/>
          </a:prstGeom>
          <a:solidFill>
            <a:srgbClr val="DDF0E5"/>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3.44</a:t>
            </a:r>
          </a:p>
        </p:txBody>
      </p:sp>
      <p:sp>
        <p:nvSpPr>
          <p:cNvPr id="1303" name="Cell"/>
          <p:cNvSpPr/>
          <p:nvPr/>
        </p:nvSpPr>
        <p:spPr>
          <a:xfrm>
            <a:off x="9811512" y="5404104"/>
            <a:ext cx="1316736" cy="256032"/>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3.53</a:t>
            </a:r>
          </a:p>
        </p:txBody>
      </p:sp>
      <p:sp>
        <p:nvSpPr>
          <p:cNvPr id="1304" name="Strip"/>
          <p:cNvSpPr/>
          <p:nvPr/>
        </p:nvSpPr>
        <p:spPr>
          <a:xfrm>
            <a:off x="804672" y="5879592"/>
            <a:ext cx="10579608" cy="420624"/>
          </a:xfrm>
          <a:prstGeom prst="roundRect">
            <a:avLst>
              <a:gd name="adj" fmla="val 12000"/>
            </a:avLst>
          </a:prstGeom>
          <a:solidFill>
            <a:srgbClr val="E6F2EC"/>
          </a:solidFill>
          <a:ln>
            <a:noFill/>
          </a:ln>
        </p:spPr>
        <p:txBody>
          <a:bodyPr wrap="square" lIns="201168" tIns="0" rIns="201168" bIns="0" anchor="ctr">
            <a:noAutofit/>
          </a:bodyPr>
          <a:lstStyle/>
          <a:p>
            <a:pPr algn="l"/>
            <a:r>
              <a:rPr lang="en-US" sz="1400" b="0" i="0" dirty="0">
                <a:solidFill>
                  <a:srgbClr val="3A434C"/>
                </a:solidFill>
                <a:latin typeface="Calibri"/>
                <a:cs typeface="Calibri"/>
              </a:rPr>
              <a:t xml:space="preserve">Direct Mapping: structure without meaning.  LLMs alone: meaning without structure.  </a:t>
            </a:r>
            <a:r>
              <a:rPr lang="en-US" sz="1400" b="1" i="0" dirty="0">
                <a:solidFill>
                  <a:srgbClr val="0B6E4F"/>
                </a:solidFill>
                <a:latin typeface="Calibri"/>
                <a:cs typeface="Calibri"/>
              </a:rPr>
              <a:t xml:space="preserve">RIGOR: both, and checked.</a:t>
            </a:r>
          </a:p>
        </p:txBody>
      </p:sp>
      <p:sp>
        <p:nvSpPr>
          <p:cNvPr id="1305" name="Source"/>
          <p:cNvSpPr txBox="1"/>
          <p:nvPr/>
        </p:nvSpPr>
        <p:spPr>
          <a:xfrm>
            <a:off x="822960" y="6382512"/>
            <a:ext cx="10607040" cy="237744"/>
          </a:xfrm>
          <a:prstGeom prst="rect">
            <a:avLst/>
          </a:prstGeom>
          <a:noFill/>
          <a:ln>
            <a:noFill/>
          </a:ln>
        </p:spPr>
        <p:txBody>
          <a:bodyPr wrap="square" lIns="0" tIns="0" rIns="0" bIns="0" anchor="t">
            <a:noAutofit/>
          </a:bodyPr>
          <a:lstStyle/>
          <a:p>
            <a:pPr algn="l"/>
            <a:r>
              <a:rPr lang="en-US" sz="1000" b="0" i="0" dirty="0">
                <a:solidFill>
                  <a:srgbClr val="5B6770"/>
                </a:solidFill>
                <a:latin typeface="Calibri"/>
                <a:cs typeface="Calibri"/>
              </a:rPr>
              <a:t xml:space="preserve">Average scores (0–5) per database. Judge: ontologies generated with Claude. Experts: significant agreement (Kendall's W). Paper Sec. 4.6, Tables 1, 10–12.</a:t>
            </a: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3" name="Shape 1143"/>
        <p:cNvGrpSpPr/>
        <p:nvPr/>
      </p:nvGrpSpPr>
      <p:grpSpPr>
        <a:xfrm>
          <a:off x="0" y="0"/>
          <a:ext cx="0" cy="0"/>
          <a:chOff x="0" y="0"/>
          <a:chExt cx="0" cy="0"/>
        </a:xfrm>
      </p:grpSpPr>
      <p:sp>
        <p:nvSpPr>
          <p:cNvPr id="1144" name="Google Shape;1144;p20"/>
          <p:cNvSpPr txBox="1"/>
          <p:nvPr/>
        </p:nvSpPr>
        <p:spPr>
          <a:xfrm>
            <a:off x="804672" y="512064"/>
            <a:ext cx="10753344"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onsolas"/>
                <a:ea typeface="Consolas"/>
                <a:cs typeface="Consolas"/>
                <a:sym typeface="Consolas"/>
              </a:rPr>
              <a:t>RESULT 1  /  VALID, WITH FEWER ERRORS</a:t>
            </a:r>
            <a:endParaRPr/>
          </a:p>
        </p:txBody>
      </p:sp>
      <p:sp>
        <p:nvSpPr>
          <p:cNvPr id="1145" name="Google Shape;1145;p20"/>
          <p:cNvSpPr txBox="1"/>
          <p:nvPr/>
        </p:nvSpPr>
        <p:spPr>
          <a:xfrm>
            <a:off x="804672" y="914400"/>
            <a:ext cx="10762488" cy="667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1F2328"/>
                </a:solidFill>
                <a:latin typeface="Cambria"/>
                <a:ea typeface="Cambria"/>
                <a:cs typeface="Cambria"/>
                <a:sym typeface="Cambria"/>
              </a:rPr>
              <a:t>Every ontology is valid. RIGOR's have far fewer modeling errors.</a:t>
            </a:r>
            <a:endParaRPr/>
          </a:p>
        </p:txBody>
      </p:sp>
      <p:sp>
        <p:nvSpPr>
          <p:cNvPr id="1146" name="Subtitle"/>
          <p:cNvSpPr txBox="1"/>
          <p:nvPr/>
        </p:nvSpPr>
        <p:spPr>
          <a:xfrm>
            <a:off x="822960" y="1645920"/>
            <a:ext cx="10680192" cy="329184"/>
          </a:xfrm>
          <a:prstGeom prst="rect">
            <a:avLst/>
          </a:prstGeom>
          <a:noFill/>
          <a:ln>
            <a:noFill/>
          </a:ln>
        </p:spPr>
        <p:txBody>
          <a:bodyPr wrap="square" lIns="0" tIns="0" rIns="0" bIns="0" anchor="t">
            <a:noAutofit/>
          </a:bodyPr>
          <a:lstStyle/>
          <a:p>
            <a:pPr algn="l"/>
            <a:r>
              <a:rPr lang="en-US" sz="1600" b="0" i="0" dirty="0">
                <a:solidFill>
                  <a:srgbClr val="3A434C"/>
                </a:solidFill>
                <a:latin typeface="Calibri"/>
                <a:cs typeface="Calibri"/>
              </a:rPr>
              <a:t xml:space="preserve">All 30 ontologies are valid OWL 2 DL (RDFLib) and logically consistent (HermiT). So we look deeper.</a:t>
            </a:r>
          </a:p>
        </p:txBody>
      </p:sp>
      <p:sp>
        <p:nvSpPr>
          <p:cNvPr id="1147" name="Ladder"/>
          <p:cNvSpPr/>
          <p:nvPr/>
        </p:nvSpPr>
        <p:spPr>
          <a:xfrm>
            <a:off x="804672" y="2103120"/>
            <a:ext cx="2042769" cy="310896"/>
          </a:xfrm>
          <a:prstGeom prst="rect">
            <a:avLst/>
          </a:prstGeom>
          <a:solidFill>
            <a:srgbClr val="0B6E4F"/>
          </a:solidFill>
          <a:ln>
            <a:noFill/>
          </a:ln>
        </p:spPr>
        <p:txBody>
          <a:bodyPr wrap="square" lIns="0" tIns="0" rIns="0" bIns="0" anchor="ctr">
            <a:noAutofit/>
          </a:bodyPr>
          <a:lstStyle/>
          <a:p>
            <a:pPr algn="ctr"/>
            <a:r>
              <a:rPr lang="en-US" sz="1000" b="1" i="0" dirty="0">
                <a:solidFill>
                  <a:srgbClr val="FFFFFF"/>
                </a:solidFill>
                <a:latin typeface="Consolas"/>
                <a:cs typeface="Consolas"/>
              </a:rPr>
              <a:t xml:space="preserve">1  VALID, FEWER ERRORS</a:t>
            </a:r>
          </a:p>
        </p:txBody>
      </p:sp>
      <p:sp>
        <p:nvSpPr>
          <p:cNvPr id="1148" name="Ladder"/>
          <p:cNvSpPr/>
          <p:nvPr/>
        </p:nvSpPr>
        <p:spPr>
          <a:xfrm>
            <a:off x="2938881" y="2103120"/>
            <a:ext cx="2042769" cy="310896"/>
          </a:xfrm>
          <a:prstGeom prst="rect">
            <a:avLst/>
          </a:prstGeom>
          <a:solidFill>
            <a:srgbClr val="FFFFFF"/>
          </a:solidFill>
          <a:ln w="9525">
            <a:solidFill>
              <a:srgbClr val="D9DEDB"/>
            </a:solidFill>
          </a:ln>
        </p:spPr>
        <p:txBody>
          <a:bodyPr wrap="square" lIns="0" tIns="0" rIns="0" bIns="0" anchor="ctr">
            <a:noAutofit/>
          </a:bodyPr>
          <a:lstStyle/>
          <a:p>
            <a:pPr algn="ctr"/>
            <a:r>
              <a:rPr lang="en-US" sz="1000" b="1" i="0" dirty="0">
                <a:solidFill>
                  <a:srgbClr val="6B747B"/>
                </a:solidFill>
                <a:latin typeface="Consolas"/>
                <a:cs typeface="Consolas"/>
              </a:rPr>
              <a:t xml:space="preserve">2  KEEPS THE SCHEMA</a:t>
            </a:r>
          </a:p>
        </p:txBody>
      </p:sp>
      <p:sp>
        <p:nvSpPr>
          <p:cNvPr id="1149" name="Ladder"/>
          <p:cNvSpPr/>
          <p:nvPr/>
        </p:nvSpPr>
        <p:spPr>
          <a:xfrm>
            <a:off x="5073091" y="2103120"/>
            <a:ext cx="2042769" cy="310896"/>
          </a:xfrm>
          <a:prstGeom prst="rect">
            <a:avLst/>
          </a:prstGeom>
          <a:solidFill>
            <a:srgbClr val="FFFFFF"/>
          </a:solidFill>
          <a:ln w="9525">
            <a:solidFill>
              <a:srgbClr val="D9DEDB"/>
            </a:solidFill>
          </a:ln>
        </p:spPr>
        <p:txBody>
          <a:bodyPr wrap="square" lIns="0" tIns="0" rIns="0" bIns="0" anchor="ctr">
            <a:noAutofit/>
          </a:bodyPr>
          <a:lstStyle/>
          <a:p>
            <a:pPr algn="ctr"/>
            <a:r>
              <a:rPr lang="en-US" sz="1000" b="1" i="0" dirty="0">
                <a:solidFill>
                  <a:srgbClr val="6B747B"/>
                </a:solidFill>
                <a:latin typeface="Consolas"/>
                <a:cs typeface="Consolas"/>
              </a:rPr>
              <a:t xml:space="preserve">3  ADDS MEANING</a:t>
            </a:r>
          </a:p>
        </p:txBody>
      </p:sp>
      <p:sp>
        <p:nvSpPr>
          <p:cNvPr id="1150" name="Ladder"/>
          <p:cNvSpPr/>
          <p:nvPr/>
        </p:nvSpPr>
        <p:spPr>
          <a:xfrm>
            <a:off x="7207300" y="2103120"/>
            <a:ext cx="2042769" cy="310896"/>
          </a:xfrm>
          <a:prstGeom prst="rect">
            <a:avLst/>
          </a:prstGeom>
          <a:solidFill>
            <a:srgbClr val="FFFFFF"/>
          </a:solidFill>
          <a:ln w="9525">
            <a:solidFill>
              <a:srgbClr val="D9DEDB"/>
            </a:solidFill>
          </a:ln>
        </p:spPr>
        <p:txBody>
          <a:bodyPr wrap="square" lIns="0" tIns="0" rIns="0" bIns="0" anchor="ctr">
            <a:noAutofit/>
          </a:bodyPr>
          <a:lstStyle/>
          <a:p>
            <a:pPr algn="ctr"/>
            <a:r>
              <a:rPr lang="en-US" sz="1000" b="1" i="0" dirty="0">
                <a:solidFill>
                  <a:srgbClr val="6B747B"/>
                </a:solidFill>
                <a:latin typeface="Consolas"/>
                <a:cs typeface="Consolas"/>
              </a:rPr>
              <a:t xml:space="preserve">4  GOLD MAPPINGS</a:t>
            </a:r>
          </a:p>
        </p:txBody>
      </p:sp>
      <p:sp>
        <p:nvSpPr>
          <p:cNvPr id="1151" name="Ladder"/>
          <p:cNvSpPr/>
          <p:nvPr/>
        </p:nvSpPr>
        <p:spPr>
          <a:xfrm>
            <a:off x="9341510" y="2103120"/>
            <a:ext cx="2042769" cy="310896"/>
          </a:xfrm>
          <a:prstGeom prst="rect">
            <a:avLst/>
          </a:prstGeom>
          <a:solidFill>
            <a:srgbClr val="FFFFFF"/>
          </a:solidFill>
          <a:ln w="9525">
            <a:solidFill>
              <a:srgbClr val="D9DEDB"/>
            </a:solidFill>
          </a:ln>
        </p:spPr>
        <p:txBody>
          <a:bodyPr wrap="square" lIns="0" tIns="0" rIns="0" bIns="0" anchor="ctr">
            <a:noAutofit/>
          </a:bodyPr>
          <a:lstStyle/>
          <a:p>
            <a:pPr algn="ctr"/>
            <a:r>
              <a:rPr lang="en-US" sz="1000" b="1" i="0" dirty="0">
                <a:solidFill>
                  <a:srgbClr val="6B747B"/>
                </a:solidFill>
                <a:latin typeface="Consolas"/>
                <a:cs typeface="Consolas"/>
              </a:rPr>
              <a:t xml:space="preserve">5  JUDGES</a:t>
            </a:r>
          </a:p>
        </p:txBody>
      </p:sp>
      <p:sp>
        <p:nvSpPr>
          <p:cNvPr id="1152" name="Card"/>
          <p:cNvSpPr/>
          <p:nvPr/>
        </p:nvSpPr>
        <p:spPr>
          <a:xfrm>
            <a:off x="804672" y="2606040"/>
            <a:ext cx="10579608" cy="3154680"/>
          </a:xfrm>
          <a:prstGeom prst="roundRect">
            <a:avLst>
              <a:gd name="adj" fmla="val 12000"/>
            </a:avLst>
          </a:prstGeom>
          <a:solidFill>
            <a:srgbClr val="FFFFFF"/>
          </a:solidFill>
          <a:ln w="9525">
            <a:solidFill>
              <a:srgbClr val="D9DEDB"/>
            </a:solidFill>
          </a:ln>
        </p:spPr>
        <p:txBody>
          <a:bodyPr wrap="square" lIns="0" tIns="0" rIns="0" bIns="0" anchor="t">
            <a:noAutofit/>
          </a:bodyPr>
          <a:lstStyle/>
          <a:p>
            <a:pPr algn="l"/>
          </a:p>
        </p:txBody>
      </p:sp>
      <p:sp>
        <p:nvSpPr>
          <p:cNvPr id="1153" name="Card label"/>
          <p:cNvSpPr txBox="1"/>
          <p:nvPr/>
        </p:nvSpPr>
        <p:spPr>
          <a:xfrm>
            <a:off x="1078992" y="2788920"/>
            <a:ext cx="10030968" cy="274320"/>
          </a:xfrm>
          <a:prstGeom prst="rect">
            <a:avLst/>
          </a:prstGeom>
          <a:noFill/>
          <a:ln>
            <a:noFill/>
          </a:ln>
        </p:spPr>
        <p:txBody>
          <a:bodyPr wrap="square" lIns="0" tIns="0" rIns="0" bIns="0" anchor="t">
            <a:noAutofit/>
          </a:bodyPr>
          <a:lstStyle/>
          <a:p>
            <a:pPr algn="l"/>
            <a:r>
              <a:rPr lang="en-US" sz="1300" b="1" i="0" dirty="0">
                <a:solidFill>
                  <a:srgbClr val="2F6B78"/>
                </a:solidFill>
                <a:latin typeface="Consolas"/>
                <a:cs typeface="Consolas"/>
              </a:rPr>
              <a:t xml:space="preserve">MODELING ERRORS FOUND BY OOPS!</a:t>
            </a:r>
          </a:p>
        </p:txBody>
      </p:sp>
      <p:sp>
        <p:nvSpPr>
          <p:cNvPr id="1154" name="Card note"/>
          <p:cNvSpPr txBox="1"/>
          <p:nvPr/>
        </p:nvSpPr>
        <p:spPr>
          <a:xfrm>
            <a:off x="1078992" y="3081528"/>
            <a:ext cx="10030968" cy="237744"/>
          </a:xfrm>
          <a:prstGeom prst="rect">
            <a:avLst/>
          </a:prstGeom>
          <a:noFill/>
          <a:ln>
            <a:noFill/>
          </a:ln>
        </p:spPr>
        <p:txBody>
          <a:bodyPr wrap="square" lIns="0" tIns="0" rIns="0" bIns="0" anchor="t">
            <a:noAutofit/>
          </a:bodyPr>
          <a:lstStyle/>
          <a:p>
            <a:pPr algn="l"/>
            <a:r>
              <a:rPr lang="en-US" sz="1150" b="0" i="1" dirty="0">
                <a:solidFill>
                  <a:srgbClr val="5B6770"/>
                </a:solidFill>
                <a:latin typeface="Calibri"/>
                <a:cs typeface="Calibri"/>
              </a:rPr>
              <a:t xml:space="preserve">pitfalls per ontology, fewer is better</a:t>
            </a:r>
          </a:p>
        </p:txBody>
      </p:sp>
      <p:sp>
        <p:nvSpPr>
          <p:cNvPr id="1155" name="Database"/>
          <p:cNvSpPr txBox="1"/>
          <p:nvPr/>
        </p:nvSpPr>
        <p:spPr>
          <a:xfrm>
            <a:off x="2679191" y="3383280"/>
            <a:ext cx="2523744" cy="219456"/>
          </a:xfrm>
          <a:prstGeom prst="rect">
            <a:avLst/>
          </a:prstGeom>
          <a:noFill/>
          <a:ln>
            <a:noFill/>
          </a:ln>
        </p:spPr>
        <p:txBody>
          <a:bodyPr wrap="square" lIns="0" tIns="0" rIns="0" bIns="0" anchor="ctr">
            <a:noAutofit/>
          </a:bodyPr>
          <a:lstStyle/>
          <a:p>
            <a:pPr algn="ctr"/>
            <a:r>
              <a:rPr lang="en-US" sz="1100" b="1" i="0" dirty="0">
                <a:solidFill>
                  <a:srgbClr val="1F2328"/>
                </a:solidFill>
                <a:latin typeface="Calibri"/>
                <a:cs typeface="Calibri"/>
              </a:rPr>
              <a:t xml:space="preserve">Liver Cancer</a:t>
            </a:r>
          </a:p>
        </p:txBody>
      </p:sp>
      <p:sp>
        <p:nvSpPr>
          <p:cNvPr id="1156" name="LLM"/>
          <p:cNvSpPr txBox="1"/>
          <p:nvPr/>
        </p:nvSpPr>
        <p:spPr>
          <a:xfrm>
            <a:off x="2679191" y="3611880"/>
            <a:ext cx="841248" cy="182880"/>
          </a:xfrm>
          <a:prstGeom prst="rect">
            <a:avLst/>
          </a:prstGeom>
          <a:noFill/>
          <a:ln>
            <a:noFill/>
          </a:ln>
        </p:spPr>
        <p:txBody>
          <a:bodyPr wrap="square" lIns="0" tIns="0" rIns="0" bIns="0" anchor="ctr">
            <a:noAutofit/>
          </a:bodyPr>
          <a:lstStyle/>
          <a:p>
            <a:pPr algn="ctr"/>
            <a:r>
              <a:rPr lang="en-US" sz="850" b="0" i="0" dirty="0">
                <a:solidFill>
                  <a:srgbClr val="5B6770"/>
                </a:solidFill>
                <a:latin typeface="Calibri"/>
                <a:cs typeface="Calibri"/>
              </a:rPr>
              <a:t xml:space="preserve">Claude</a:t>
            </a:r>
          </a:p>
        </p:txBody>
      </p:sp>
      <p:sp>
        <p:nvSpPr>
          <p:cNvPr id="1157" name="LLM"/>
          <p:cNvSpPr txBox="1"/>
          <p:nvPr/>
        </p:nvSpPr>
        <p:spPr>
          <a:xfrm>
            <a:off x="3520439" y="3611880"/>
            <a:ext cx="841248" cy="182880"/>
          </a:xfrm>
          <a:prstGeom prst="rect">
            <a:avLst/>
          </a:prstGeom>
          <a:noFill/>
          <a:ln>
            <a:noFill/>
          </a:ln>
        </p:spPr>
        <p:txBody>
          <a:bodyPr wrap="square" lIns="0" tIns="0" rIns="0" bIns="0" anchor="ctr">
            <a:noAutofit/>
          </a:bodyPr>
          <a:lstStyle/>
          <a:p>
            <a:pPr algn="ctr"/>
            <a:r>
              <a:rPr lang="en-US" sz="850" b="0" i="0" dirty="0">
                <a:solidFill>
                  <a:srgbClr val="5B6770"/>
                </a:solidFill>
                <a:latin typeface="Calibri"/>
                <a:cs typeface="Calibri"/>
              </a:rPr>
              <a:t xml:space="preserve">Mistral</a:t>
            </a:r>
          </a:p>
        </p:txBody>
      </p:sp>
      <p:sp>
        <p:nvSpPr>
          <p:cNvPr id="1158" name="LLM"/>
          <p:cNvSpPr txBox="1"/>
          <p:nvPr/>
        </p:nvSpPr>
        <p:spPr>
          <a:xfrm>
            <a:off x="4361688" y="3611880"/>
            <a:ext cx="841248" cy="182880"/>
          </a:xfrm>
          <a:prstGeom prst="rect">
            <a:avLst/>
          </a:prstGeom>
          <a:noFill/>
          <a:ln>
            <a:noFill/>
          </a:ln>
        </p:spPr>
        <p:txBody>
          <a:bodyPr wrap="square" lIns="0" tIns="0" rIns="0" bIns="0" anchor="ctr">
            <a:noAutofit/>
          </a:bodyPr>
          <a:lstStyle/>
          <a:p>
            <a:pPr algn="ctr"/>
            <a:r>
              <a:rPr lang="en-US" sz="850" b="0" i="0" dirty="0">
                <a:solidFill>
                  <a:srgbClr val="5B6770"/>
                </a:solidFill>
                <a:latin typeface="Calibri"/>
                <a:cs typeface="Calibri"/>
              </a:rPr>
              <a:t xml:space="preserve">DeepSeek</a:t>
            </a:r>
          </a:p>
        </p:txBody>
      </p:sp>
      <p:sp>
        <p:nvSpPr>
          <p:cNvPr id="1159" name="Database"/>
          <p:cNvSpPr txBox="1"/>
          <p:nvPr/>
        </p:nvSpPr>
        <p:spPr>
          <a:xfrm>
            <a:off x="5202936" y="3383280"/>
            <a:ext cx="2523744" cy="219456"/>
          </a:xfrm>
          <a:prstGeom prst="rect">
            <a:avLst/>
          </a:prstGeom>
          <a:noFill/>
          <a:ln>
            <a:noFill/>
          </a:ln>
        </p:spPr>
        <p:txBody>
          <a:bodyPr wrap="square" lIns="0" tIns="0" rIns="0" bIns="0" anchor="ctr">
            <a:noAutofit/>
          </a:bodyPr>
          <a:lstStyle/>
          <a:p>
            <a:pPr algn="ctr"/>
            <a:r>
              <a:rPr lang="en-US" sz="1100" b="1" i="0" dirty="0">
                <a:solidFill>
                  <a:srgbClr val="1F2328"/>
                </a:solidFill>
                <a:latin typeface="Calibri"/>
                <a:cs typeface="Calibri"/>
              </a:rPr>
              <a:t xml:space="preserve">eICU-CRD</a:t>
            </a:r>
          </a:p>
        </p:txBody>
      </p:sp>
      <p:sp>
        <p:nvSpPr>
          <p:cNvPr id="1160" name="LLM"/>
          <p:cNvSpPr txBox="1"/>
          <p:nvPr/>
        </p:nvSpPr>
        <p:spPr>
          <a:xfrm>
            <a:off x="5202936" y="3611880"/>
            <a:ext cx="841248" cy="182880"/>
          </a:xfrm>
          <a:prstGeom prst="rect">
            <a:avLst/>
          </a:prstGeom>
          <a:noFill/>
          <a:ln>
            <a:noFill/>
          </a:ln>
        </p:spPr>
        <p:txBody>
          <a:bodyPr wrap="square" lIns="0" tIns="0" rIns="0" bIns="0" anchor="ctr">
            <a:noAutofit/>
          </a:bodyPr>
          <a:lstStyle/>
          <a:p>
            <a:pPr algn="ctr"/>
            <a:r>
              <a:rPr lang="en-US" sz="850" b="0" i="0" dirty="0">
                <a:solidFill>
                  <a:srgbClr val="5B6770"/>
                </a:solidFill>
                <a:latin typeface="Calibri"/>
                <a:cs typeface="Calibri"/>
              </a:rPr>
              <a:t xml:space="preserve">Claude</a:t>
            </a:r>
          </a:p>
        </p:txBody>
      </p:sp>
      <p:sp>
        <p:nvSpPr>
          <p:cNvPr id="1161" name="LLM"/>
          <p:cNvSpPr txBox="1"/>
          <p:nvPr/>
        </p:nvSpPr>
        <p:spPr>
          <a:xfrm>
            <a:off x="6044183" y="3611880"/>
            <a:ext cx="841248" cy="182880"/>
          </a:xfrm>
          <a:prstGeom prst="rect">
            <a:avLst/>
          </a:prstGeom>
          <a:noFill/>
          <a:ln>
            <a:noFill/>
          </a:ln>
        </p:spPr>
        <p:txBody>
          <a:bodyPr wrap="square" lIns="0" tIns="0" rIns="0" bIns="0" anchor="ctr">
            <a:noAutofit/>
          </a:bodyPr>
          <a:lstStyle/>
          <a:p>
            <a:pPr algn="ctr"/>
            <a:r>
              <a:rPr lang="en-US" sz="850" b="0" i="0" dirty="0">
                <a:solidFill>
                  <a:srgbClr val="5B6770"/>
                </a:solidFill>
                <a:latin typeface="Calibri"/>
                <a:cs typeface="Calibri"/>
              </a:rPr>
              <a:t xml:space="preserve">Mistral</a:t>
            </a:r>
          </a:p>
        </p:txBody>
      </p:sp>
      <p:sp>
        <p:nvSpPr>
          <p:cNvPr id="1162" name="LLM"/>
          <p:cNvSpPr txBox="1"/>
          <p:nvPr/>
        </p:nvSpPr>
        <p:spPr>
          <a:xfrm>
            <a:off x="6885432" y="3611880"/>
            <a:ext cx="841248" cy="182880"/>
          </a:xfrm>
          <a:prstGeom prst="rect">
            <a:avLst/>
          </a:prstGeom>
          <a:noFill/>
          <a:ln>
            <a:noFill/>
          </a:ln>
        </p:spPr>
        <p:txBody>
          <a:bodyPr wrap="square" lIns="0" tIns="0" rIns="0" bIns="0" anchor="ctr">
            <a:noAutofit/>
          </a:bodyPr>
          <a:lstStyle/>
          <a:p>
            <a:pPr algn="ctr"/>
            <a:r>
              <a:rPr lang="en-US" sz="850" b="0" i="0" dirty="0">
                <a:solidFill>
                  <a:srgbClr val="5B6770"/>
                </a:solidFill>
                <a:latin typeface="Calibri"/>
                <a:cs typeface="Calibri"/>
              </a:rPr>
              <a:t xml:space="preserve">DeepSeek</a:t>
            </a:r>
          </a:p>
        </p:txBody>
      </p:sp>
      <p:sp>
        <p:nvSpPr>
          <p:cNvPr id="1163" name="Database"/>
          <p:cNvSpPr txBox="1"/>
          <p:nvPr/>
        </p:nvSpPr>
        <p:spPr>
          <a:xfrm>
            <a:off x="7726679" y="3383280"/>
            <a:ext cx="2523744" cy="219456"/>
          </a:xfrm>
          <a:prstGeom prst="rect">
            <a:avLst/>
          </a:prstGeom>
          <a:noFill/>
          <a:ln>
            <a:noFill/>
          </a:ln>
        </p:spPr>
        <p:txBody>
          <a:bodyPr wrap="square" lIns="0" tIns="0" rIns="0" bIns="0" anchor="ctr">
            <a:noAutofit/>
          </a:bodyPr>
          <a:lstStyle/>
          <a:p>
            <a:pPr algn="ctr"/>
            <a:r>
              <a:rPr lang="en-US" sz="1100" b="1" i="0" dirty="0">
                <a:solidFill>
                  <a:srgbClr val="1F2328"/>
                </a:solidFill>
                <a:latin typeface="Calibri"/>
                <a:cs typeface="Calibri"/>
              </a:rPr>
              <a:t xml:space="preserve">Chinook</a:t>
            </a:r>
          </a:p>
        </p:txBody>
      </p:sp>
      <p:sp>
        <p:nvSpPr>
          <p:cNvPr id="1164" name="LLM"/>
          <p:cNvSpPr txBox="1"/>
          <p:nvPr/>
        </p:nvSpPr>
        <p:spPr>
          <a:xfrm>
            <a:off x="7726679" y="3611880"/>
            <a:ext cx="841248" cy="182880"/>
          </a:xfrm>
          <a:prstGeom prst="rect">
            <a:avLst/>
          </a:prstGeom>
          <a:noFill/>
          <a:ln>
            <a:noFill/>
          </a:ln>
        </p:spPr>
        <p:txBody>
          <a:bodyPr wrap="square" lIns="0" tIns="0" rIns="0" bIns="0" anchor="ctr">
            <a:noAutofit/>
          </a:bodyPr>
          <a:lstStyle/>
          <a:p>
            <a:pPr algn="ctr"/>
            <a:r>
              <a:rPr lang="en-US" sz="850" b="0" i="0" dirty="0">
                <a:solidFill>
                  <a:srgbClr val="5B6770"/>
                </a:solidFill>
                <a:latin typeface="Calibri"/>
                <a:cs typeface="Calibri"/>
              </a:rPr>
              <a:t xml:space="preserve">Claude</a:t>
            </a:r>
          </a:p>
        </p:txBody>
      </p:sp>
      <p:sp>
        <p:nvSpPr>
          <p:cNvPr id="1165" name="LLM"/>
          <p:cNvSpPr txBox="1"/>
          <p:nvPr/>
        </p:nvSpPr>
        <p:spPr>
          <a:xfrm>
            <a:off x="8567928" y="3611880"/>
            <a:ext cx="841248" cy="182880"/>
          </a:xfrm>
          <a:prstGeom prst="rect">
            <a:avLst/>
          </a:prstGeom>
          <a:noFill/>
          <a:ln>
            <a:noFill/>
          </a:ln>
        </p:spPr>
        <p:txBody>
          <a:bodyPr wrap="square" lIns="0" tIns="0" rIns="0" bIns="0" anchor="ctr">
            <a:noAutofit/>
          </a:bodyPr>
          <a:lstStyle/>
          <a:p>
            <a:pPr algn="ctr"/>
            <a:r>
              <a:rPr lang="en-US" sz="850" b="0" i="0" dirty="0">
                <a:solidFill>
                  <a:srgbClr val="5B6770"/>
                </a:solidFill>
                <a:latin typeface="Calibri"/>
                <a:cs typeface="Calibri"/>
              </a:rPr>
              <a:t xml:space="preserve">Mistral</a:t>
            </a:r>
          </a:p>
        </p:txBody>
      </p:sp>
      <p:sp>
        <p:nvSpPr>
          <p:cNvPr id="1166" name="LLM"/>
          <p:cNvSpPr txBox="1"/>
          <p:nvPr/>
        </p:nvSpPr>
        <p:spPr>
          <a:xfrm>
            <a:off x="9409176" y="3611880"/>
            <a:ext cx="841248" cy="182880"/>
          </a:xfrm>
          <a:prstGeom prst="rect">
            <a:avLst/>
          </a:prstGeom>
          <a:noFill/>
          <a:ln>
            <a:noFill/>
          </a:ln>
        </p:spPr>
        <p:txBody>
          <a:bodyPr wrap="square" lIns="0" tIns="0" rIns="0" bIns="0" anchor="ctr">
            <a:noAutofit/>
          </a:bodyPr>
          <a:lstStyle/>
          <a:p>
            <a:pPr algn="ctr"/>
            <a:r>
              <a:rPr lang="en-US" sz="850" b="0" i="0" dirty="0">
                <a:solidFill>
                  <a:srgbClr val="5B6770"/>
                </a:solidFill>
                <a:latin typeface="Calibri"/>
                <a:cs typeface="Calibri"/>
              </a:rPr>
              <a:t xml:space="preserve">DeepSeek</a:t>
            </a:r>
          </a:p>
        </p:txBody>
      </p:sp>
      <p:sp>
        <p:nvSpPr>
          <p:cNvPr id="1167" name="Avg head"/>
          <p:cNvSpPr txBox="1"/>
          <p:nvPr/>
        </p:nvSpPr>
        <p:spPr>
          <a:xfrm>
            <a:off x="10296144" y="3493008"/>
            <a:ext cx="685800" cy="237744"/>
          </a:xfrm>
          <a:prstGeom prst="rect">
            <a:avLst/>
          </a:prstGeom>
          <a:noFill/>
          <a:ln>
            <a:noFill/>
          </a:ln>
        </p:spPr>
        <p:txBody>
          <a:bodyPr wrap="square" lIns="0" tIns="0" rIns="0" bIns="0" anchor="ctr">
            <a:noAutofit/>
          </a:bodyPr>
          <a:lstStyle/>
          <a:p>
            <a:pPr algn="ctr"/>
            <a:r>
              <a:rPr lang="en-US" sz="1000" b="1" i="0" dirty="0">
                <a:solidFill>
                  <a:srgbClr val="5B6770"/>
                </a:solidFill>
                <a:latin typeface="Calibri"/>
                <a:cs typeface="Calibri"/>
              </a:rPr>
              <a:t xml:space="preserve">Avg</a:t>
            </a:r>
          </a:p>
        </p:txBody>
      </p:sp>
      <p:sp>
        <p:nvSpPr>
          <p:cNvPr id="1168" name="Method"/>
          <p:cNvSpPr txBox="1"/>
          <p:nvPr/>
        </p:nvSpPr>
        <p:spPr>
          <a:xfrm>
            <a:off x="1078992" y="3840480"/>
            <a:ext cx="1600200" cy="457200"/>
          </a:xfrm>
          <a:prstGeom prst="rect">
            <a:avLst/>
          </a:prstGeom>
          <a:noFill/>
          <a:ln>
            <a:noFill/>
          </a:ln>
        </p:spPr>
        <p:txBody>
          <a:bodyPr wrap="square" lIns="0" tIns="0" rIns="0" bIns="0" anchor="ctr">
            <a:noAutofit/>
          </a:bodyPr>
          <a:lstStyle/>
          <a:p>
            <a:pPr algn="l"/>
            <a:r>
              <a:rPr lang="en-US" sz="1200" b="0" i="0" dirty="0">
                <a:solidFill>
                  <a:srgbClr val="1F2328"/>
                </a:solidFill>
                <a:latin typeface="Calibri"/>
                <a:cs typeface="Calibri"/>
              </a:rPr>
              <a:t xml:space="preserve">Direct Mapping</a:t>
            </a:r>
          </a:p>
        </p:txBody>
      </p:sp>
      <p:sp>
        <p:nvSpPr>
          <p:cNvPr id="1169" name="Cell"/>
          <p:cNvSpPr/>
          <p:nvPr/>
        </p:nvSpPr>
        <p:spPr>
          <a:xfrm>
            <a:off x="2697479" y="3858768"/>
            <a:ext cx="2487168" cy="420624"/>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731</a:t>
            </a:r>
          </a:p>
        </p:txBody>
      </p:sp>
      <p:sp>
        <p:nvSpPr>
          <p:cNvPr id="1170" name="Cell"/>
          <p:cNvSpPr/>
          <p:nvPr/>
        </p:nvSpPr>
        <p:spPr>
          <a:xfrm>
            <a:off x="5221223" y="3858768"/>
            <a:ext cx="2487168" cy="420624"/>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665</a:t>
            </a:r>
          </a:p>
        </p:txBody>
      </p:sp>
      <p:sp>
        <p:nvSpPr>
          <p:cNvPr id="1171" name="Cell"/>
          <p:cNvSpPr/>
          <p:nvPr/>
        </p:nvSpPr>
        <p:spPr>
          <a:xfrm>
            <a:off x="7744967" y="3858768"/>
            <a:ext cx="2487168" cy="420624"/>
          </a:xfrm>
          <a:prstGeom prst="rect">
            <a:avLst/>
          </a:prstGeom>
          <a:solidFill>
            <a:srgbClr val="F6DAD3"/>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102</a:t>
            </a:r>
          </a:p>
        </p:txBody>
      </p:sp>
      <p:sp>
        <p:nvSpPr>
          <p:cNvPr id="1172" name="Avg"/>
          <p:cNvSpPr txBox="1"/>
          <p:nvPr/>
        </p:nvSpPr>
        <p:spPr>
          <a:xfrm>
            <a:off x="10296144" y="3840480"/>
            <a:ext cx="685800" cy="457200"/>
          </a:xfrm>
          <a:prstGeom prst="rect">
            <a:avLst/>
          </a:prstGeom>
          <a:noFill/>
          <a:ln>
            <a:noFill/>
          </a:ln>
        </p:spPr>
        <p:txBody>
          <a:bodyPr wrap="square" lIns="0" tIns="0" rIns="0" bIns="0" anchor="ctr">
            <a:noAutofit/>
          </a:bodyPr>
          <a:lstStyle/>
          <a:p>
            <a:pPr algn="ctr"/>
            <a:r>
              <a:rPr lang="en-US" sz="1250" b="0" i="0" dirty="0">
                <a:solidFill>
                  <a:srgbClr val="1F2328"/>
                </a:solidFill>
                <a:latin typeface="Calibri"/>
                <a:cs typeface="Calibri"/>
              </a:rPr>
              <a:t xml:space="preserve">499</a:t>
            </a:r>
          </a:p>
        </p:txBody>
      </p:sp>
      <p:sp>
        <p:nvSpPr>
          <p:cNvPr id="1173" name="Method"/>
          <p:cNvSpPr txBox="1"/>
          <p:nvPr/>
        </p:nvSpPr>
        <p:spPr>
          <a:xfrm>
            <a:off x="1078992" y="4297680"/>
            <a:ext cx="1600200" cy="457200"/>
          </a:xfrm>
          <a:prstGeom prst="rect">
            <a:avLst/>
          </a:prstGeom>
          <a:noFill/>
          <a:ln>
            <a:noFill/>
          </a:ln>
        </p:spPr>
        <p:txBody>
          <a:bodyPr wrap="square" lIns="0" tIns="0" rIns="0" bIns="0" anchor="ctr">
            <a:noAutofit/>
          </a:bodyPr>
          <a:lstStyle/>
          <a:p>
            <a:pPr algn="l"/>
            <a:r>
              <a:rPr lang="en-US" sz="1200" b="0" i="0" dirty="0">
                <a:solidFill>
                  <a:srgbClr val="1F2328"/>
                </a:solidFill>
                <a:latin typeface="Calibri"/>
                <a:cs typeface="Calibri"/>
              </a:rPr>
              <a:t xml:space="preserve">LLM baseline</a:t>
            </a:r>
          </a:p>
        </p:txBody>
      </p:sp>
      <p:sp>
        <p:nvSpPr>
          <p:cNvPr id="1174" name="Cell"/>
          <p:cNvSpPr/>
          <p:nvPr/>
        </p:nvSpPr>
        <p:spPr>
          <a:xfrm>
            <a:off x="2697479" y="4315968"/>
            <a:ext cx="804672" cy="420624"/>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422</a:t>
            </a:r>
          </a:p>
        </p:txBody>
      </p:sp>
      <p:sp>
        <p:nvSpPr>
          <p:cNvPr id="1175" name="Cell"/>
          <p:cNvSpPr/>
          <p:nvPr/>
        </p:nvSpPr>
        <p:spPr>
          <a:xfrm>
            <a:off x="3538727" y="4315968"/>
            <a:ext cx="804672" cy="420624"/>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397</a:t>
            </a:r>
          </a:p>
        </p:txBody>
      </p:sp>
      <p:sp>
        <p:nvSpPr>
          <p:cNvPr id="1176" name="Cell"/>
          <p:cNvSpPr/>
          <p:nvPr/>
        </p:nvSpPr>
        <p:spPr>
          <a:xfrm>
            <a:off x="4379975" y="4315968"/>
            <a:ext cx="804672" cy="420624"/>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403</a:t>
            </a:r>
          </a:p>
        </p:txBody>
      </p:sp>
      <p:sp>
        <p:nvSpPr>
          <p:cNvPr id="1177" name="Cell"/>
          <p:cNvSpPr/>
          <p:nvPr/>
        </p:nvSpPr>
        <p:spPr>
          <a:xfrm>
            <a:off x="5221223" y="4315968"/>
            <a:ext cx="804672" cy="420624"/>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434</a:t>
            </a:r>
          </a:p>
        </p:txBody>
      </p:sp>
      <p:sp>
        <p:nvSpPr>
          <p:cNvPr id="1178" name="Cell"/>
          <p:cNvSpPr/>
          <p:nvPr/>
        </p:nvSpPr>
        <p:spPr>
          <a:xfrm>
            <a:off x="6062471" y="4315968"/>
            <a:ext cx="804672" cy="420624"/>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440</a:t>
            </a:r>
          </a:p>
        </p:txBody>
      </p:sp>
      <p:sp>
        <p:nvSpPr>
          <p:cNvPr id="1179" name="Cell"/>
          <p:cNvSpPr/>
          <p:nvPr/>
        </p:nvSpPr>
        <p:spPr>
          <a:xfrm>
            <a:off x="6903720" y="4315968"/>
            <a:ext cx="804672" cy="420624"/>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421</a:t>
            </a:r>
          </a:p>
        </p:txBody>
      </p:sp>
      <p:sp>
        <p:nvSpPr>
          <p:cNvPr id="1180" name="Cell"/>
          <p:cNvSpPr/>
          <p:nvPr/>
        </p:nvSpPr>
        <p:spPr>
          <a:xfrm>
            <a:off x="7744967" y="4315968"/>
            <a:ext cx="804672" cy="420624"/>
          </a:xfrm>
          <a:prstGeom prst="rect">
            <a:avLst/>
          </a:prstGeom>
          <a:solidFill>
            <a:srgbClr val="F1F3F2"/>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95</a:t>
            </a:r>
          </a:p>
        </p:txBody>
      </p:sp>
      <p:sp>
        <p:nvSpPr>
          <p:cNvPr id="1181" name="Cell"/>
          <p:cNvSpPr/>
          <p:nvPr/>
        </p:nvSpPr>
        <p:spPr>
          <a:xfrm>
            <a:off x="8586216" y="4315968"/>
            <a:ext cx="804672" cy="420624"/>
          </a:xfrm>
          <a:prstGeom prst="rect">
            <a:avLst/>
          </a:prstGeom>
          <a:solidFill>
            <a:srgbClr val="F1F3F2"/>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74</a:t>
            </a:r>
          </a:p>
        </p:txBody>
      </p:sp>
      <p:sp>
        <p:nvSpPr>
          <p:cNvPr id="1182" name="Cell"/>
          <p:cNvSpPr/>
          <p:nvPr/>
        </p:nvSpPr>
        <p:spPr>
          <a:xfrm>
            <a:off x="9427463" y="4315968"/>
            <a:ext cx="804672" cy="420624"/>
          </a:xfrm>
          <a:prstGeom prst="rect">
            <a:avLst/>
          </a:prstGeom>
          <a:solidFill>
            <a:srgbClr val="F1F3F2"/>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81</a:t>
            </a:r>
          </a:p>
        </p:txBody>
      </p:sp>
      <p:sp>
        <p:nvSpPr>
          <p:cNvPr id="1183" name="Avg"/>
          <p:cNvSpPr txBox="1"/>
          <p:nvPr/>
        </p:nvSpPr>
        <p:spPr>
          <a:xfrm>
            <a:off x="10296144" y="4297680"/>
            <a:ext cx="685800" cy="457200"/>
          </a:xfrm>
          <a:prstGeom prst="rect">
            <a:avLst/>
          </a:prstGeom>
          <a:noFill/>
          <a:ln>
            <a:noFill/>
          </a:ln>
        </p:spPr>
        <p:txBody>
          <a:bodyPr wrap="square" lIns="0" tIns="0" rIns="0" bIns="0" anchor="ctr">
            <a:noAutofit/>
          </a:bodyPr>
          <a:lstStyle/>
          <a:p>
            <a:pPr algn="ctr"/>
            <a:r>
              <a:rPr lang="en-US" sz="1250" b="0" i="0" dirty="0">
                <a:solidFill>
                  <a:srgbClr val="1F2328"/>
                </a:solidFill>
                <a:latin typeface="Calibri"/>
                <a:cs typeface="Calibri"/>
              </a:rPr>
              <a:t xml:space="preserve">307</a:t>
            </a:r>
          </a:p>
        </p:txBody>
      </p:sp>
      <p:sp>
        <p:nvSpPr>
          <p:cNvPr id="1184" name="Method"/>
          <p:cNvSpPr txBox="1"/>
          <p:nvPr/>
        </p:nvSpPr>
        <p:spPr>
          <a:xfrm>
            <a:off x="1078992" y="4754880"/>
            <a:ext cx="1600200" cy="457200"/>
          </a:xfrm>
          <a:prstGeom prst="rect">
            <a:avLst/>
          </a:prstGeom>
          <a:noFill/>
          <a:ln>
            <a:noFill/>
          </a:ln>
        </p:spPr>
        <p:txBody>
          <a:bodyPr wrap="square" lIns="0" tIns="0" rIns="0" bIns="0" anchor="ctr">
            <a:noAutofit/>
          </a:bodyPr>
          <a:lstStyle/>
          <a:p>
            <a:pPr algn="l"/>
            <a:r>
              <a:rPr lang="en-US" sz="1200" b="0" i="0" dirty="0">
                <a:solidFill>
                  <a:srgbClr val="1F2328"/>
                </a:solidFill>
                <a:latin typeface="Calibri"/>
                <a:cs typeface="Calibri"/>
              </a:rPr>
              <a:t xml:space="preserve">Non-Iterative</a:t>
            </a:r>
          </a:p>
        </p:txBody>
      </p:sp>
      <p:sp>
        <p:nvSpPr>
          <p:cNvPr id="1185" name="Cell"/>
          <p:cNvSpPr/>
          <p:nvPr/>
        </p:nvSpPr>
        <p:spPr>
          <a:xfrm>
            <a:off x="2697479" y="4773168"/>
            <a:ext cx="804672" cy="420624"/>
          </a:xfrm>
          <a:prstGeom prst="rect">
            <a:avLst/>
          </a:prstGeom>
          <a:solidFill>
            <a:srgbClr val="DDF0E5"/>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29</a:t>
            </a:r>
          </a:p>
        </p:txBody>
      </p:sp>
      <p:sp>
        <p:nvSpPr>
          <p:cNvPr id="1186" name="Cell"/>
          <p:cNvSpPr/>
          <p:nvPr/>
        </p:nvSpPr>
        <p:spPr>
          <a:xfrm>
            <a:off x="3538727" y="4773168"/>
            <a:ext cx="804672" cy="420624"/>
          </a:xfrm>
          <a:prstGeom prst="rect">
            <a:avLst/>
          </a:prstGeom>
          <a:solidFill>
            <a:srgbClr val="F1F3F2"/>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61</a:t>
            </a:r>
          </a:p>
        </p:txBody>
      </p:sp>
      <p:sp>
        <p:nvSpPr>
          <p:cNvPr id="1187" name="Cell"/>
          <p:cNvSpPr/>
          <p:nvPr/>
        </p:nvSpPr>
        <p:spPr>
          <a:xfrm>
            <a:off x="4379975" y="4773168"/>
            <a:ext cx="804672" cy="420624"/>
          </a:xfrm>
          <a:prstGeom prst="rect">
            <a:avLst/>
          </a:prstGeom>
          <a:solidFill>
            <a:srgbClr val="DDF0E5"/>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18</a:t>
            </a:r>
          </a:p>
        </p:txBody>
      </p:sp>
      <p:sp>
        <p:nvSpPr>
          <p:cNvPr id="1188" name="Cell"/>
          <p:cNvSpPr/>
          <p:nvPr/>
        </p:nvSpPr>
        <p:spPr>
          <a:xfrm>
            <a:off x="5221223" y="4773168"/>
            <a:ext cx="804672" cy="420624"/>
          </a:xfrm>
          <a:prstGeom prst="rect">
            <a:avLst/>
          </a:prstGeom>
          <a:solidFill>
            <a:srgbClr val="F1F3F2"/>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39</a:t>
            </a:r>
          </a:p>
        </p:txBody>
      </p:sp>
      <p:sp>
        <p:nvSpPr>
          <p:cNvPr id="1189" name="Cell"/>
          <p:cNvSpPr/>
          <p:nvPr/>
        </p:nvSpPr>
        <p:spPr>
          <a:xfrm>
            <a:off x="6062471" y="4773168"/>
            <a:ext cx="804672" cy="420624"/>
          </a:xfrm>
          <a:prstGeom prst="rect">
            <a:avLst/>
          </a:prstGeom>
          <a:solidFill>
            <a:srgbClr val="F6DAD3"/>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220</a:t>
            </a:r>
          </a:p>
        </p:txBody>
      </p:sp>
      <p:sp>
        <p:nvSpPr>
          <p:cNvPr id="1190" name="Cell"/>
          <p:cNvSpPr/>
          <p:nvPr/>
        </p:nvSpPr>
        <p:spPr>
          <a:xfrm>
            <a:off x="6903720" y="4773168"/>
            <a:ext cx="804672" cy="420624"/>
          </a:xfrm>
          <a:prstGeom prst="rect">
            <a:avLst/>
          </a:prstGeom>
          <a:solidFill>
            <a:srgbClr val="DDF0E5"/>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27</a:t>
            </a:r>
          </a:p>
        </p:txBody>
      </p:sp>
      <p:sp>
        <p:nvSpPr>
          <p:cNvPr id="1191" name="Cell"/>
          <p:cNvSpPr/>
          <p:nvPr/>
        </p:nvSpPr>
        <p:spPr>
          <a:xfrm>
            <a:off x="7744967" y="4773168"/>
            <a:ext cx="804672" cy="420624"/>
          </a:xfrm>
          <a:prstGeom prst="rect">
            <a:avLst/>
          </a:prstGeom>
          <a:solidFill>
            <a:srgbClr val="DDF0E5"/>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24</a:t>
            </a:r>
          </a:p>
        </p:txBody>
      </p:sp>
      <p:sp>
        <p:nvSpPr>
          <p:cNvPr id="1192" name="Cell"/>
          <p:cNvSpPr/>
          <p:nvPr/>
        </p:nvSpPr>
        <p:spPr>
          <a:xfrm>
            <a:off x="8586216" y="4773168"/>
            <a:ext cx="804672" cy="420624"/>
          </a:xfrm>
          <a:prstGeom prst="rect">
            <a:avLst/>
          </a:prstGeom>
          <a:solidFill>
            <a:srgbClr val="F1F3F2"/>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35</a:t>
            </a:r>
          </a:p>
        </p:txBody>
      </p:sp>
      <p:sp>
        <p:nvSpPr>
          <p:cNvPr id="1193" name="Cell"/>
          <p:cNvSpPr/>
          <p:nvPr/>
        </p:nvSpPr>
        <p:spPr>
          <a:xfrm>
            <a:off x="9427463" y="4773168"/>
            <a:ext cx="804672" cy="420624"/>
          </a:xfrm>
          <a:prstGeom prst="rect">
            <a:avLst/>
          </a:prstGeom>
          <a:solidFill>
            <a:srgbClr val="DDF0E5"/>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14</a:t>
            </a:r>
          </a:p>
        </p:txBody>
      </p:sp>
      <p:sp>
        <p:nvSpPr>
          <p:cNvPr id="1194" name="Avg"/>
          <p:cNvSpPr txBox="1"/>
          <p:nvPr/>
        </p:nvSpPr>
        <p:spPr>
          <a:xfrm>
            <a:off x="10296144" y="4754880"/>
            <a:ext cx="685800" cy="457200"/>
          </a:xfrm>
          <a:prstGeom prst="rect">
            <a:avLst/>
          </a:prstGeom>
          <a:noFill/>
          <a:ln>
            <a:noFill/>
          </a:ln>
        </p:spPr>
        <p:txBody>
          <a:bodyPr wrap="square" lIns="0" tIns="0" rIns="0" bIns="0" anchor="ctr">
            <a:noAutofit/>
          </a:bodyPr>
          <a:lstStyle/>
          <a:p>
            <a:pPr algn="ctr"/>
            <a:r>
              <a:rPr lang="en-US" sz="1250" b="0" i="0" dirty="0">
                <a:solidFill>
                  <a:srgbClr val="1F2328"/>
                </a:solidFill>
                <a:latin typeface="Calibri"/>
                <a:cs typeface="Calibri"/>
              </a:rPr>
              <a:t xml:space="preserve">52</a:t>
            </a:r>
          </a:p>
        </p:txBody>
      </p:sp>
      <p:sp>
        <p:nvSpPr>
          <p:cNvPr id="1195" name="Method"/>
          <p:cNvSpPr txBox="1"/>
          <p:nvPr/>
        </p:nvSpPr>
        <p:spPr>
          <a:xfrm>
            <a:off x="1078992" y="5212080"/>
            <a:ext cx="1600200" cy="457200"/>
          </a:xfrm>
          <a:prstGeom prst="rect">
            <a:avLst/>
          </a:prstGeom>
          <a:noFill/>
          <a:ln>
            <a:noFill/>
          </a:ln>
        </p:spPr>
        <p:txBody>
          <a:bodyPr wrap="square" lIns="0" tIns="0" rIns="0" bIns="0" anchor="ctr">
            <a:noAutofit/>
          </a:bodyPr>
          <a:lstStyle/>
          <a:p>
            <a:pPr algn="l"/>
            <a:r>
              <a:rPr lang="en-US" sz="1200" b="1" i="0" dirty="0">
                <a:solidFill>
                  <a:srgbClr val="0B6E4F"/>
                </a:solidFill>
                <a:latin typeface="Calibri"/>
                <a:cs typeface="Calibri"/>
              </a:rPr>
              <a:t xml:space="preserve">RIGOR</a:t>
            </a:r>
          </a:p>
        </p:txBody>
      </p:sp>
      <p:sp>
        <p:nvSpPr>
          <p:cNvPr id="1196" name="Cell"/>
          <p:cNvSpPr/>
          <p:nvPr/>
        </p:nvSpPr>
        <p:spPr>
          <a:xfrm>
            <a:off x="2697479" y="5230368"/>
            <a:ext cx="804672" cy="420624"/>
          </a:xfrm>
          <a:prstGeom prst="rect">
            <a:avLst/>
          </a:prstGeom>
          <a:solidFill>
            <a:srgbClr val="DDF0E5"/>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20</a:t>
            </a:r>
          </a:p>
        </p:txBody>
      </p:sp>
      <p:sp>
        <p:nvSpPr>
          <p:cNvPr id="1197" name="Cell"/>
          <p:cNvSpPr/>
          <p:nvPr/>
        </p:nvSpPr>
        <p:spPr>
          <a:xfrm>
            <a:off x="3538727" y="5230368"/>
            <a:ext cx="804672" cy="420624"/>
          </a:xfrm>
          <a:prstGeom prst="rect">
            <a:avLst/>
          </a:prstGeom>
          <a:solidFill>
            <a:srgbClr val="DDF0E5"/>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23</a:t>
            </a:r>
          </a:p>
        </p:txBody>
      </p:sp>
      <p:sp>
        <p:nvSpPr>
          <p:cNvPr id="1198" name="Cell"/>
          <p:cNvSpPr/>
          <p:nvPr/>
        </p:nvSpPr>
        <p:spPr>
          <a:xfrm>
            <a:off x="4379975" y="5230368"/>
            <a:ext cx="804672" cy="420624"/>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3</a:t>
            </a:r>
          </a:p>
        </p:txBody>
      </p:sp>
      <p:sp>
        <p:nvSpPr>
          <p:cNvPr id="1199" name="Cell"/>
          <p:cNvSpPr/>
          <p:nvPr/>
        </p:nvSpPr>
        <p:spPr>
          <a:xfrm>
            <a:off x="5221223" y="5230368"/>
            <a:ext cx="804672" cy="420624"/>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2</a:t>
            </a:r>
          </a:p>
        </p:txBody>
      </p:sp>
      <p:sp>
        <p:nvSpPr>
          <p:cNvPr id="1200" name="Cell"/>
          <p:cNvSpPr/>
          <p:nvPr/>
        </p:nvSpPr>
        <p:spPr>
          <a:xfrm>
            <a:off x="6062471" y="5230368"/>
            <a:ext cx="804672" cy="420624"/>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2</a:t>
            </a:r>
          </a:p>
        </p:txBody>
      </p:sp>
      <p:sp>
        <p:nvSpPr>
          <p:cNvPr id="1201" name="Cell"/>
          <p:cNvSpPr/>
          <p:nvPr/>
        </p:nvSpPr>
        <p:spPr>
          <a:xfrm>
            <a:off x="6903720" y="5230368"/>
            <a:ext cx="804672" cy="420624"/>
          </a:xfrm>
          <a:prstGeom prst="rect">
            <a:avLst/>
          </a:prstGeom>
          <a:solidFill>
            <a:srgbClr val="DDF0E5"/>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26</a:t>
            </a:r>
          </a:p>
        </p:txBody>
      </p:sp>
      <p:sp>
        <p:nvSpPr>
          <p:cNvPr id="1202" name="Cell"/>
          <p:cNvSpPr/>
          <p:nvPr/>
        </p:nvSpPr>
        <p:spPr>
          <a:xfrm>
            <a:off x="7744967" y="5230368"/>
            <a:ext cx="804672" cy="420624"/>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0</a:t>
            </a:r>
          </a:p>
        </p:txBody>
      </p:sp>
      <p:sp>
        <p:nvSpPr>
          <p:cNvPr id="1203" name="Cell"/>
          <p:cNvSpPr/>
          <p:nvPr/>
        </p:nvSpPr>
        <p:spPr>
          <a:xfrm>
            <a:off x="8586216" y="5230368"/>
            <a:ext cx="804672" cy="420624"/>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0</a:t>
            </a:r>
          </a:p>
        </p:txBody>
      </p:sp>
      <p:sp>
        <p:nvSpPr>
          <p:cNvPr id="1204" name="Cell"/>
          <p:cNvSpPr/>
          <p:nvPr/>
        </p:nvSpPr>
        <p:spPr>
          <a:xfrm>
            <a:off x="9427463" y="5230368"/>
            <a:ext cx="804672" cy="420624"/>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0</a:t>
            </a:r>
          </a:p>
        </p:txBody>
      </p:sp>
      <p:sp>
        <p:nvSpPr>
          <p:cNvPr id="1205" name="Avg"/>
          <p:cNvSpPr txBox="1"/>
          <p:nvPr/>
        </p:nvSpPr>
        <p:spPr>
          <a:xfrm>
            <a:off x="10296144" y="5212080"/>
            <a:ext cx="685800" cy="457200"/>
          </a:xfrm>
          <a:prstGeom prst="rect">
            <a:avLst/>
          </a:prstGeom>
          <a:noFill/>
          <a:ln>
            <a:noFill/>
          </a:ln>
        </p:spPr>
        <p:txBody>
          <a:bodyPr wrap="square" lIns="0" tIns="0" rIns="0" bIns="0" anchor="ctr">
            <a:noAutofit/>
          </a:bodyPr>
          <a:lstStyle/>
          <a:p>
            <a:pPr algn="ctr"/>
            <a:r>
              <a:rPr lang="en-US" sz="1250" b="1" i="0" dirty="0">
                <a:solidFill>
                  <a:srgbClr val="0B6E4F"/>
                </a:solidFill>
                <a:latin typeface="Calibri"/>
                <a:cs typeface="Calibri"/>
              </a:rPr>
              <a:t xml:space="preserve">8</a:t>
            </a:r>
          </a:p>
        </p:txBody>
      </p:sp>
      <p:sp>
        <p:nvSpPr>
          <p:cNvPr id="1206" name="Strip"/>
          <p:cNvSpPr/>
          <p:nvPr/>
        </p:nvSpPr>
        <p:spPr>
          <a:xfrm>
            <a:off x="804672" y="5879592"/>
            <a:ext cx="10579608" cy="420624"/>
          </a:xfrm>
          <a:prstGeom prst="roundRect">
            <a:avLst>
              <a:gd name="adj" fmla="val 12000"/>
            </a:avLst>
          </a:prstGeom>
          <a:solidFill>
            <a:srgbClr val="E6F2EC"/>
          </a:solidFill>
          <a:ln>
            <a:noFill/>
          </a:ln>
        </p:spPr>
        <p:txBody>
          <a:bodyPr wrap="square" lIns="201168" tIns="0" rIns="201168" bIns="0" anchor="ctr">
            <a:noAutofit/>
          </a:bodyPr>
          <a:lstStyle/>
          <a:p>
            <a:pPr algn="l"/>
            <a:r>
              <a:rPr lang="en-US" sz="1400" b="0" i="0" dirty="0">
                <a:solidFill>
                  <a:srgbClr val="3A434C"/>
                </a:solidFill>
                <a:latin typeface="Calibri"/>
                <a:cs typeface="Calibri"/>
              </a:rPr>
              <a:t xml:space="preserve">Same LLM, same database: </a:t>
            </a:r>
            <a:r>
              <a:rPr lang="en-US" sz="1400" b="1" i="0" dirty="0">
                <a:solidFill>
                  <a:srgbClr val="B23A1E"/>
                </a:solidFill>
                <a:latin typeface="Calibri"/>
                <a:cs typeface="Calibri"/>
              </a:rPr>
              <a:t xml:space="preserve">Mistral on eICU, 220 without RIGOR</a:t>
            </a:r>
            <a:r>
              <a:rPr lang="en-US" sz="1400" b="0" i="0" dirty="0">
                <a:solidFill>
                  <a:srgbClr val="3A434C"/>
                </a:solidFill>
                <a:latin typeface="Calibri"/>
                <a:cs typeface="Calibri"/>
              </a:rPr>
              <a:t xml:space="preserve">, </a:t>
            </a:r>
            <a:r>
              <a:rPr lang="en-US" sz="1400" b="1" i="0" dirty="0">
                <a:solidFill>
                  <a:srgbClr val="0B6E4F"/>
                </a:solidFill>
                <a:latin typeface="Calibri"/>
                <a:cs typeface="Calibri"/>
              </a:rPr>
              <a:t xml:space="preserve">2 with it.</a:t>
            </a:r>
            <a:r>
              <a:rPr lang="en-US" sz="1400" b="0" i="0" dirty="0">
                <a:solidFill>
                  <a:srgbClr val="3A434C"/>
                </a:solidFill>
                <a:latin typeface="Calibri"/>
                <a:cs typeface="Calibri"/>
              </a:rPr>
              <a:t xml:space="preserve">  On Chinook, RIGOR has zero with every LLM.</a:t>
            </a:r>
          </a:p>
        </p:txBody>
      </p:sp>
      <p:sp>
        <p:nvSpPr>
          <p:cNvPr id="1207" name="Source"/>
          <p:cNvSpPr txBox="1"/>
          <p:nvPr/>
        </p:nvSpPr>
        <p:spPr>
          <a:xfrm>
            <a:off x="822960" y="6382512"/>
            <a:ext cx="10607040" cy="237744"/>
          </a:xfrm>
          <a:prstGeom prst="rect">
            <a:avLst/>
          </a:prstGeom>
          <a:noFill/>
          <a:ln>
            <a:noFill/>
          </a:ln>
        </p:spPr>
        <p:txBody>
          <a:bodyPr wrap="square" lIns="0" tIns="0" rIns="0" bIns="0" anchor="t">
            <a:noAutofit/>
          </a:bodyPr>
          <a:lstStyle/>
          <a:p>
            <a:pPr algn="l"/>
            <a:r>
              <a:rPr lang="en-US" sz="1000" b="0" i="0" dirty="0">
                <a:solidFill>
                  <a:srgbClr val="5B6770"/>
                </a:solidFill>
                <a:latin typeface="Calibri"/>
                <a:cs typeface="Calibri"/>
              </a:rPr>
              <a:t xml:space="preserve">Validity: RDFLib; consistency: HermiT (paper Sec. 4.7). Pitfalls: OOPS!, paper Table 7; 72% of the other methods' pitfalls are missing annotations (P08).</a:t>
            </a: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3" name="Shape 1143"/>
        <p:cNvGrpSpPr/>
        <p:nvPr/>
      </p:nvGrpSpPr>
      <p:grpSpPr>
        <a:xfrm>
          <a:off x="0" y="0"/>
          <a:ext cx="0" cy="0"/>
          <a:chOff x="0" y="0"/>
          <a:chExt cx="0" cy="0"/>
        </a:xfrm>
      </p:grpSpPr>
      <p:sp>
        <p:nvSpPr>
          <p:cNvPr id="1144" name="Google Shape;1144;p20"/>
          <p:cNvSpPr txBox="1"/>
          <p:nvPr/>
        </p:nvSpPr>
        <p:spPr>
          <a:xfrm>
            <a:off x="804672" y="512064"/>
            <a:ext cx="10753344"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onsolas"/>
                <a:ea typeface="Consolas"/>
                <a:cs typeface="Consolas"/>
                <a:sym typeface="Consolas"/>
              </a:rPr>
              <a:t>RESULT 3  /  MEANING IS ADDED</a:t>
            </a:r>
            <a:endParaRPr/>
          </a:p>
        </p:txBody>
      </p:sp>
      <p:sp>
        <p:nvSpPr>
          <p:cNvPr id="1145" name="Google Shape;1145;p20"/>
          <p:cNvSpPr txBox="1"/>
          <p:nvPr/>
        </p:nvSpPr>
        <p:spPr>
          <a:xfrm>
            <a:off x="804672" y="914400"/>
            <a:ext cx="10762488" cy="667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2600" u="none" cap="none" strike="noStrike">
                <a:solidFill>
                  <a:srgbClr val="1F2328"/>
                </a:solidFill>
                <a:latin typeface="Cambria"/>
                <a:ea typeface="Cambria"/>
                <a:cs typeface="Cambria"/>
                <a:sym typeface="Cambria"/>
              </a:rPr>
              <a:t>Meaning is added: labels, provenance and hierarchy.</a:t>
            </a:r>
            <a:endParaRPr/>
          </a:p>
        </p:txBody>
      </p:sp>
      <p:sp>
        <p:nvSpPr>
          <p:cNvPr id="1146" name="Subtitle"/>
          <p:cNvSpPr txBox="1"/>
          <p:nvPr/>
        </p:nvSpPr>
        <p:spPr>
          <a:xfrm>
            <a:off x="822960" y="1645920"/>
            <a:ext cx="10680192" cy="329184"/>
          </a:xfrm>
          <a:prstGeom prst="rect">
            <a:avLst/>
          </a:prstGeom>
          <a:noFill/>
          <a:ln>
            <a:noFill/>
          </a:ln>
        </p:spPr>
        <p:txBody>
          <a:bodyPr wrap="square" lIns="0" tIns="0" rIns="0" bIns="0" anchor="t">
            <a:noAutofit/>
          </a:bodyPr>
          <a:lstStyle/>
          <a:p>
            <a:pPr algn="l"/>
            <a:r>
              <a:rPr lang="en-US" sz="1600" b="0" i="0" dirty="0">
                <a:solidFill>
                  <a:srgbClr val="3A434C"/>
                </a:solidFill>
                <a:latin typeface="Calibri"/>
                <a:cs typeface="Calibri"/>
              </a:rPr>
              <a:t xml:space="preserve">Per ontology, for every LLM and database.</a:t>
            </a:r>
          </a:p>
        </p:txBody>
      </p:sp>
      <p:sp>
        <p:nvSpPr>
          <p:cNvPr id="1147" name="Ladder"/>
          <p:cNvSpPr/>
          <p:nvPr/>
        </p:nvSpPr>
        <p:spPr>
          <a:xfrm>
            <a:off x="804672" y="2103120"/>
            <a:ext cx="2042769" cy="310896"/>
          </a:xfrm>
          <a:prstGeom prst="rect">
            <a:avLst/>
          </a:prstGeom>
          <a:solidFill>
            <a:srgbClr val="E8F6EF"/>
          </a:solidFill>
          <a:ln>
            <a:noFill/>
          </a:ln>
        </p:spPr>
        <p:txBody>
          <a:bodyPr wrap="square" lIns="0" tIns="0" rIns="0" bIns="0" anchor="ctr">
            <a:noAutofit/>
          </a:bodyPr>
          <a:lstStyle/>
          <a:p>
            <a:pPr algn="ctr"/>
            <a:r>
              <a:rPr lang="en-US" sz="1000" b="1" i="0" dirty="0">
                <a:solidFill>
                  <a:srgbClr val="0B6E4F"/>
                </a:solidFill>
                <a:latin typeface="Consolas"/>
                <a:cs typeface="Consolas"/>
              </a:rPr>
              <a:t xml:space="preserve">1  VALID, FEWER ERRORS</a:t>
            </a:r>
          </a:p>
        </p:txBody>
      </p:sp>
      <p:sp>
        <p:nvSpPr>
          <p:cNvPr id="1148" name="Ladder"/>
          <p:cNvSpPr/>
          <p:nvPr/>
        </p:nvSpPr>
        <p:spPr>
          <a:xfrm>
            <a:off x="2938881" y="2103120"/>
            <a:ext cx="2042769" cy="310896"/>
          </a:xfrm>
          <a:prstGeom prst="rect">
            <a:avLst/>
          </a:prstGeom>
          <a:solidFill>
            <a:srgbClr val="E8F6EF"/>
          </a:solidFill>
          <a:ln>
            <a:noFill/>
          </a:ln>
        </p:spPr>
        <p:txBody>
          <a:bodyPr wrap="square" lIns="0" tIns="0" rIns="0" bIns="0" anchor="ctr">
            <a:noAutofit/>
          </a:bodyPr>
          <a:lstStyle/>
          <a:p>
            <a:pPr algn="ctr"/>
            <a:r>
              <a:rPr lang="en-US" sz="1000" b="1" i="0" dirty="0">
                <a:solidFill>
                  <a:srgbClr val="0B6E4F"/>
                </a:solidFill>
                <a:latin typeface="Consolas"/>
                <a:cs typeface="Consolas"/>
              </a:rPr>
              <a:t xml:space="preserve">2  KEEPS THE SCHEMA</a:t>
            </a:r>
          </a:p>
        </p:txBody>
      </p:sp>
      <p:sp>
        <p:nvSpPr>
          <p:cNvPr id="1149" name="Ladder"/>
          <p:cNvSpPr/>
          <p:nvPr/>
        </p:nvSpPr>
        <p:spPr>
          <a:xfrm>
            <a:off x="5073091" y="2103120"/>
            <a:ext cx="2042769" cy="310896"/>
          </a:xfrm>
          <a:prstGeom prst="rect">
            <a:avLst/>
          </a:prstGeom>
          <a:solidFill>
            <a:srgbClr val="0B6E4F"/>
          </a:solidFill>
          <a:ln>
            <a:noFill/>
          </a:ln>
        </p:spPr>
        <p:txBody>
          <a:bodyPr wrap="square" lIns="0" tIns="0" rIns="0" bIns="0" anchor="ctr">
            <a:noAutofit/>
          </a:bodyPr>
          <a:lstStyle/>
          <a:p>
            <a:pPr algn="ctr"/>
            <a:r>
              <a:rPr lang="en-US" sz="1000" b="1" i="0" dirty="0">
                <a:solidFill>
                  <a:srgbClr val="FFFFFF"/>
                </a:solidFill>
                <a:latin typeface="Consolas"/>
                <a:cs typeface="Consolas"/>
              </a:rPr>
              <a:t xml:space="preserve">3  ADDS MEANING</a:t>
            </a:r>
          </a:p>
        </p:txBody>
      </p:sp>
      <p:sp>
        <p:nvSpPr>
          <p:cNvPr id="1150" name="Ladder"/>
          <p:cNvSpPr/>
          <p:nvPr/>
        </p:nvSpPr>
        <p:spPr>
          <a:xfrm>
            <a:off x="7207300" y="2103120"/>
            <a:ext cx="2042769" cy="310896"/>
          </a:xfrm>
          <a:prstGeom prst="rect">
            <a:avLst/>
          </a:prstGeom>
          <a:solidFill>
            <a:srgbClr val="FFFFFF"/>
          </a:solidFill>
          <a:ln w="9525">
            <a:solidFill>
              <a:srgbClr val="D9DEDB"/>
            </a:solidFill>
          </a:ln>
        </p:spPr>
        <p:txBody>
          <a:bodyPr wrap="square" lIns="0" tIns="0" rIns="0" bIns="0" anchor="ctr">
            <a:noAutofit/>
          </a:bodyPr>
          <a:lstStyle/>
          <a:p>
            <a:pPr algn="ctr"/>
            <a:r>
              <a:rPr lang="en-US" sz="1000" b="1" i="0" dirty="0">
                <a:solidFill>
                  <a:srgbClr val="6B747B"/>
                </a:solidFill>
                <a:latin typeface="Consolas"/>
                <a:cs typeface="Consolas"/>
              </a:rPr>
              <a:t xml:space="preserve">4  GOLD MAPPINGS</a:t>
            </a:r>
          </a:p>
        </p:txBody>
      </p:sp>
      <p:sp>
        <p:nvSpPr>
          <p:cNvPr id="1151" name="Ladder"/>
          <p:cNvSpPr/>
          <p:nvPr/>
        </p:nvSpPr>
        <p:spPr>
          <a:xfrm>
            <a:off x="9341510" y="2103120"/>
            <a:ext cx="2042769" cy="310896"/>
          </a:xfrm>
          <a:prstGeom prst="rect">
            <a:avLst/>
          </a:prstGeom>
          <a:solidFill>
            <a:srgbClr val="FFFFFF"/>
          </a:solidFill>
          <a:ln w="9525">
            <a:solidFill>
              <a:srgbClr val="D9DEDB"/>
            </a:solidFill>
          </a:ln>
        </p:spPr>
        <p:txBody>
          <a:bodyPr wrap="square" lIns="0" tIns="0" rIns="0" bIns="0" anchor="ctr">
            <a:noAutofit/>
          </a:bodyPr>
          <a:lstStyle/>
          <a:p>
            <a:pPr algn="ctr"/>
            <a:r>
              <a:rPr lang="en-US" sz="1000" b="1" i="0" dirty="0">
                <a:solidFill>
                  <a:srgbClr val="6B747B"/>
                </a:solidFill>
                <a:latin typeface="Consolas"/>
                <a:cs typeface="Consolas"/>
              </a:rPr>
              <a:t xml:space="preserve">5  JUDGES</a:t>
            </a:r>
          </a:p>
        </p:txBody>
      </p:sp>
      <p:sp>
        <p:nvSpPr>
          <p:cNvPr id="1152" name="Card"/>
          <p:cNvSpPr/>
          <p:nvPr/>
        </p:nvSpPr>
        <p:spPr>
          <a:xfrm>
            <a:off x="804672" y="2606040"/>
            <a:ext cx="10579608" cy="3154680"/>
          </a:xfrm>
          <a:prstGeom prst="roundRect">
            <a:avLst>
              <a:gd name="adj" fmla="val 12000"/>
            </a:avLst>
          </a:prstGeom>
          <a:solidFill>
            <a:srgbClr val="FFFFFF"/>
          </a:solidFill>
          <a:ln w="9525">
            <a:solidFill>
              <a:srgbClr val="D9DEDB"/>
            </a:solidFill>
          </a:ln>
        </p:spPr>
        <p:txBody>
          <a:bodyPr wrap="square" lIns="0" tIns="0" rIns="0" bIns="0" anchor="t">
            <a:noAutofit/>
          </a:bodyPr>
          <a:lstStyle/>
          <a:p>
            <a:pPr algn="l"/>
          </a:p>
        </p:txBody>
      </p:sp>
      <p:sp>
        <p:nvSpPr>
          <p:cNvPr id="1153" name="Card label"/>
          <p:cNvSpPr txBox="1"/>
          <p:nvPr/>
        </p:nvSpPr>
        <p:spPr>
          <a:xfrm>
            <a:off x="1078992" y="2788920"/>
            <a:ext cx="10030968" cy="274320"/>
          </a:xfrm>
          <a:prstGeom prst="rect">
            <a:avLst/>
          </a:prstGeom>
          <a:noFill/>
          <a:ln>
            <a:noFill/>
          </a:ln>
        </p:spPr>
        <p:txBody>
          <a:bodyPr wrap="square" lIns="0" tIns="0" rIns="0" bIns="0" anchor="t">
            <a:noAutofit/>
          </a:bodyPr>
          <a:lstStyle/>
          <a:p>
            <a:pPr algn="l"/>
            <a:r>
              <a:rPr lang="en-US" sz="1300" b="1" i="0" dirty="0">
                <a:solidFill>
                  <a:srgbClr val="2F6B78"/>
                </a:solidFill>
                <a:latin typeface="Consolas"/>
                <a:cs typeface="Consolas"/>
              </a:rPr>
              <a:t xml:space="preserve">ADDS MEANING</a:t>
            </a:r>
          </a:p>
        </p:txBody>
      </p:sp>
      <p:sp>
        <p:nvSpPr>
          <p:cNvPr id="1154" name="Database"/>
          <p:cNvSpPr txBox="1"/>
          <p:nvPr/>
        </p:nvSpPr>
        <p:spPr>
          <a:xfrm>
            <a:off x="3794760" y="2990088"/>
            <a:ext cx="2249424" cy="219456"/>
          </a:xfrm>
          <a:prstGeom prst="rect">
            <a:avLst/>
          </a:prstGeom>
          <a:noFill/>
          <a:ln>
            <a:noFill/>
          </a:ln>
        </p:spPr>
        <p:txBody>
          <a:bodyPr wrap="square" lIns="0" tIns="0" rIns="0" bIns="0" anchor="ctr">
            <a:noAutofit/>
          </a:bodyPr>
          <a:lstStyle/>
          <a:p>
            <a:pPr algn="ctr"/>
            <a:r>
              <a:rPr lang="en-US" sz="1100" b="1" i="0" dirty="0">
                <a:solidFill>
                  <a:srgbClr val="1F2328"/>
                </a:solidFill>
                <a:latin typeface="Calibri"/>
                <a:cs typeface="Calibri"/>
              </a:rPr>
              <a:t xml:space="preserve">Liver Cancer</a:t>
            </a:r>
          </a:p>
        </p:txBody>
      </p:sp>
      <p:sp>
        <p:nvSpPr>
          <p:cNvPr id="1155" name="LLM"/>
          <p:cNvSpPr txBox="1"/>
          <p:nvPr/>
        </p:nvSpPr>
        <p:spPr>
          <a:xfrm>
            <a:off x="3794760" y="3218688"/>
            <a:ext cx="749808" cy="182880"/>
          </a:xfrm>
          <a:prstGeom prst="rect">
            <a:avLst/>
          </a:prstGeom>
          <a:noFill/>
          <a:ln>
            <a:noFill/>
          </a:ln>
        </p:spPr>
        <p:txBody>
          <a:bodyPr wrap="square" lIns="0" tIns="0" rIns="0" bIns="0" anchor="ctr">
            <a:noAutofit/>
          </a:bodyPr>
          <a:lstStyle/>
          <a:p>
            <a:pPr algn="ctr"/>
            <a:r>
              <a:rPr lang="en-US" sz="850" b="0" i="0" dirty="0">
                <a:solidFill>
                  <a:srgbClr val="5B6770"/>
                </a:solidFill>
                <a:latin typeface="Calibri"/>
                <a:cs typeface="Calibri"/>
              </a:rPr>
              <a:t xml:space="preserve">Claude</a:t>
            </a:r>
          </a:p>
        </p:txBody>
      </p:sp>
      <p:sp>
        <p:nvSpPr>
          <p:cNvPr id="1156" name="LLM"/>
          <p:cNvSpPr txBox="1"/>
          <p:nvPr/>
        </p:nvSpPr>
        <p:spPr>
          <a:xfrm>
            <a:off x="4544568" y="3218688"/>
            <a:ext cx="749808" cy="182880"/>
          </a:xfrm>
          <a:prstGeom prst="rect">
            <a:avLst/>
          </a:prstGeom>
          <a:noFill/>
          <a:ln>
            <a:noFill/>
          </a:ln>
        </p:spPr>
        <p:txBody>
          <a:bodyPr wrap="square" lIns="0" tIns="0" rIns="0" bIns="0" anchor="ctr">
            <a:noAutofit/>
          </a:bodyPr>
          <a:lstStyle/>
          <a:p>
            <a:pPr algn="ctr"/>
            <a:r>
              <a:rPr lang="en-US" sz="850" b="0" i="0" dirty="0">
                <a:solidFill>
                  <a:srgbClr val="5B6770"/>
                </a:solidFill>
                <a:latin typeface="Calibri"/>
                <a:cs typeface="Calibri"/>
              </a:rPr>
              <a:t xml:space="preserve">Mistral</a:t>
            </a:r>
          </a:p>
        </p:txBody>
      </p:sp>
      <p:sp>
        <p:nvSpPr>
          <p:cNvPr id="1157" name="LLM"/>
          <p:cNvSpPr txBox="1"/>
          <p:nvPr/>
        </p:nvSpPr>
        <p:spPr>
          <a:xfrm>
            <a:off x="5294376" y="3218688"/>
            <a:ext cx="749808" cy="182880"/>
          </a:xfrm>
          <a:prstGeom prst="rect">
            <a:avLst/>
          </a:prstGeom>
          <a:noFill/>
          <a:ln>
            <a:noFill/>
          </a:ln>
        </p:spPr>
        <p:txBody>
          <a:bodyPr wrap="square" lIns="0" tIns="0" rIns="0" bIns="0" anchor="ctr">
            <a:noAutofit/>
          </a:bodyPr>
          <a:lstStyle/>
          <a:p>
            <a:pPr algn="ctr"/>
            <a:r>
              <a:rPr lang="en-US" sz="850" b="0" i="0" dirty="0">
                <a:solidFill>
                  <a:srgbClr val="5B6770"/>
                </a:solidFill>
                <a:latin typeface="Calibri"/>
                <a:cs typeface="Calibri"/>
              </a:rPr>
              <a:t xml:space="preserve">DeepSeek</a:t>
            </a:r>
          </a:p>
        </p:txBody>
      </p:sp>
      <p:sp>
        <p:nvSpPr>
          <p:cNvPr id="1158" name="Database"/>
          <p:cNvSpPr txBox="1"/>
          <p:nvPr/>
        </p:nvSpPr>
        <p:spPr>
          <a:xfrm>
            <a:off x="6044184" y="2990088"/>
            <a:ext cx="2249424" cy="219456"/>
          </a:xfrm>
          <a:prstGeom prst="rect">
            <a:avLst/>
          </a:prstGeom>
          <a:noFill/>
          <a:ln>
            <a:noFill/>
          </a:ln>
        </p:spPr>
        <p:txBody>
          <a:bodyPr wrap="square" lIns="0" tIns="0" rIns="0" bIns="0" anchor="ctr">
            <a:noAutofit/>
          </a:bodyPr>
          <a:lstStyle/>
          <a:p>
            <a:pPr algn="ctr"/>
            <a:r>
              <a:rPr lang="en-US" sz="1100" b="1" i="0" dirty="0">
                <a:solidFill>
                  <a:srgbClr val="1F2328"/>
                </a:solidFill>
                <a:latin typeface="Calibri"/>
                <a:cs typeface="Calibri"/>
              </a:rPr>
              <a:t xml:space="preserve">eICU-CRD</a:t>
            </a:r>
          </a:p>
        </p:txBody>
      </p:sp>
      <p:sp>
        <p:nvSpPr>
          <p:cNvPr id="1159" name="LLM"/>
          <p:cNvSpPr txBox="1"/>
          <p:nvPr/>
        </p:nvSpPr>
        <p:spPr>
          <a:xfrm>
            <a:off x="6044184" y="3218688"/>
            <a:ext cx="749808" cy="182880"/>
          </a:xfrm>
          <a:prstGeom prst="rect">
            <a:avLst/>
          </a:prstGeom>
          <a:noFill/>
          <a:ln>
            <a:noFill/>
          </a:ln>
        </p:spPr>
        <p:txBody>
          <a:bodyPr wrap="square" lIns="0" tIns="0" rIns="0" bIns="0" anchor="ctr">
            <a:noAutofit/>
          </a:bodyPr>
          <a:lstStyle/>
          <a:p>
            <a:pPr algn="ctr"/>
            <a:r>
              <a:rPr lang="en-US" sz="850" b="0" i="0" dirty="0">
                <a:solidFill>
                  <a:srgbClr val="5B6770"/>
                </a:solidFill>
                <a:latin typeface="Calibri"/>
                <a:cs typeface="Calibri"/>
              </a:rPr>
              <a:t xml:space="preserve">Claude</a:t>
            </a:r>
          </a:p>
        </p:txBody>
      </p:sp>
      <p:sp>
        <p:nvSpPr>
          <p:cNvPr id="1160" name="LLM"/>
          <p:cNvSpPr txBox="1"/>
          <p:nvPr/>
        </p:nvSpPr>
        <p:spPr>
          <a:xfrm>
            <a:off x="6793992" y="3218688"/>
            <a:ext cx="749808" cy="182880"/>
          </a:xfrm>
          <a:prstGeom prst="rect">
            <a:avLst/>
          </a:prstGeom>
          <a:noFill/>
          <a:ln>
            <a:noFill/>
          </a:ln>
        </p:spPr>
        <p:txBody>
          <a:bodyPr wrap="square" lIns="0" tIns="0" rIns="0" bIns="0" anchor="ctr">
            <a:noAutofit/>
          </a:bodyPr>
          <a:lstStyle/>
          <a:p>
            <a:pPr algn="ctr"/>
            <a:r>
              <a:rPr lang="en-US" sz="850" b="0" i="0" dirty="0">
                <a:solidFill>
                  <a:srgbClr val="5B6770"/>
                </a:solidFill>
                <a:latin typeface="Calibri"/>
                <a:cs typeface="Calibri"/>
              </a:rPr>
              <a:t xml:space="preserve">Mistral</a:t>
            </a:r>
          </a:p>
        </p:txBody>
      </p:sp>
      <p:sp>
        <p:nvSpPr>
          <p:cNvPr id="1161" name="LLM"/>
          <p:cNvSpPr txBox="1"/>
          <p:nvPr/>
        </p:nvSpPr>
        <p:spPr>
          <a:xfrm>
            <a:off x="7543800" y="3218688"/>
            <a:ext cx="749808" cy="182880"/>
          </a:xfrm>
          <a:prstGeom prst="rect">
            <a:avLst/>
          </a:prstGeom>
          <a:noFill/>
          <a:ln>
            <a:noFill/>
          </a:ln>
        </p:spPr>
        <p:txBody>
          <a:bodyPr wrap="square" lIns="0" tIns="0" rIns="0" bIns="0" anchor="ctr">
            <a:noAutofit/>
          </a:bodyPr>
          <a:lstStyle/>
          <a:p>
            <a:pPr algn="ctr"/>
            <a:r>
              <a:rPr lang="en-US" sz="850" b="0" i="0" dirty="0">
                <a:solidFill>
                  <a:srgbClr val="5B6770"/>
                </a:solidFill>
                <a:latin typeface="Calibri"/>
                <a:cs typeface="Calibri"/>
              </a:rPr>
              <a:t xml:space="preserve">DeepSeek</a:t>
            </a:r>
          </a:p>
        </p:txBody>
      </p:sp>
      <p:sp>
        <p:nvSpPr>
          <p:cNvPr id="1162" name="Database"/>
          <p:cNvSpPr txBox="1"/>
          <p:nvPr/>
        </p:nvSpPr>
        <p:spPr>
          <a:xfrm>
            <a:off x="8293608" y="2990088"/>
            <a:ext cx="2249424" cy="219456"/>
          </a:xfrm>
          <a:prstGeom prst="rect">
            <a:avLst/>
          </a:prstGeom>
          <a:noFill/>
          <a:ln>
            <a:noFill/>
          </a:ln>
        </p:spPr>
        <p:txBody>
          <a:bodyPr wrap="square" lIns="0" tIns="0" rIns="0" bIns="0" anchor="ctr">
            <a:noAutofit/>
          </a:bodyPr>
          <a:lstStyle/>
          <a:p>
            <a:pPr algn="ctr"/>
            <a:r>
              <a:rPr lang="en-US" sz="1100" b="1" i="0" dirty="0">
                <a:solidFill>
                  <a:srgbClr val="1F2328"/>
                </a:solidFill>
                <a:latin typeface="Calibri"/>
                <a:cs typeface="Calibri"/>
              </a:rPr>
              <a:t xml:space="preserve">Chinook</a:t>
            </a:r>
          </a:p>
        </p:txBody>
      </p:sp>
      <p:sp>
        <p:nvSpPr>
          <p:cNvPr id="1163" name="LLM"/>
          <p:cNvSpPr txBox="1"/>
          <p:nvPr/>
        </p:nvSpPr>
        <p:spPr>
          <a:xfrm>
            <a:off x="8293608" y="3218688"/>
            <a:ext cx="749808" cy="182880"/>
          </a:xfrm>
          <a:prstGeom prst="rect">
            <a:avLst/>
          </a:prstGeom>
          <a:noFill/>
          <a:ln>
            <a:noFill/>
          </a:ln>
        </p:spPr>
        <p:txBody>
          <a:bodyPr wrap="square" lIns="0" tIns="0" rIns="0" bIns="0" anchor="ctr">
            <a:noAutofit/>
          </a:bodyPr>
          <a:lstStyle/>
          <a:p>
            <a:pPr algn="ctr"/>
            <a:r>
              <a:rPr lang="en-US" sz="850" b="0" i="0" dirty="0">
                <a:solidFill>
                  <a:srgbClr val="5B6770"/>
                </a:solidFill>
                <a:latin typeface="Calibri"/>
                <a:cs typeface="Calibri"/>
              </a:rPr>
              <a:t xml:space="preserve">Claude</a:t>
            </a:r>
          </a:p>
        </p:txBody>
      </p:sp>
      <p:sp>
        <p:nvSpPr>
          <p:cNvPr id="1164" name="LLM"/>
          <p:cNvSpPr txBox="1"/>
          <p:nvPr/>
        </p:nvSpPr>
        <p:spPr>
          <a:xfrm>
            <a:off x="9043416" y="3218688"/>
            <a:ext cx="749808" cy="182880"/>
          </a:xfrm>
          <a:prstGeom prst="rect">
            <a:avLst/>
          </a:prstGeom>
          <a:noFill/>
          <a:ln>
            <a:noFill/>
          </a:ln>
        </p:spPr>
        <p:txBody>
          <a:bodyPr wrap="square" lIns="0" tIns="0" rIns="0" bIns="0" anchor="ctr">
            <a:noAutofit/>
          </a:bodyPr>
          <a:lstStyle/>
          <a:p>
            <a:pPr algn="ctr"/>
            <a:r>
              <a:rPr lang="en-US" sz="850" b="0" i="0" dirty="0">
                <a:solidFill>
                  <a:srgbClr val="5B6770"/>
                </a:solidFill>
                <a:latin typeface="Calibri"/>
                <a:cs typeface="Calibri"/>
              </a:rPr>
              <a:t xml:space="preserve">Mistral</a:t>
            </a:r>
          </a:p>
        </p:txBody>
      </p:sp>
      <p:sp>
        <p:nvSpPr>
          <p:cNvPr id="1165" name="LLM"/>
          <p:cNvSpPr txBox="1"/>
          <p:nvPr/>
        </p:nvSpPr>
        <p:spPr>
          <a:xfrm>
            <a:off x="9793224" y="3218688"/>
            <a:ext cx="749808" cy="182880"/>
          </a:xfrm>
          <a:prstGeom prst="rect">
            <a:avLst/>
          </a:prstGeom>
          <a:noFill/>
          <a:ln>
            <a:noFill/>
          </a:ln>
        </p:spPr>
        <p:txBody>
          <a:bodyPr wrap="square" lIns="0" tIns="0" rIns="0" bIns="0" anchor="ctr">
            <a:noAutofit/>
          </a:bodyPr>
          <a:lstStyle/>
          <a:p>
            <a:pPr algn="ctr"/>
            <a:r>
              <a:rPr lang="en-US" sz="850" b="0" i="0" dirty="0">
                <a:solidFill>
                  <a:srgbClr val="5B6770"/>
                </a:solidFill>
                <a:latin typeface="Calibri"/>
                <a:cs typeface="Calibri"/>
              </a:rPr>
              <a:t xml:space="preserve">DeepSeek</a:t>
            </a:r>
          </a:p>
        </p:txBody>
      </p:sp>
      <p:sp>
        <p:nvSpPr>
          <p:cNvPr id="1166" name="Avg head"/>
          <p:cNvSpPr txBox="1"/>
          <p:nvPr/>
        </p:nvSpPr>
        <p:spPr>
          <a:xfrm>
            <a:off x="10588752" y="3099816"/>
            <a:ext cx="685800" cy="237744"/>
          </a:xfrm>
          <a:prstGeom prst="rect">
            <a:avLst/>
          </a:prstGeom>
          <a:noFill/>
          <a:ln>
            <a:noFill/>
          </a:ln>
        </p:spPr>
        <p:txBody>
          <a:bodyPr wrap="square" lIns="0" tIns="0" rIns="0" bIns="0" anchor="ctr">
            <a:noAutofit/>
          </a:bodyPr>
          <a:lstStyle/>
          <a:p>
            <a:pPr algn="ctr"/>
            <a:r>
              <a:rPr lang="en-US" sz="1000" b="1" i="0" dirty="0">
                <a:solidFill>
                  <a:srgbClr val="5B6770"/>
                </a:solidFill>
                <a:latin typeface="Calibri"/>
                <a:cs typeface="Calibri"/>
              </a:rPr>
              <a:t xml:space="preserve">Avg</a:t>
            </a:r>
          </a:p>
        </p:txBody>
      </p:sp>
      <p:sp>
        <p:nvSpPr>
          <p:cNvPr id="1167" name="Method"/>
          <p:cNvSpPr txBox="1"/>
          <p:nvPr/>
        </p:nvSpPr>
        <p:spPr>
          <a:xfrm>
            <a:off x="2514600" y="3447288"/>
            <a:ext cx="1280160" cy="182880"/>
          </a:xfrm>
          <a:prstGeom prst="rect">
            <a:avLst/>
          </a:prstGeom>
          <a:noFill/>
          <a:ln>
            <a:noFill/>
          </a:ln>
        </p:spPr>
        <p:txBody>
          <a:bodyPr wrap="square" lIns="0" tIns="0" rIns="0" bIns="0" anchor="ctr">
            <a:noAutofit/>
          </a:bodyPr>
          <a:lstStyle/>
          <a:p>
            <a:pPr algn="l"/>
            <a:r>
              <a:rPr lang="en-US" sz="1100" b="0" i="0" dirty="0">
                <a:solidFill>
                  <a:srgbClr val="1F2328"/>
                </a:solidFill>
                <a:latin typeface="Calibri"/>
                <a:cs typeface="Calibri"/>
              </a:rPr>
              <a:t xml:space="preserve">Direct Mapping</a:t>
            </a:r>
          </a:p>
        </p:txBody>
      </p:sp>
      <p:sp>
        <p:nvSpPr>
          <p:cNvPr id="1168" name="Method"/>
          <p:cNvSpPr txBox="1"/>
          <p:nvPr/>
        </p:nvSpPr>
        <p:spPr>
          <a:xfrm>
            <a:off x="2514600" y="3630168"/>
            <a:ext cx="1280160" cy="182880"/>
          </a:xfrm>
          <a:prstGeom prst="rect">
            <a:avLst/>
          </a:prstGeom>
          <a:noFill/>
          <a:ln>
            <a:noFill/>
          </a:ln>
        </p:spPr>
        <p:txBody>
          <a:bodyPr wrap="square" lIns="0" tIns="0" rIns="0" bIns="0" anchor="ctr">
            <a:noAutofit/>
          </a:bodyPr>
          <a:lstStyle/>
          <a:p>
            <a:pPr algn="l"/>
            <a:r>
              <a:rPr lang="en-US" sz="1100" b="0" i="0" dirty="0">
                <a:solidFill>
                  <a:srgbClr val="1F2328"/>
                </a:solidFill>
                <a:latin typeface="Calibri"/>
                <a:cs typeface="Calibri"/>
              </a:rPr>
              <a:t xml:space="preserve">LLM baseline</a:t>
            </a:r>
          </a:p>
        </p:txBody>
      </p:sp>
      <p:sp>
        <p:nvSpPr>
          <p:cNvPr id="1169" name="None"/>
          <p:cNvSpPr/>
          <p:nvPr/>
        </p:nvSpPr>
        <p:spPr>
          <a:xfrm>
            <a:off x="3813048" y="3456432"/>
            <a:ext cx="6711696" cy="347472"/>
          </a:xfrm>
          <a:prstGeom prst="rect">
            <a:avLst/>
          </a:prstGeom>
          <a:solidFill>
            <a:srgbClr val="F6DAD3"/>
          </a:solidFill>
          <a:ln>
            <a:noFill/>
          </a:ln>
        </p:spPr>
        <p:txBody>
          <a:bodyPr wrap="square" lIns="0" tIns="0" rIns="0" bIns="0" anchor="ctr">
            <a:noAutofit/>
          </a:bodyPr>
          <a:lstStyle/>
          <a:p>
            <a:pPr algn="ctr"/>
            <a:r>
              <a:rPr lang="en-US" sz="1150" b="0" i="1" dirty="0">
                <a:solidFill>
                  <a:srgbClr val="1F2328"/>
                </a:solidFill>
                <a:latin typeface="Calibri"/>
                <a:cs typeface="Calibri"/>
              </a:rPr>
              <a:t xml:space="preserve">No labels, provenance or class hierarchy, in any run.</a:t>
            </a:r>
          </a:p>
        </p:txBody>
      </p:sp>
      <p:sp>
        <p:nvSpPr>
          <p:cNvPr id="1170" name="Metric"/>
          <p:cNvSpPr txBox="1"/>
          <p:nvPr/>
        </p:nvSpPr>
        <p:spPr>
          <a:xfrm>
            <a:off x="1078992" y="3867912"/>
            <a:ext cx="1417320" cy="512064"/>
          </a:xfrm>
          <a:prstGeom prst="rect">
            <a:avLst/>
          </a:prstGeom>
          <a:noFill/>
          <a:ln>
            <a:noFill/>
          </a:ln>
        </p:spPr>
        <p:txBody>
          <a:bodyPr wrap="square" lIns="0" tIns="0" rIns="0" bIns="0" anchor="ctr">
            <a:noAutofit/>
          </a:bodyPr>
          <a:lstStyle/>
          <a:p>
            <a:pPr algn="l"/>
            <a:r>
              <a:rPr lang="en-US" sz="1150" b="1" i="0" dirty="0">
                <a:solidFill>
                  <a:srgbClr val="2F6B78"/>
                </a:solidFill>
                <a:latin typeface="Calibri"/>
                <a:cs typeface="Calibri"/>
              </a:rPr>
              <a:t xml:space="preserve">Labels &amp; comments</a:t>
            </a:r>
          </a:p>
        </p:txBody>
      </p:sp>
      <p:sp>
        <p:nvSpPr>
          <p:cNvPr id="1171" name="Method"/>
          <p:cNvSpPr txBox="1"/>
          <p:nvPr/>
        </p:nvSpPr>
        <p:spPr>
          <a:xfrm>
            <a:off x="2514600" y="3867912"/>
            <a:ext cx="1280160" cy="256032"/>
          </a:xfrm>
          <a:prstGeom prst="rect">
            <a:avLst/>
          </a:prstGeom>
          <a:noFill/>
          <a:ln>
            <a:noFill/>
          </a:ln>
        </p:spPr>
        <p:txBody>
          <a:bodyPr wrap="square" lIns="0" tIns="0" rIns="0" bIns="0" anchor="ctr">
            <a:noAutofit/>
          </a:bodyPr>
          <a:lstStyle/>
          <a:p>
            <a:pPr algn="l"/>
            <a:r>
              <a:rPr lang="en-US" sz="1200" b="0" i="0" dirty="0">
                <a:solidFill>
                  <a:srgbClr val="1F2328"/>
                </a:solidFill>
                <a:latin typeface="Calibri"/>
                <a:cs typeface="Calibri"/>
              </a:rPr>
              <a:t xml:space="preserve">Non-Iterative RAG</a:t>
            </a:r>
          </a:p>
        </p:txBody>
      </p:sp>
      <p:sp>
        <p:nvSpPr>
          <p:cNvPr id="1172" name="Cell"/>
          <p:cNvSpPr/>
          <p:nvPr/>
        </p:nvSpPr>
        <p:spPr>
          <a:xfrm>
            <a:off x="3813048" y="3886200"/>
            <a:ext cx="713231" cy="219456"/>
          </a:xfrm>
          <a:prstGeom prst="rect">
            <a:avLst/>
          </a:prstGeom>
          <a:solidFill>
            <a:srgbClr val="DDF0E5"/>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680</a:t>
            </a:r>
          </a:p>
        </p:txBody>
      </p:sp>
      <p:sp>
        <p:nvSpPr>
          <p:cNvPr id="1173" name="Cell"/>
          <p:cNvSpPr/>
          <p:nvPr/>
        </p:nvSpPr>
        <p:spPr>
          <a:xfrm>
            <a:off x="4562856" y="3886200"/>
            <a:ext cx="713231" cy="219456"/>
          </a:xfrm>
          <a:prstGeom prst="rect">
            <a:avLst/>
          </a:prstGeom>
          <a:solidFill>
            <a:srgbClr val="F6DAD3"/>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134</a:t>
            </a:r>
          </a:p>
        </p:txBody>
      </p:sp>
      <p:sp>
        <p:nvSpPr>
          <p:cNvPr id="1174" name="Cell"/>
          <p:cNvSpPr/>
          <p:nvPr/>
        </p:nvSpPr>
        <p:spPr>
          <a:xfrm>
            <a:off x="5312664" y="3886200"/>
            <a:ext cx="713231" cy="219456"/>
          </a:xfrm>
          <a:prstGeom prst="rect">
            <a:avLst/>
          </a:prstGeom>
          <a:solidFill>
            <a:srgbClr val="DDF0E5"/>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736</a:t>
            </a:r>
          </a:p>
        </p:txBody>
      </p:sp>
      <p:sp>
        <p:nvSpPr>
          <p:cNvPr id="1175" name="Cell"/>
          <p:cNvSpPr/>
          <p:nvPr/>
        </p:nvSpPr>
        <p:spPr>
          <a:xfrm>
            <a:off x="6062472" y="3886200"/>
            <a:ext cx="713231" cy="219456"/>
          </a:xfrm>
          <a:prstGeom prst="rect">
            <a:avLst/>
          </a:prstGeom>
          <a:solidFill>
            <a:srgbClr val="DDF0E5"/>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877</a:t>
            </a:r>
          </a:p>
        </p:txBody>
      </p:sp>
      <p:sp>
        <p:nvSpPr>
          <p:cNvPr id="1176" name="Cell"/>
          <p:cNvSpPr/>
          <p:nvPr/>
        </p:nvSpPr>
        <p:spPr>
          <a:xfrm>
            <a:off x="6812279" y="3886200"/>
            <a:ext cx="713231" cy="219456"/>
          </a:xfrm>
          <a:prstGeom prst="rect">
            <a:avLst/>
          </a:prstGeom>
          <a:solidFill>
            <a:srgbClr val="F6DAD3"/>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157</a:t>
            </a:r>
          </a:p>
        </p:txBody>
      </p:sp>
      <p:sp>
        <p:nvSpPr>
          <p:cNvPr id="1177" name="Cell"/>
          <p:cNvSpPr/>
          <p:nvPr/>
        </p:nvSpPr>
        <p:spPr>
          <a:xfrm>
            <a:off x="7562088" y="3886200"/>
            <a:ext cx="713231" cy="219456"/>
          </a:xfrm>
          <a:prstGeom prst="rect">
            <a:avLst/>
          </a:prstGeom>
          <a:solidFill>
            <a:srgbClr val="F1F3F2"/>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743</a:t>
            </a:r>
          </a:p>
        </p:txBody>
      </p:sp>
      <p:sp>
        <p:nvSpPr>
          <p:cNvPr id="1178" name="Cell"/>
          <p:cNvSpPr/>
          <p:nvPr/>
        </p:nvSpPr>
        <p:spPr>
          <a:xfrm>
            <a:off x="8311896" y="3886200"/>
            <a:ext cx="713231" cy="219456"/>
          </a:xfrm>
          <a:prstGeom prst="rect">
            <a:avLst/>
          </a:prstGeom>
          <a:solidFill>
            <a:srgbClr val="F1F3F2"/>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98</a:t>
            </a:r>
          </a:p>
        </p:txBody>
      </p:sp>
      <p:sp>
        <p:nvSpPr>
          <p:cNvPr id="1179" name="Cell"/>
          <p:cNvSpPr/>
          <p:nvPr/>
        </p:nvSpPr>
        <p:spPr>
          <a:xfrm>
            <a:off x="9061704" y="3886200"/>
            <a:ext cx="713231" cy="219456"/>
          </a:xfrm>
          <a:prstGeom prst="rect">
            <a:avLst/>
          </a:prstGeom>
          <a:solidFill>
            <a:srgbClr val="F6DAD3"/>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14</a:t>
            </a:r>
          </a:p>
        </p:txBody>
      </p:sp>
      <p:sp>
        <p:nvSpPr>
          <p:cNvPr id="1180" name="Cell"/>
          <p:cNvSpPr/>
          <p:nvPr/>
        </p:nvSpPr>
        <p:spPr>
          <a:xfrm>
            <a:off x="9811512" y="3886200"/>
            <a:ext cx="713231" cy="219456"/>
          </a:xfrm>
          <a:prstGeom prst="rect">
            <a:avLst/>
          </a:prstGeom>
          <a:solidFill>
            <a:srgbClr val="F6DAD3"/>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64</a:t>
            </a:r>
          </a:p>
        </p:txBody>
      </p:sp>
      <p:sp>
        <p:nvSpPr>
          <p:cNvPr id="1181" name="Avg"/>
          <p:cNvSpPr txBox="1"/>
          <p:nvPr/>
        </p:nvSpPr>
        <p:spPr>
          <a:xfrm>
            <a:off x="10588752" y="3867912"/>
            <a:ext cx="685800" cy="256032"/>
          </a:xfrm>
          <a:prstGeom prst="rect">
            <a:avLst/>
          </a:prstGeom>
          <a:noFill/>
          <a:ln>
            <a:noFill/>
          </a:ln>
        </p:spPr>
        <p:txBody>
          <a:bodyPr wrap="square" lIns="0" tIns="0" rIns="0" bIns="0" anchor="ctr">
            <a:noAutofit/>
          </a:bodyPr>
          <a:lstStyle/>
          <a:p>
            <a:pPr algn="ctr"/>
            <a:r>
              <a:rPr lang="en-US" sz="1250" b="0" i="0" dirty="0">
                <a:solidFill>
                  <a:srgbClr val="1F2328"/>
                </a:solidFill>
                <a:latin typeface="Calibri"/>
                <a:cs typeface="Calibri"/>
              </a:rPr>
              <a:t xml:space="preserve">389</a:t>
            </a:r>
          </a:p>
        </p:txBody>
      </p:sp>
      <p:sp>
        <p:nvSpPr>
          <p:cNvPr id="1182" name="Method"/>
          <p:cNvSpPr txBox="1"/>
          <p:nvPr/>
        </p:nvSpPr>
        <p:spPr>
          <a:xfrm>
            <a:off x="2514600" y="4123944"/>
            <a:ext cx="1280160" cy="256032"/>
          </a:xfrm>
          <a:prstGeom prst="rect">
            <a:avLst/>
          </a:prstGeom>
          <a:noFill/>
          <a:ln>
            <a:noFill/>
          </a:ln>
        </p:spPr>
        <p:txBody>
          <a:bodyPr wrap="square" lIns="0" tIns="0" rIns="0" bIns="0" anchor="ctr">
            <a:noAutofit/>
          </a:bodyPr>
          <a:lstStyle/>
          <a:p>
            <a:pPr algn="l"/>
            <a:r>
              <a:rPr lang="en-US" sz="1200" b="1" i="0" dirty="0">
                <a:solidFill>
                  <a:srgbClr val="0B6E4F"/>
                </a:solidFill>
                <a:latin typeface="Calibri"/>
                <a:cs typeface="Calibri"/>
              </a:rPr>
              <a:t xml:space="preserve">RIGOR</a:t>
            </a:r>
          </a:p>
        </p:txBody>
      </p:sp>
      <p:sp>
        <p:nvSpPr>
          <p:cNvPr id="1183" name="Cell"/>
          <p:cNvSpPr/>
          <p:nvPr/>
        </p:nvSpPr>
        <p:spPr>
          <a:xfrm>
            <a:off x="3813048" y="4142232"/>
            <a:ext cx="713231" cy="219456"/>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1,029</a:t>
            </a:r>
          </a:p>
        </p:txBody>
      </p:sp>
      <p:sp>
        <p:nvSpPr>
          <p:cNvPr id="1184" name="Cell"/>
          <p:cNvSpPr/>
          <p:nvPr/>
        </p:nvSpPr>
        <p:spPr>
          <a:xfrm>
            <a:off x="4562856" y="4142232"/>
            <a:ext cx="713231" cy="219456"/>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1,137</a:t>
            </a:r>
          </a:p>
        </p:txBody>
      </p:sp>
      <p:sp>
        <p:nvSpPr>
          <p:cNvPr id="1185" name="Cell"/>
          <p:cNvSpPr/>
          <p:nvPr/>
        </p:nvSpPr>
        <p:spPr>
          <a:xfrm>
            <a:off x="5312664" y="4142232"/>
            <a:ext cx="713231" cy="219456"/>
          </a:xfrm>
          <a:prstGeom prst="rect">
            <a:avLst/>
          </a:prstGeom>
          <a:solidFill>
            <a:srgbClr val="F1F3F2"/>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341</a:t>
            </a:r>
          </a:p>
        </p:txBody>
      </p:sp>
      <p:sp>
        <p:nvSpPr>
          <p:cNvPr id="1186" name="Cell"/>
          <p:cNvSpPr/>
          <p:nvPr/>
        </p:nvSpPr>
        <p:spPr>
          <a:xfrm>
            <a:off x="6062472" y="4142232"/>
            <a:ext cx="713231" cy="219456"/>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1,291</a:t>
            </a:r>
          </a:p>
        </p:txBody>
      </p:sp>
      <p:sp>
        <p:nvSpPr>
          <p:cNvPr id="1187" name="Cell"/>
          <p:cNvSpPr/>
          <p:nvPr/>
        </p:nvSpPr>
        <p:spPr>
          <a:xfrm>
            <a:off x="6812279" y="4142232"/>
            <a:ext cx="713231" cy="219456"/>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1,684</a:t>
            </a:r>
          </a:p>
        </p:txBody>
      </p:sp>
      <p:sp>
        <p:nvSpPr>
          <p:cNvPr id="1188" name="Cell"/>
          <p:cNvSpPr/>
          <p:nvPr/>
        </p:nvSpPr>
        <p:spPr>
          <a:xfrm>
            <a:off x="7562088" y="4142232"/>
            <a:ext cx="713231" cy="219456"/>
          </a:xfrm>
          <a:prstGeom prst="rect">
            <a:avLst/>
          </a:prstGeom>
          <a:solidFill>
            <a:srgbClr val="F1F3F2"/>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435</a:t>
            </a:r>
          </a:p>
        </p:txBody>
      </p:sp>
      <p:sp>
        <p:nvSpPr>
          <p:cNvPr id="1189" name="Cell"/>
          <p:cNvSpPr/>
          <p:nvPr/>
        </p:nvSpPr>
        <p:spPr>
          <a:xfrm>
            <a:off x="8311896" y="4142232"/>
            <a:ext cx="713231" cy="219456"/>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357</a:t>
            </a:r>
          </a:p>
        </p:txBody>
      </p:sp>
      <p:sp>
        <p:nvSpPr>
          <p:cNvPr id="1190" name="Cell"/>
          <p:cNvSpPr/>
          <p:nvPr/>
        </p:nvSpPr>
        <p:spPr>
          <a:xfrm>
            <a:off x="9061704" y="4142232"/>
            <a:ext cx="713231" cy="219456"/>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362</a:t>
            </a:r>
          </a:p>
        </p:txBody>
      </p:sp>
      <p:sp>
        <p:nvSpPr>
          <p:cNvPr id="1191" name="Cell"/>
          <p:cNvSpPr/>
          <p:nvPr/>
        </p:nvSpPr>
        <p:spPr>
          <a:xfrm>
            <a:off x="9811512" y="4142232"/>
            <a:ext cx="713231" cy="219456"/>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359</a:t>
            </a:r>
          </a:p>
        </p:txBody>
      </p:sp>
      <p:sp>
        <p:nvSpPr>
          <p:cNvPr id="1192" name="Avg"/>
          <p:cNvSpPr txBox="1"/>
          <p:nvPr/>
        </p:nvSpPr>
        <p:spPr>
          <a:xfrm>
            <a:off x="10588752" y="4123944"/>
            <a:ext cx="685800" cy="256032"/>
          </a:xfrm>
          <a:prstGeom prst="rect">
            <a:avLst/>
          </a:prstGeom>
          <a:noFill/>
          <a:ln>
            <a:noFill/>
          </a:ln>
        </p:spPr>
        <p:txBody>
          <a:bodyPr wrap="square" lIns="0" tIns="0" rIns="0" bIns="0" anchor="ctr">
            <a:noAutofit/>
          </a:bodyPr>
          <a:lstStyle/>
          <a:p>
            <a:pPr algn="ctr"/>
            <a:r>
              <a:rPr lang="en-US" sz="1250" b="1" i="0" dirty="0">
                <a:solidFill>
                  <a:srgbClr val="0B6E4F"/>
                </a:solidFill>
                <a:latin typeface="Calibri"/>
                <a:cs typeface="Calibri"/>
              </a:rPr>
              <a:t xml:space="preserve">777</a:t>
            </a:r>
          </a:p>
        </p:txBody>
      </p:sp>
      <p:sp>
        <p:nvSpPr>
          <p:cNvPr id="1193" name="Metric"/>
          <p:cNvSpPr txBox="1"/>
          <p:nvPr/>
        </p:nvSpPr>
        <p:spPr>
          <a:xfrm>
            <a:off x="1078992" y="4425696"/>
            <a:ext cx="1417320" cy="512064"/>
          </a:xfrm>
          <a:prstGeom prst="rect">
            <a:avLst/>
          </a:prstGeom>
          <a:noFill/>
          <a:ln>
            <a:noFill/>
          </a:ln>
        </p:spPr>
        <p:txBody>
          <a:bodyPr wrap="square" lIns="0" tIns="0" rIns="0" bIns="0" anchor="ctr">
            <a:noAutofit/>
          </a:bodyPr>
          <a:lstStyle/>
          <a:p>
            <a:pPr algn="l"/>
            <a:r>
              <a:rPr lang="en-US" sz="1150" b="1" i="0" dirty="0">
                <a:solidFill>
                  <a:srgbClr val="2F6B78"/>
                </a:solidFill>
                <a:latin typeface="Calibri"/>
                <a:cs typeface="Calibri"/>
              </a:rPr>
              <a:t xml:space="preserve">Provenance links</a:t>
            </a:r>
          </a:p>
        </p:txBody>
      </p:sp>
      <p:sp>
        <p:nvSpPr>
          <p:cNvPr id="1194" name="Method"/>
          <p:cNvSpPr txBox="1"/>
          <p:nvPr/>
        </p:nvSpPr>
        <p:spPr>
          <a:xfrm>
            <a:off x="2514600" y="4425696"/>
            <a:ext cx="1280160" cy="256032"/>
          </a:xfrm>
          <a:prstGeom prst="rect">
            <a:avLst/>
          </a:prstGeom>
          <a:noFill/>
          <a:ln>
            <a:noFill/>
          </a:ln>
        </p:spPr>
        <p:txBody>
          <a:bodyPr wrap="square" lIns="0" tIns="0" rIns="0" bIns="0" anchor="ctr">
            <a:noAutofit/>
          </a:bodyPr>
          <a:lstStyle/>
          <a:p>
            <a:pPr algn="l"/>
            <a:r>
              <a:rPr lang="en-US" sz="1200" b="0" i="0" dirty="0">
                <a:solidFill>
                  <a:srgbClr val="1F2328"/>
                </a:solidFill>
                <a:latin typeface="Calibri"/>
                <a:cs typeface="Calibri"/>
              </a:rPr>
              <a:t xml:space="preserve">Non-Iterative RAG</a:t>
            </a:r>
          </a:p>
        </p:txBody>
      </p:sp>
      <p:sp>
        <p:nvSpPr>
          <p:cNvPr id="1195" name="Cell"/>
          <p:cNvSpPr/>
          <p:nvPr/>
        </p:nvSpPr>
        <p:spPr>
          <a:xfrm>
            <a:off x="3813048" y="4443984"/>
            <a:ext cx="713231" cy="219456"/>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0</a:t>
            </a:r>
          </a:p>
        </p:txBody>
      </p:sp>
      <p:sp>
        <p:nvSpPr>
          <p:cNvPr id="1196" name="Cell"/>
          <p:cNvSpPr/>
          <p:nvPr/>
        </p:nvSpPr>
        <p:spPr>
          <a:xfrm>
            <a:off x="4562856" y="4443984"/>
            <a:ext cx="713231" cy="219456"/>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0</a:t>
            </a:r>
          </a:p>
        </p:txBody>
      </p:sp>
      <p:sp>
        <p:nvSpPr>
          <p:cNvPr id="1197" name="Cell"/>
          <p:cNvSpPr/>
          <p:nvPr/>
        </p:nvSpPr>
        <p:spPr>
          <a:xfrm>
            <a:off x="5312664" y="4443984"/>
            <a:ext cx="713231" cy="219456"/>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0</a:t>
            </a:r>
          </a:p>
        </p:txBody>
      </p:sp>
      <p:sp>
        <p:nvSpPr>
          <p:cNvPr id="1198" name="Cell"/>
          <p:cNvSpPr/>
          <p:nvPr/>
        </p:nvSpPr>
        <p:spPr>
          <a:xfrm>
            <a:off x="6062472" y="4443984"/>
            <a:ext cx="713231" cy="219456"/>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0</a:t>
            </a:r>
          </a:p>
        </p:txBody>
      </p:sp>
      <p:sp>
        <p:nvSpPr>
          <p:cNvPr id="1199" name="Cell"/>
          <p:cNvSpPr/>
          <p:nvPr/>
        </p:nvSpPr>
        <p:spPr>
          <a:xfrm>
            <a:off x="6812279" y="4443984"/>
            <a:ext cx="713231" cy="219456"/>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0</a:t>
            </a:r>
          </a:p>
        </p:txBody>
      </p:sp>
      <p:sp>
        <p:nvSpPr>
          <p:cNvPr id="1200" name="Cell"/>
          <p:cNvSpPr/>
          <p:nvPr/>
        </p:nvSpPr>
        <p:spPr>
          <a:xfrm>
            <a:off x="7562088" y="4443984"/>
            <a:ext cx="713231" cy="219456"/>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0</a:t>
            </a:r>
          </a:p>
        </p:txBody>
      </p:sp>
      <p:sp>
        <p:nvSpPr>
          <p:cNvPr id="1201" name="Cell"/>
          <p:cNvSpPr/>
          <p:nvPr/>
        </p:nvSpPr>
        <p:spPr>
          <a:xfrm>
            <a:off x="8311896" y="4443984"/>
            <a:ext cx="713231" cy="219456"/>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0</a:t>
            </a:r>
          </a:p>
        </p:txBody>
      </p:sp>
      <p:sp>
        <p:nvSpPr>
          <p:cNvPr id="1202" name="Cell"/>
          <p:cNvSpPr/>
          <p:nvPr/>
        </p:nvSpPr>
        <p:spPr>
          <a:xfrm>
            <a:off x="9061704" y="4443984"/>
            <a:ext cx="713231" cy="219456"/>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0</a:t>
            </a:r>
          </a:p>
        </p:txBody>
      </p:sp>
      <p:sp>
        <p:nvSpPr>
          <p:cNvPr id="1203" name="Cell"/>
          <p:cNvSpPr/>
          <p:nvPr/>
        </p:nvSpPr>
        <p:spPr>
          <a:xfrm>
            <a:off x="9811512" y="4443984"/>
            <a:ext cx="713231" cy="219456"/>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0</a:t>
            </a:r>
          </a:p>
        </p:txBody>
      </p:sp>
      <p:sp>
        <p:nvSpPr>
          <p:cNvPr id="1204" name="Avg"/>
          <p:cNvSpPr txBox="1"/>
          <p:nvPr/>
        </p:nvSpPr>
        <p:spPr>
          <a:xfrm>
            <a:off x="10588752" y="4425696"/>
            <a:ext cx="685800" cy="256032"/>
          </a:xfrm>
          <a:prstGeom prst="rect">
            <a:avLst/>
          </a:prstGeom>
          <a:noFill/>
          <a:ln>
            <a:noFill/>
          </a:ln>
        </p:spPr>
        <p:txBody>
          <a:bodyPr wrap="square" lIns="0" tIns="0" rIns="0" bIns="0" anchor="ctr">
            <a:noAutofit/>
          </a:bodyPr>
          <a:lstStyle/>
          <a:p>
            <a:pPr algn="ctr"/>
            <a:r>
              <a:rPr lang="en-US" sz="1250" b="0" i="0" dirty="0">
                <a:solidFill>
                  <a:srgbClr val="1F2328"/>
                </a:solidFill>
                <a:latin typeface="Calibri"/>
                <a:cs typeface="Calibri"/>
              </a:rPr>
              <a:t xml:space="preserve">0</a:t>
            </a:r>
          </a:p>
        </p:txBody>
      </p:sp>
      <p:sp>
        <p:nvSpPr>
          <p:cNvPr id="1205" name="Method"/>
          <p:cNvSpPr txBox="1"/>
          <p:nvPr/>
        </p:nvSpPr>
        <p:spPr>
          <a:xfrm>
            <a:off x="2514600" y="4681728"/>
            <a:ext cx="1280160" cy="256032"/>
          </a:xfrm>
          <a:prstGeom prst="rect">
            <a:avLst/>
          </a:prstGeom>
          <a:noFill/>
          <a:ln>
            <a:noFill/>
          </a:ln>
        </p:spPr>
        <p:txBody>
          <a:bodyPr wrap="square" lIns="0" tIns="0" rIns="0" bIns="0" anchor="ctr">
            <a:noAutofit/>
          </a:bodyPr>
          <a:lstStyle/>
          <a:p>
            <a:pPr algn="l"/>
            <a:r>
              <a:rPr lang="en-US" sz="1200" b="1" i="0" dirty="0">
                <a:solidFill>
                  <a:srgbClr val="0B6E4F"/>
                </a:solidFill>
                <a:latin typeface="Calibri"/>
                <a:cs typeface="Calibri"/>
              </a:rPr>
              <a:t xml:space="preserve">RIGOR</a:t>
            </a:r>
          </a:p>
        </p:txBody>
      </p:sp>
      <p:sp>
        <p:nvSpPr>
          <p:cNvPr id="1206" name="Cell"/>
          <p:cNvSpPr/>
          <p:nvPr/>
        </p:nvSpPr>
        <p:spPr>
          <a:xfrm>
            <a:off x="3813048" y="4700016"/>
            <a:ext cx="713231" cy="219456"/>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336</a:t>
            </a:r>
          </a:p>
        </p:txBody>
      </p:sp>
      <p:sp>
        <p:nvSpPr>
          <p:cNvPr id="1207" name="Cell"/>
          <p:cNvSpPr/>
          <p:nvPr/>
        </p:nvSpPr>
        <p:spPr>
          <a:xfrm>
            <a:off x="4562856" y="4700016"/>
            <a:ext cx="713231" cy="219456"/>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308</a:t>
            </a:r>
          </a:p>
        </p:txBody>
      </p:sp>
      <p:sp>
        <p:nvSpPr>
          <p:cNvPr id="1208" name="Cell"/>
          <p:cNvSpPr/>
          <p:nvPr/>
        </p:nvSpPr>
        <p:spPr>
          <a:xfrm>
            <a:off x="5312664" y="4700016"/>
            <a:ext cx="713231" cy="219456"/>
          </a:xfrm>
          <a:prstGeom prst="rect">
            <a:avLst/>
          </a:prstGeom>
          <a:solidFill>
            <a:srgbClr val="F6DAD3"/>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22</a:t>
            </a:r>
          </a:p>
        </p:txBody>
      </p:sp>
      <p:sp>
        <p:nvSpPr>
          <p:cNvPr id="1209" name="Cell"/>
          <p:cNvSpPr/>
          <p:nvPr/>
        </p:nvSpPr>
        <p:spPr>
          <a:xfrm>
            <a:off x="6062472" y="4700016"/>
            <a:ext cx="713231" cy="219456"/>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423</a:t>
            </a:r>
          </a:p>
        </p:txBody>
      </p:sp>
      <p:sp>
        <p:nvSpPr>
          <p:cNvPr id="1210" name="Cell"/>
          <p:cNvSpPr/>
          <p:nvPr/>
        </p:nvSpPr>
        <p:spPr>
          <a:xfrm>
            <a:off x="6812279" y="4700016"/>
            <a:ext cx="713231" cy="219456"/>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335</a:t>
            </a:r>
          </a:p>
        </p:txBody>
      </p:sp>
      <p:sp>
        <p:nvSpPr>
          <p:cNvPr id="1211" name="Cell"/>
          <p:cNvSpPr/>
          <p:nvPr/>
        </p:nvSpPr>
        <p:spPr>
          <a:xfrm>
            <a:off x="7562088" y="4700016"/>
            <a:ext cx="713231" cy="219456"/>
          </a:xfrm>
          <a:prstGeom prst="rect">
            <a:avLst/>
          </a:prstGeom>
          <a:solidFill>
            <a:srgbClr val="F6DAD3"/>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99</a:t>
            </a:r>
          </a:p>
        </p:txBody>
      </p:sp>
      <p:sp>
        <p:nvSpPr>
          <p:cNvPr id="1212" name="Cell"/>
          <p:cNvSpPr/>
          <p:nvPr/>
        </p:nvSpPr>
        <p:spPr>
          <a:xfrm>
            <a:off x="8311896" y="4700016"/>
            <a:ext cx="713231" cy="219456"/>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81</a:t>
            </a:r>
          </a:p>
        </p:txBody>
      </p:sp>
      <p:sp>
        <p:nvSpPr>
          <p:cNvPr id="1213" name="Cell"/>
          <p:cNvSpPr/>
          <p:nvPr/>
        </p:nvSpPr>
        <p:spPr>
          <a:xfrm>
            <a:off x="9061704" y="4700016"/>
            <a:ext cx="713231" cy="219456"/>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83</a:t>
            </a:r>
          </a:p>
        </p:txBody>
      </p:sp>
      <p:sp>
        <p:nvSpPr>
          <p:cNvPr id="1214" name="Cell"/>
          <p:cNvSpPr/>
          <p:nvPr/>
        </p:nvSpPr>
        <p:spPr>
          <a:xfrm>
            <a:off x="9811512" y="4700016"/>
            <a:ext cx="713231" cy="219456"/>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75</a:t>
            </a:r>
          </a:p>
        </p:txBody>
      </p:sp>
      <p:sp>
        <p:nvSpPr>
          <p:cNvPr id="1215" name="Avg"/>
          <p:cNvSpPr txBox="1"/>
          <p:nvPr/>
        </p:nvSpPr>
        <p:spPr>
          <a:xfrm>
            <a:off x="10588752" y="4681728"/>
            <a:ext cx="685800" cy="256032"/>
          </a:xfrm>
          <a:prstGeom prst="rect">
            <a:avLst/>
          </a:prstGeom>
          <a:noFill/>
          <a:ln>
            <a:noFill/>
          </a:ln>
        </p:spPr>
        <p:txBody>
          <a:bodyPr wrap="square" lIns="0" tIns="0" rIns="0" bIns="0" anchor="ctr">
            <a:noAutofit/>
          </a:bodyPr>
          <a:lstStyle/>
          <a:p>
            <a:pPr algn="ctr"/>
            <a:r>
              <a:rPr lang="en-US" sz="1250" b="1" i="0" dirty="0">
                <a:solidFill>
                  <a:srgbClr val="0B6E4F"/>
                </a:solidFill>
                <a:latin typeface="Calibri"/>
                <a:cs typeface="Calibri"/>
              </a:rPr>
              <a:t xml:space="preserve">196</a:t>
            </a:r>
          </a:p>
        </p:txBody>
      </p:sp>
      <p:sp>
        <p:nvSpPr>
          <p:cNvPr id="1216" name="Metric"/>
          <p:cNvSpPr txBox="1"/>
          <p:nvPr/>
        </p:nvSpPr>
        <p:spPr>
          <a:xfrm>
            <a:off x="1078992" y="5001768"/>
            <a:ext cx="1417320" cy="237744"/>
          </a:xfrm>
          <a:prstGeom prst="rect">
            <a:avLst/>
          </a:prstGeom>
          <a:noFill/>
          <a:ln>
            <a:noFill/>
          </a:ln>
        </p:spPr>
        <p:txBody>
          <a:bodyPr wrap="square" lIns="0" tIns="0" rIns="0" bIns="0" anchor="ctr">
            <a:noAutofit/>
          </a:bodyPr>
          <a:lstStyle/>
          <a:p>
            <a:pPr algn="l"/>
            <a:r>
              <a:rPr lang="en-US" sz="1150" b="1" i="0" dirty="0">
                <a:solidFill>
                  <a:srgbClr val="2F6B78"/>
                </a:solidFill>
                <a:latin typeface="Calibri"/>
                <a:cs typeface="Calibri"/>
              </a:rPr>
              <a:t xml:space="preserve">Class hierarchy</a:t>
            </a:r>
          </a:p>
        </p:txBody>
      </p:sp>
      <p:sp>
        <p:nvSpPr>
          <p:cNvPr id="1217" name="Metric note"/>
          <p:cNvSpPr txBox="1"/>
          <p:nvPr/>
        </p:nvSpPr>
        <p:spPr>
          <a:xfrm>
            <a:off x="1078992" y="5239512"/>
            <a:ext cx="1417320" cy="219456"/>
          </a:xfrm>
          <a:prstGeom prst="rect">
            <a:avLst/>
          </a:prstGeom>
          <a:noFill/>
          <a:ln>
            <a:noFill/>
          </a:ln>
        </p:spPr>
        <p:txBody>
          <a:bodyPr wrap="square" lIns="0" tIns="0" rIns="0" bIns="0" anchor="ctr">
            <a:noAutofit/>
          </a:bodyPr>
          <a:lstStyle/>
          <a:p>
            <a:pPr algn="l"/>
            <a:r>
              <a:rPr lang="en-US" sz="950" b="0" i="1" dirty="0">
                <a:solidFill>
                  <a:srgbClr val="5B6770"/>
                </a:solidFill>
                <a:latin typeface="Calibri"/>
                <a:cs typeface="Calibri"/>
              </a:rPr>
              <a:t xml:space="preserve">inheritance richness</a:t>
            </a:r>
          </a:p>
        </p:txBody>
      </p:sp>
      <p:sp>
        <p:nvSpPr>
          <p:cNvPr id="1218" name="Method"/>
          <p:cNvSpPr txBox="1"/>
          <p:nvPr/>
        </p:nvSpPr>
        <p:spPr>
          <a:xfrm>
            <a:off x="2514600" y="4983480"/>
            <a:ext cx="1280160" cy="256032"/>
          </a:xfrm>
          <a:prstGeom prst="rect">
            <a:avLst/>
          </a:prstGeom>
          <a:noFill/>
          <a:ln>
            <a:noFill/>
          </a:ln>
        </p:spPr>
        <p:txBody>
          <a:bodyPr wrap="square" lIns="0" tIns="0" rIns="0" bIns="0" anchor="ctr">
            <a:noAutofit/>
          </a:bodyPr>
          <a:lstStyle/>
          <a:p>
            <a:pPr algn="l"/>
            <a:r>
              <a:rPr lang="en-US" sz="1200" b="0" i="0" dirty="0">
                <a:solidFill>
                  <a:srgbClr val="1F2328"/>
                </a:solidFill>
                <a:latin typeface="Calibri"/>
                <a:cs typeface="Calibri"/>
              </a:rPr>
              <a:t xml:space="preserve">Non-Iterative RAG</a:t>
            </a:r>
          </a:p>
        </p:txBody>
      </p:sp>
      <p:sp>
        <p:nvSpPr>
          <p:cNvPr id="1219" name="Cell"/>
          <p:cNvSpPr/>
          <p:nvPr/>
        </p:nvSpPr>
        <p:spPr>
          <a:xfrm>
            <a:off x="3813048" y="5001768"/>
            <a:ext cx="713231" cy="219456"/>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0.00</a:t>
            </a:r>
          </a:p>
        </p:txBody>
      </p:sp>
      <p:sp>
        <p:nvSpPr>
          <p:cNvPr id="1220" name="Cell"/>
          <p:cNvSpPr/>
          <p:nvPr/>
        </p:nvSpPr>
        <p:spPr>
          <a:xfrm>
            <a:off x="4562856" y="5001768"/>
            <a:ext cx="713231" cy="219456"/>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0.00</a:t>
            </a:r>
          </a:p>
        </p:txBody>
      </p:sp>
      <p:sp>
        <p:nvSpPr>
          <p:cNvPr id="1221" name="Cell"/>
          <p:cNvSpPr/>
          <p:nvPr/>
        </p:nvSpPr>
        <p:spPr>
          <a:xfrm>
            <a:off x="5312664" y="5001768"/>
            <a:ext cx="713231" cy="219456"/>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0.00</a:t>
            </a:r>
          </a:p>
        </p:txBody>
      </p:sp>
      <p:sp>
        <p:nvSpPr>
          <p:cNvPr id="1222" name="Cell"/>
          <p:cNvSpPr/>
          <p:nvPr/>
        </p:nvSpPr>
        <p:spPr>
          <a:xfrm>
            <a:off x="6062472" y="5001768"/>
            <a:ext cx="713231" cy="219456"/>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0.00</a:t>
            </a:r>
          </a:p>
        </p:txBody>
      </p:sp>
      <p:sp>
        <p:nvSpPr>
          <p:cNvPr id="1223" name="Cell"/>
          <p:cNvSpPr/>
          <p:nvPr/>
        </p:nvSpPr>
        <p:spPr>
          <a:xfrm>
            <a:off x="6812279" y="5001768"/>
            <a:ext cx="713231" cy="219456"/>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0.00</a:t>
            </a:r>
          </a:p>
        </p:txBody>
      </p:sp>
      <p:sp>
        <p:nvSpPr>
          <p:cNvPr id="1224" name="Cell"/>
          <p:cNvSpPr/>
          <p:nvPr/>
        </p:nvSpPr>
        <p:spPr>
          <a:xfrm>
            <a:off x="7562088" y="5001768"/>
            <a:ext cx="713231" cy="219456"/>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0.00</a:t>
            </a:r>
          </a:p>
        </p:txBody>
      </p:sp>
      <p:sp>
        <p:nvSpPr>
          <p:cNvPr id="1225" name="Cell"/>
          <p:cNvSpPr/>
          <p:nvPr/>
        </p:nvSpPr>
        <p:spPr>
          <a:xfrm>
            <a:off x="8311896" y="5001768"/>
            <a:ext cx="713231" cy="219456"/>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0.00</a:t>
            </a:r>
          </a:p>
        </p:txBody>
      </p:sp>
      <p:sp>
        <p:nvSpPr>
          <p:cNvPr id="1226" name="Cell"/>
          <p:cNvSpPr/>
          <p:nvPr/>
        </p:nvSpPr>
        <p:spPr>
          <a:xfrm>
            <a:off x="9061704" y="5001768"/>
            <a:ext cx="713231" cy="219456"/>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0.00</a:t>
            </a:r>
          </a:p>
        </p:txBody>
      </p:sp>
      <p:sp>
        <p:nvSpPr>
          <p:cNvPr id="1227" name="Cell"/>
          <p:cNvSpPr/>
          <p:nvPr/>
        </p:nvSpPr>
        <p:spPr>
          <a:xfrm>
            <a:off x="9811512" y="5001768"/>
            <a:ext cx="713231" cy="219456"/>
          </a:xfrm>
          <a:prstGeom prst="rect">
            <a:avLst/>
          </a:prstGeom>
          <a:solidFill>
            <a:srgbClr val="EDB8AC"/>
          </a:solidFill>
          <a:ln>
            <a:noFill/>
          </a:ln>
        </p:spPr>
        <p:txBody>
          <a:bodyPr wrap="square" lIns="0" tIns="0" rIns="0" bIns="0" anchor="ctr">
            <a:noAutofit/>
          </a:bodyPr>
          <a:lstStyle/>
          <a:p>
            <a:pPr algn="ctr"/>
            <a:r>
              <a:rPr lang="en-US" sz="1100" b="0" i="0" dirty="0">
                <a:solidFill>
                  <a:srgbClr val="1F2328"/>
                </a:solidFill>
                <a:latin typeface="Calibri"/>
                <a:cs typeface="Calibri"/>
              </a:rPr>
              <a:t xml:space="preserve">0.00</a:t>
            </a:r>
          </a:p>
        </p:txBody>
      </p:sp>
      <p:sp>
        <p:nvSpPr>
          <p:cNvPr id="1228" name="Avg"/>
          <p:cNvSpPr txBox="1"/>
          <p:nvPr/>
        </p:nvSpPr>
        <p:spPr>
          <a:xfrm>
            <a:off x="10588752" y="4983480"/>
            <a:ext cx="685800" cy="256032"/>
          </a:xfrm>
          <a:prstGeom prst="rect">
            <a:avLst/>
          </a:prstGeom>
          <a:noFill/>
          <a:ln>
            <a:noFill/>
          </a:ln>
        </p:spPr>
        <p:txBody>
          <a:bodyPr wrap="square" lIns="0" tIns="0" rIns="0" bIns="0" anchor="ctr">
            <a:noAutofit/>
          </a:bodyPr>
          <a:lstStyle/>
          <a:p>
            <a:pPr algn="ctr"/>
            <a:r>
              <a:rPr lang="en-US" sz="1250" b="0" i="0" dirty="0">
                <a:solidFill>
                  <a:srgbClr val="1F2328"/>
                </a:solidFill>
                <a:latin typeface="Calibri"/>
                <a:cs typeface="Calibri"/>
              </a:rPr>
              <a:t xml:space="preserve">0.00</a:t>
            </a:r>
          </a:p>
        </p:txBody>
      </p:sp>
      <p:sp>
        <p:nvSpPr>
          <p:cNvPr id="1229" name="Method"/>
          <p:cNvSpPr txBox="1"/>
          <p:nvPr/>
        </p:nvSpPr>
        <p:spPr>
          <a:xfrm>
            <a:off x="2514600" y="5239512"/>
            <a:ext cx="1280160" cy="256032"/>
          </a:xfrm>
          <a:prstGeom prst="rect">
            <a:avLst/>
          </a:prstGeom>
          <a:noFill/>
          <a:ln>
            <a:noFill/>
          </a:ln>
        </p:spPr>
        <p:txBody>
          <a:bodyPr wrap="square" lIns="0" tIns="0" rIns="0" bIns="0" anchor="ctr">
            <a:noAutofit/>
          </a:bodyPr>
          <a:lstStyle/>
          <a:p>
            <a:pPr algn="l"/>
            <a:r>
              <a:rPr lang="en-US" sz="1200" b="1" i="0" dirty="0">
                <a:solidFill>
                  <a:srgbClr val="0B6E4F"/>
                </a:solidFill>
                <a:latin typeface="Calibri"/>
                <a:cs typeface="Calibri"/>
              </a:rPr>
              <a:t xml:space="preserve">RIGOR</a:t>
            </a:r>
          </a:p>
        </p:txBody>
      </p:sp>
      <p:sp>
        <p:nvSpPr>
          <p:cNvPr id="1230" name="Cell"/>
          <p:cNvSpPr/>
          <p:nvPr/>
        </p:nvSpPr>
        <p:spPr>
          <a:xfrm>
            <a:off x="3813048" y="5257800"/>
            <a:ext cx="713231" cy="219456"/>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0.70</a:t>
            </a:r>
          </a:p>
        </p:txBody>
      </p:sp>
      <p:sp>
        <p:nvSpPr>
          <p:cNvPr id="1231" name="Cell"/>
          <p:cNvSpPr/>
          <p:nvPr/>
        </p:nvSpPr>
        <p:spPr>
          <a:xfrm>
            <a:off x="4562856" y="5257800"/>
            <a:ext cx="713231" cy="219456"/>
          </a:xfrm>
          <a:prstGeom prst="rect">
            <a:avLst/>
          </a:prstGeom>
          <a:solidFill>
            <a:srgbClr val="DDF0E5"/>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0.39</a:t>
            </a:r>
          </a:p>
        </p:txBody>
      </p:sp>
      <p:sp>
        <p:nvSpPr>
          <p:cNvPr id="1232" name="Cell"/>
          <p:cNvSpPr/>
          <p:nvPr/>
        </p:nvSpPr>
        <p:spPr>
          <a:xfrm>
            <a:off x="5312664" y="5257800"/>
            <a:ext cx="713231" cy="219456"/>
          </a:xfrm>
          <a:prstGeom prst="rect">
            <a:avLst/>
          </a:prstGeom>
          <a:solidFill>
            <a:srgbClr val="F6DAD3"/>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0.13</a:t>
            </a:r>
          </a:p>
        </p:txBody>
      </p:sp>
      <p:sp>
        <p:nvSpPr>
          <p:cNvPr id="1233" name="Cell"/>
          <p:cNvSpPr/>
          <p:nvPr/>
        </p:nvSpPr>
        <p:spPr>
          <a:xfrm>
            <a:off x="6062472" y="5257800"/>
            <a:ext cx="713231" cy="219456"/>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0.62</a:t>
            </a:r>
          </a:p>
        </p:txBody>
      </p:sp>
      <p:sp>
        <p:nvSpPr>
          <p:cNvPr id="1234" name="Cell"/>
          <p:cNvSpPr/>
          <p:nvPr/>
        </p:nvSpPr>
        <p:spPr>
          <a:xfrm>
            <a:off x="6812279" y="5257800"/>
            <a:ext cx="713231" cy="219456"/>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0.49</a:t>
            </a:r>
          </a:p>
        </p:txBody>
      </p:sp>
      <p:sp>
        <p:nvSpPr>
          <p:cNvPr id="1235" name="Cell"/>
          <p:cNvSpPr/>
          <p:nvPr/>
        </p:nvSpPr>
        <p:spPr>
          <a:xfrm>
            <a:off x="7562088" y="5257800"/>
            <a:ext cx="713231" cy="219456"/>
          </a:xfrm>
          <a:prstGeom prst="rect">
            <a:avLst/>
          </a:prstGeom>
          <a:solidFill>
            <a:srgbClr val="F6DAD3"/>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0.10</a:t>
            </a:r>
          </a:p>
        </p:txBody>
      </p:sp>
      <p:sp>
        <p:nvSpPr>
          <p:cNvPr id="1236" name="Cell"/>
          <p:cNvSpPr/>
          <p:nvPr/>
        </p:nvSpPr>
        <p:spPr>
          <a:xfrm>
            <a:off x="8311896" y="5257800"/>
            <a:ext cx="713231" cy="219456"/>
          </a:xfrm>
          <a:prstGeom prst="rect">
            <a:avLst/>
          </a:prstGeom>
          <a:solidFill>
            <a:srgbClr val="DDF0E5"/>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2.12</a:t>
            </a:r>
          </a:p>
        </p:txBody>
      </p:sp>
      <p:sp>
        <p:nvSpPr>
          <p:cNvPr id="1237" name="Cell"/>
          <p:cNvSpPr/>
          <p:nvPr/>
        </p:nvSpPr>
        <p:spPr>
          <a:xfrm>
            <a:off x="9061704" y="5257800"/>
            <a:ext cx="713231" cy="219456"/>
          </a:xfrm>
          <a:prstGeom prst="rect">
            <a:avLst/>
          </a:prstGeom>
          <a:solidFill>
            <a:srgbClr val="DDF0E5"/>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2.72</a:t>
            </a:r>
          </a:p>
        </p:txBody>
      </p:sp>
      <p:sp>
        <p:nvSpPr>
          <p:cNvPr id="1238" name="Cell"/>
          <p:cNvSpPr/>
          <p:nvPr/>
        </p:nvSpPr>
        <p:spPr>
          <a:xfrm>
            <a:off x="9811512" y="5257800"/>
            <a:ext cx="713231" cy="219456"/>
          </a:xfrm>
          <a:prstGeom prst="rect">
            <a:avLst/>
          </a:prstGeom>
          <a:solidFill>
            <a:srgbClr val="BFE3CF"/>
          </a:solidFill>
          <a:ln>
            <a:noFill/>
          </a:ln>
        </p:spPr>
        <p:txBody>
          <a:bodyPr wrap="square" lIns="0" tIns="0" rIns="0" bIns="0" anchor="ctr">
            <a:noAutofit/>
          </a:bodyPr>
          <a:lstStyle/>
          <a:p>
            <a:pPr algn="ctr"/>
            <a:r>
              <a:rPr lang="en-US" sz="1100" b="1" i="0" dirty="0">
                <a:solidFill>
                  <a:srgbClr val="1F2328"/>
                </a:solidFill>
                <a:latin typeface="Calibri"/>
                <a:cs typeface="Calibri"/>
              </a:rPr>
              <a:t xml:space="preserve">4.07</a:t>
            </a:r>
          </a:p>
        </p:txBody>
      </p:sp>
      <p:sp>
        <p:nvSpPr>
          <p:cNvPr id="1239" name="Avg"/>
          <p:cNvSpPr txBox="1"/>
          <p:nvPr/>
        </p:nvSpPr>
        <p:spPr>
          <a:xfrm>
            <a:off x="10588752" y="5239512"/>
            <a:ext cx="685800" cy="256032"/>
          </a:xfrm>
          <a:prstGeom prst="rect">
            <a:avLst/>
          </a:prstGeom>
          <a:noFill/>
          <a:ln>
            <a:noFill/>
          </a:ln>
        </p:spPr>
        <p:txBody>
          <a:bodyPr wrap="square" lIns="0" tIns="0" rIns="0" bIns="0" anchor="ctr">
            <a:noAutofit/>
          </a:bodyPr>
          <a:lstStyle/>
          <a:p>
            <a:pPr algn="ctr"/>
            <a:r>
              <a:rPr lang="en-US" sz="1250" b="1" i="0" dirty="0">
                <a:solidFill>
                  <a:srgbClr val="0B6E4F"/>
                </a:solidFill>
                <a:latin typeface="Calibri"/>
                <a:cs typeface="Calibri"/>
              </a:rPr>
              <a:t xml:space="preserve">1.26</a:t>
            </a:r>
          </a:p>
        </p:txBody>
      </p:sp>
      <p:sp>
        <p:nvSpPr>
          <p:cNvPr id="1240" name="Strip"/>
          <p:cNvSpPr/>
          <p:nvPr/>
        </p:nvSpPr>
        <p:spPr>
          <a:xfrm>
            <a:off x="804672" y="5879592"/>
            <a:ext cx="10579608" cy="420624"/>
          </a:xfrm>
          <a:prstGeom prst="roundRect">
            <a:avLst>
              <a:gd name="adj" fmla="val 12000"/>
            </a:avLst>
          </a:prstGeom>
          <a:solidFill>
            <a:srgbClr val="E6F2EC"/>
          </a:solidFill>
          <a:ln>
            <a:noFill/>
          </a:ln>
        </p:spPr>
        <p:txBody>
          <a:bodyPr wrap="square" lIns="201168" tIns="0" rIns="201168" bIns="0" anchor="ctr">
            <a:noAutofit/>
          </a:bodyPr>
          <a:lstStyle/>
          <a:p>
            <a:pPr algn="l"/>
            <a:r>
              <a:rPr lang="en-US" sz="1400" b="0" i="0" dirty="0">
                <a:solidFill>
                  <a:srgbClr val="3A434C"/>
                </a:solidFill>
                <a:latin typeface="Calibri"/>
                <a:cs typeface="Calibri"/>
              </a:rPr>
              <a:t xml:space="preserve">Only RIGOR adds labels, provenance </a:t>
            </a:r>
            <a:r>
              <a:rPr lang="en-US" sz="1400" b="1" i="0" dirty="0">
                <a:solidFill>
                  <a:srgbClr val="1F2328"/>
                </a:solidFill>
                <a:latin typeface="Calibri"/>
                <a:cs typeface="Calibri"/>
              </a:rPr>
              <a:t xml:space="preserve">and</a:t>
            </a:r>
            <a:r>
              <a:rPr lang="en-US" sz="1400" b="0" i="0" dirty="0">
                <a:solidFill>
                  <a:srgbClr val="3A434C"/>
                </a:solidFill>
                <a:latin typeface="Calibri"/>
                <a:cs typeface="Calibri"/>
              </a:rPr>
              <a:t xml:space="preserve"> a class hierarchy: </a:t>
            </a:r>
            <a:r>
              <a:rPr lang="en-US" sz="1400" b="1" i="0" dirty="0">
                <a:solidFill>
                  <a:srgbClr val="0B6E4F"/>
                </a:solidFill>
                <a:latin typeface="Calibri"/>
                <a:cs typeface="Calibri"/>
              </a:rPr>
              <a:t xml:space="preserve">with every LLM, in every database.</a:t>
            </a:r>
          </a:p>
        </p:txBody>
      </p:sp>
      <p:sp>
        <p:nvSpPr>
          <p:cNvPr id="1241" name="Source"/>
          <p:cNvSpPr txBox="1"/>
          <p:nvPr/>
        </p:nvSpPr>
        <p:spPr>
          <a:xfrm>
            <a:off x="822960" y="6345936"/>
            <a:ext cx="10607040" cy="237744"/>
          </a:xfrm>
          <a:prstGeom prst="rect">
            <a:avLst/>
          </a:prstGeom>
          <a:noFill/>
          <a:ln>
            <a:noFill/>
          </a:ln>
        </p:spPr>
        <p:txBody>
          <a:bodyPr wrap="square" lIns="0" tIns="0" rIns="0" bIns="0" anchor="t">
            <a:noAutofit/>
          </a:bodyPr>
          <a:lstStyle/>
          <a:p>
            <a:pPr algn="l"/>
            <a:r>
              <a:rPr lang="en-US" sz="1000" b="0" i="0" dirty="0">
                <a:solidFill>
                  <a:srgbClr val="5B6770"/>
                </a:solidFill>
                <a:latin typeface="Calibri"/>
                <a:cs typeface="Calibri"/>
              </a:rPr>
              <a:t xml:space="preserve">Labels &amp; comments: annotation assertions; provenance: prov:wasDerivedFrom (paper Table 8). Hierarchy: inheritance richness, subclass axioms per class [OntoQA: Tartir et al., KADASH 2005; OntoMetrics: Lantow, KEOD 2016], from Table 8. Shading compares cells within each database.</a:t>
            </a:r>
          </a:p>
        </p:txBody>
      </p:sp>
    </p:spTree>
  </p:cSld>
  <p:clrMapOvr>
    <a:masterClrMapping/>
  </p:clrMapOvr>
</p:sld>
</file>

<file path=ppt/theme/theme1.xml><?xml version="1.0" encoding="utf-8"?>
<a:theme xmlns:a="http://schemas.openxmlformats.org/drawingml/2006/main" xmlns:r="http://schemas.openxmlformats.org/officeDocument/2006/relationships" name="RIGOR · ISWC 2026 Talk">
  <a:themeElements>
    <a:clrScheme name="RIGOR · ISWC 2026 Talk">
      <a:dk1>
        <a:srgbClr val="111A28"/>
      </a:dk1>
      <a:lt1>
        <a:srgbClr val="F2F4F7"/>
      </a:lt1>
      <a:dk2>
        <a:srgbClr val="49515C"/>
      </a:dk2>
      <a:lt2>
        <a:srgbClr val="DCDEE2"/>
      </a:lt2>
      <a:accent1>
        <a:srgbClr val="2345C4"/>
      </a:accent1>
      <a:accent2>
        <a:srgbClr val="F4A261"/>
      </a:accent2>
      <a:accent3>
        <a:srgbClr val="B4561C"/>
      </a:accent3>
      <a:accent4>
        <a:srgbClr val="8FA5EB"/>
      </a:accent4>
      <a:accent5>
        <a:srgbClr val="8AA4FF"/>
      </a:accent5>
      <a:accent6>
        <a:srgbClr val="E9873A"/>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IGOR · ISWC 2026 Talk">
  <a:themeElements>
    <a:clrScheme name="RIGOR · ISWC 2026 Talk">
      <a:dk1>
        <a:srgbClr val="111A28"/>
      </a:dk1>
      <a:lt1>
        <a:srgbClr val="F2F4F7"/>
      </a:lt1>
      <a:dk2>
        <a:srgbClr val="49515C"/>
      </a:dk2>
      <a:lt2>
        <a:srgbClr val="DCDEE2"/>
      </a:lt2>
      <a:accent1>
        <a:srgbClr val="2345C4"/>
      </a:accent1>
      <a:accent2>
        <a:srgbClr val="F4A261"/>
      </a:accent2>
      <a:accent3>
        <a:srgbClr val="B4561C"/>
      </a:accent3>
      <a:accent4>
        <a:srgbClr val="8FA5EB"/>
      </a:accent4>
      <a:accent5>
        <a:srgbClr val="8AA4FF"/>
      </a:accent5>
      <a:accent6>
        <a:srgbClr val="E9873A"/>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2026-10-26T00:50:16Z</dcterms:created>
</cp:coreProperties>
</file>