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27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26.xml"/>
  <Override ContentType="application/vnd.openxmlformats-officedocument.presentationml.slide+xml" PartName="/ppt/slides/slide25.xml"/>
  <Override ContentType="application/vnd.openxmlformats-officedocument.presentationml.slide+xml" PartName="/ppt/slides/slide27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3"/>
  </p:sldMasterIdLst>
  <p:notesMasterIdLst>
    <p:notesMasterId r:id="rId4"/>
  </p:notesMasterIdLst>
  <p:sldIdLst>
    <p:sldId id="291" r:id="rId45"/>
    <p:sldId id="280" r:id="rId29"/>
    <p:sldId id="281" r:id="rId30"/>
    <p:sldId id="282" r:id="rId31"/>
    <p:sldId id="292" r:id="rId46"/>
  </p:sldIdLst>
  <p:sldSz cy="6858000" cx="12192000"/>
  <p:notesSz cx="6858000" cy="12192000"/>
  <p:embeddedFontLst>
    <p:embeddedFont>
      <p:font typeface="IBM Plex Sans"/>
      <p:regular r:id="rId40"/>
      <p:bold r:id="rId41"/>
      <p:italic r:id="rId42"/>
      <p:boldItalic r:id="rId43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44" roundtripDataSignature="AMtx7miIhFui5hy+i4o3KOYM/gPuu+LjK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?><Relationships xmlns="http://schemas.openxmlformats.org/package/2006/relationships"><Relationship Id="rId40" Type="http://schemas.openxmlformats.org/officeDocument/2006/relationships/font" Target="fonts/IBMPlexSans-regular.fntdata"/><Relationship Id="rId42" Type="http://schemas.openxmlformats.org/officeDocument/2006/relationships/font" Target="fonts/IBMPlexSans-italic.fntdata"/><Relationship Id="rId41" Type="http://schemas.openxmlformats.org/officeDocument/2006/relationships/font" Target="fonts/IBMPlexSans-bold.fntdata"/><Relationship Id="rId44" Type="http://customschemas.google.com/relationships/presentationmetadata" Target="metadata"/><Relationship Id="rId43" Type="http://schemas.openxmlformats.org/officeDocument/2006/relationships/font" Target="fonts/IBMPlexSans-boldItalic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29" Type="http://schemas.openxmlformats.org/officeDocument/2006/relationships/slide" Target="slides/slide25.xml"/><Relationship Id="rId31" Type="http://schemas.openxmlformats.org/officeDocument/2006/relationships/slide" Target="slides/slide27.xml"/><Relationship Id="rId30" Type="http://schemas.openxmlformats.org/officeDocument/2006/relationships/slide" Target="slides/slide26.xml"/>  <Relationship Id="rId45" Type="http://schemas.openxmlformats.org/officeDocument/2006/relationships/slide" Target="slides/slide36.xml"/>
  <Relationship Id="rId46" Type="http://schemas.openxmlformats.org/officeDocument/2006/relationships/slide" Target="slides/slide37.xml"/>
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IBM Plex Sans"/>
              <a:ea typeface="IBM Plex Sans"/>
              <a:cs typeface="IBM Plex Sans"/>
              <a:sym typeface="IBM Plex Sans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39" name="Shape 1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0" name="Google Shape;1140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41" name="Google Shape;1141;p2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rPr b="0" i="0" lang="en-US" sz="12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rPr>
              <a:t>[9:30–10:13]  SPOKEN SCRIPT (72 words)</a:t>
            </a:r>
          </a:p>
          <a:p>
            <a:r>
              <a:rPr b="0" i="0" lang="en-US" sz="12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rPr>
              <a:t>So nothing is lost. But is meaning added? On the left, per ontology: direct mapping and the LLM baseline add no labels at all. Non-Iterative adds labels, but no provenance and no hierarchy. Only RIGOR adds all three. On the right, the modeling pitfalls that OOPS! finds: about five hundred per direct-mapping ontology, eight per RIGOR ontology. Without validation, the small Mistral model reaches two hundred twenty on eICU; with RIGOR, two. [pause]</a:t>
            </a:r>
          </a:p>
          <a:p/>
          <a:p>
            <a:r>
              <a:rPr b="0" i="0" lang="en-US" sz="12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rPr>
              <a:t>PRESENTER / POINTER: Left table, land on the RIGOR row; then 499 versus 8; then the strip.</a:t>
            </a:r>
          </a:p>
          <a:p>
            <a:r>
              <a:rPr b="0" i="0" lang="en-US" sz="12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rPr>
              <a:t>AUDIENCE TAKEAWAY: Only RIGOR adds labels, provenance and hierarchy, with far fewer modeling errors.</a:t>
            </a:r>
          </a:p>
          <a:p>
            <a:r>
              <a:rPr b="0" i="0" lang="en-US" sz="12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rPr>
              <a:t>SOURCE AND SCOPE: Paper Table 8 (annotations, provenance, SubClassOf) and Table 7 (OOPS! pitfalls), averaged per ontology over all 30. 72% of the other methods' pitfalls are P08; P19 is the only critical one.</a:t>
            </a:r>
          </a:p>
          <a:p>
            <a:r>
              <a:rPr b="0" i="0" lang="en-US" sz="12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rPr>
              <a:t>IF RUNNING LATE, DROP: "Non-Iterative adds labels, but no provenance and no hierarchy."</a:t>
            </a:r>
          </a:p>
          <a:p/>
          <a:p>
            <a:r>
              <a:rPr b="0" i="0" lang="en-US" sz="12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rPr>
              <a:t>IF ASKED ABOUT CRITICAL ERRORS: P19 (multiple domains or ranges) is the only pitfall OOPS! rates critical, and it is the second-domain error from the validation slide. Per ontology: Direct Mapping 15, LLM baseline 17, Non-Iterative 5.4, RIGOR 2.8; zero in 6 of RIGOR's 9 ontologies (Table 7). RIGOR's prompt allows one domain and one range, and the graph check rejects a second.</a:t>
            </a:r>
          </a:p>
        </p:txBody>
      </p:sp>
      <p:sp>
        <p:nvSpPr>
          <p:cNvPr id="1142" name="Google Shape;1142;p20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8" name="Shape 1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9" name="Google Shape;1199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00" name="Google Shape;1200;p21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rPr b="0" i="0" lang="en-US" sz="12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rPr>
              <a:t>[10:13–11:03]  SPOKEN SCRIPT (88 words)</a:t>
            </a:r>
          </a:p>
          <a:p>
            <a:r>
              <a:rPr b="0" i="0" lang="en-US" sz="12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rPr>
              <a:t>Meaning is added. But is the link back to the data still correct? BURR, an external benchmark, checks exactly this: every class, relation and attribute must map back to the right table, foreign key or column, scored with F1 against a gold mapping. RIGOR's provenance gives us that mapping directly. On BURR's ISWC scenario, RIGOR has the highest F1 on all three, ahead of rule-based and LLM-based systems. Relations stand out: zero point six seven against zero point one one, because foreign keys become named relations, like hasPatientData.</a:t>
            </a:r>
          </a:p>
          <a:p/>
          <a:p>
            <a:r>
              <a:rPr b="0" i="0" lang="en-US" sz="12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rPr>
              <a:t>PRESENTER / POINTER: Left card first, then land on the RIGOR row.</a:t>
            </a:r>
          </a:p>
          <a:p>
            <a:r>
              <a:rPr b="0" i="0" lang="en-US" sz="12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rPr>
              <a:t>AUDIENCE TAKEAWAY: Semantic enrichment did not break the correspondence that OBDA and KG population need.</a:t>
            </a:r>
          </a:p>
          <a:p>
            <a:r>
              <a:rPr b="0" i="0" lang="en-US" sz="12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rPr>
              <a:t>SOURCE AND SCOPE: Paper Table 13. BURR = Laskowski et al., PACMMOD 2025; matching rule from BURR Section 4, Eq. 3. Left-card element names are illustrative.</a:t>
            </a:r>
          </a:p>
          <a:p>
            <a:r>
              <a:rPr b="0" i="0" lang="en-US" sz="12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rPr>
              <a:t>IF RUNNING LATE, DROP: "RIGOR's provenance gives us that mapping directly."</a:t>
            </a:r>
          </a:p>
          <a:p/>
          <a:p>
            <a:r>
              <a:rPr b="0" i="0" lang="en-US" sz="12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rPr>
              <a:t>DO NOT SAY: 'BURR found LLMs trail rule-based systems'. BURR's results show Gemini 2.5 Pro ahead of the rule-based systems overall (rule-based systems win only on NPD).</a:t>
            </a:r>
          </a:p>
          <a:p/>
          <a:p>
            <a:r>
              <a:rPr b="0" i="0" lang="en-US" sz="12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rPr>
              <a:t>IF ASKED ABOUT GEMINI 2.5 PRO (BURR Table 3, ISWC .65 / .68 / .56): in BURR it is a general-purpose LLM prompted with few-shot examples and a checklist to write the D2RQ mapping directly. It is a mapping generator, not an ontology-learning system that builds an enriched ontology, so we compare with ontology-learning systems. Against it, RIGOR's class F1 is higher, relations are on par, attributes lower, and RIGOR also produces labels, hierarchy and provenance. It is prompted, not fine-tuned.</a:t>
            </a:r>
          </a:p>
        </p:txBody>
      </p:sp>
      <p:sp>
        <p:nvSpPr>
          <p:cNvPr id="1201" name="Google Shape;1201;p21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51" name="Shape 1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2" name="Google Shape;125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53" name="Google Shape;1253;p19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[11:03–11:37]  SPOKEN SCRIPT (52 words)</a:t>
            </a:r>
          </a:p>
          <a:p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Automatic checks agree. Do evaluators agree? In a blind ranking, an LLM judge, GPT-5.4, ranked RIGOR first on all fifty-eight tables. [pause] Ten ontology experts ranked RIGOR first in twenty-eight of forty rankings, seventy percent. [pause] Direct mapping gives structure without meaning. LLMs alone give meaning without structure. RIGOR gives both, and checks them.</a:t>
            </a:r>
          </a:p>
          <a:p/>
          <a:p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PRESENTER / POINTER: Left number, right number, then read the closing strip slowly.</a:t>
            </a:r>
          </a:p>
          <a:p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AUDIENCE TAKEAWAY: An independent LLM judge and human experts both rank RIGOR first.</a:t>
            </a:r>
          </a:p>
          <a:p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SOURCE AND SCOPE: Paper Table 1 (rankings), Table 10 (judge dimensions), Table 12 (Kendall's W 0.39-0.72). LLM judge: Claude outputs, 290 competency questions. Experts: 4 tables from the two medical databases.</a:t>
            </a:r>
          </a:p>
          <a:p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IF RUNNING LATE, DROP: "seventy percent"</a:t>
            </a:r>
          </a:p>
        </p:txBody>
      </p:sp>
      <p:sp>
        <p:nvSpPr>
          <p:cNvPr id="1254" name="Google Shape;1254;p19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" name="Google Shape;18;p1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[8:45–9:30]  SPOKEN SCRIPT (75 words)</a:t>
            </a:r>
          </a:p>
          <a:p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We climb from the easiest check to the hardest. First: is anything lost? All thirty ontologies are valid OWL and logically consistent, for every method. On average, RIGOR covers ninety-three percent of the database columns, as much as direct mapping. Non-Iterative, with the same retrieved context but no seed, covers only a third, and swings with the LLM, from six to seventy-eight percent. With RIGOR, every LLM keeps at least seventy-seven percent, in every database. [pause]</a:t>
            </a:r>
          </a:p>
          <a:p/>
          <a:p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PRESENTER / POINTER: Thirty out of thirty, then the bars: RIGOR next to Direct Mapping, then Non-Iterative.</a:t>
            </a:r>
          </a:p>
          <a:p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AUDIENCE TAKEAWAY: RIGOR keeps the schema as well as Direct Mapping; context alone does not.</a:t>
            </a:r>
          </a:p>
          <a:p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SOURCE AND SCOPE: Paper Sec. 4.7 (validity, consistency) and Table 9 (column coverage, averaged over each method's ontologies).</a:t>
            </a:r>
          </a:p>
          <a:p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IF RUNNING LATE, DROP: "for every method"</a:t>
            </a:r>
          </a:p>
        </p:txBody>
      </p:sp>
      <p:sp>
        <p:nvSpPr>
          <p:cNvPr id="19" name="Google Shape;19;p1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" name="Google Shape;18;p1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[11:37–12:21]  SPOKEN SCRIPT (73 words)</a:t>
            </a:r>
          </a:p>
          <a:p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Is it just a strong model, or memorized data? With RIGOR, the smallest model, Mistral with twenty-four billion parameters, covers ninety-eight percent of the columns, up from seventeen with single-pass retrieval: on par with Claude, for twelve cents instead of thirty-three dollars. [pause] And RIGOR's lead is largest on the liver cancer registry, a private database no LLM has seen, and smallest on the familiar music store. The gains come from grounding and validation.</a:t>
            </a:r>
          </a:p>
          <a:p/>
          <a:p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PRESENTER / POINTER: Left: 17 to 98. Right: land on Liver Cancer, then Chinook.</a:t>
            </a:r>
          </a:p>
          <a:p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AUDIENCE TAKEAWAY: RIGOR's gains hold for a small open model and grow on unseen, specialist data.</a:t>
            </a:r>
          </a:p>
          <a:p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SOURCE AND SCOPE: Paper Table 9 (coverage per LLM), Table 15 (cost), Table 1 (judge scores, Claude ontologies). Liver Cancer is not public, which rules out training-data leakage (paper Sec. 4.1).</a:t>
            </a:r>
          </a:p>
          <a:p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IF RUNNING LATE, DROP: "for twelve cents instead of thirty-three dollars"</a:t>
            </a:r>
          </a:p>
        </p:txBody>
      </p:sp>
      <p:sp>
        <p:nvSpPr>
          <p:cNvPr id="19" name="Google Shape;19;p1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>
  <p:cSld name="Title and body">
    <p:bg>
      <p:bgPr>
        <a:solidFill>
          <a:srgbClr val="FFFFFF"/>
        </a:solidFill>
      </p:bgPr>
    </p:bg>
    <p:spTree>
      <p:nvGrpSpPr>
        <p:cNvPr id="12" name="Shape 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Google Shape;13;p25"/>
          <p:cNvSpPr txBox="1"/>
          <p:nvPr>
            <p:ph type="title"/>
          </p:nvPr>
        </p:nvSpPr>
        <p:spPr>
          <a:xfrm>
            <a:off x="812800" y="1153120"/>
            <a:ext cx="10566400" cy="3911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F2328"/>
              </a:buClr>
              <a:buSzPts val="2800"/>
              <a:buFont typeface="Calibri"/>
              <a:buNone/>
              <a:defRPr sz="2800">
                <a:solidFill>
                  <a:srgbClr val="1F232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25"/>
          <p:cNvSpPr txBox="1"/>
          <p:nvPr>
            <p:ph idx="1" type="body"/>
          </p:nvPr>
        </p:nvSpPr>
        <p:spPr>
          <a:xfrm>
            <a:off x="812800" y="1849041"/>
            <a:ext cx="10566400" cy="419615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40000"/>
              </a:lnSpc>
              <a:spcBef>
                <a:spcPts val="320"/>
              </a:spcBef>
              <a:spcAft>
                <a:spcPts val="0"/>
              </a:spcAft>
              <a:buClr>
                <a:srgbClr val="1F2328"/>
              </a:buClr>
              <a:buSzPts val="1600"/>
              <a:buNone/>
              <a:defRPr sz="1600">
                <a:solidFill>
                  <a:srgbClr val="1F232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4"/>
          <p:cNvSpPr txBox="1"/>
          <p:nvPr>
            <p:ph type="title"/>
          </p:nvPr>
        </p:nvSpPr>
        <p:spPr>
          <a:xfrm>
            <a:off x="812800" y="1153120"/>
            <a:ext cx="10566400" cy="3911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F2328"/>
              </a:buClr>
              <a:buSzPts val="2800"/>
              <a:buFont typeface="Calibri"/>
              <a:buNone/>
              <a:defRPr b="0" i="0" sz="2800" u="none" cap="none" strike="noStrike">
                <a:solidFill>
                  <a:srgbClr val="1F232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  <a:defRPr b="0" i="0" sz="1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  <a:defRPr b="0" i="0" sz="1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  <a:defRPr b="0" i="0" sz="1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  <a:defRPr b="0" i="0" sz="1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  <a:defRPr b="0" i="0" sz="1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  <a:defRPr b="0" i="0" sz="1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  <a:defRPr b="0" i="0" sz="1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  <a:defRPr b="0" i="0" sz="1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1" name="Google Shape;11;p24"/>
          <p:cNvSpPr txBox="1"/>
          <p:nvPr>
            <p:ph idx="1" type="body"/>
          </p:nvPr>
        </p:nvSpPr>
        <p:spPr>
          <a:xfrm>
            <a:off x="812800" y="1849041"/>
            <a:ext cx="10566400" cy="419615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0" algn="l">
              <a:lnSpc>
                <a:spcPct val="140000"/>
              </a:lnSpc>
              <a:spcBef>
                <a:spcPts val="320"/>
              </a:spcBef>
              <a:spcAft>
                <a:spcPts val="0"/>
              </a:spcAft>
              <a:buClr>
                <a:srgbClr val="1F2328"/>
              </a:buClr>
              <a:buSzPts val="1600"/>
              <a:buFont typeface="Calibri"/>
              <a:buNone/>
              <a:defRPr b="0" i="0" sz="1600" u="none" cap="none" strike="noStrike">
                <a:solidFill>
                  <a:srgbClr val="1F232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/Relationships>
</file>

<file path=ppt/slides/_rels/slide3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Notes" Type="http://schemas.openxmlformats.org/officeDocument/2006/relationships/notesSlide" Target="../notesSlides/notesSlide36.xml"/></Relationships>
</file>

<file path=ppt/slides/_rels/slide3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Notes" Type="http://schemas.openxmlformats.org/officeDocument/2006/relationships/notesSlide" Target="../notesSlides/notesSlide37.xml"/></Relationships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143" name="Shape 1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4" name="Google Shape;1144;p20"/>
          <p:cNvSpPr txBox="1"/>
          <p:nvPr/>
        </p:nvSpPr>
        <p:spPr>
          <a:xfrm>
            <a:off x="804672" y="512064"/>
            <a:ext cx="10753344" cy="31089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0B6E4F"/>
                </a:solidFill>
                <a:latin typeface="Consolas"/>
                <a:ea typeface="Consolas"/>
                <a:cs typeface="Consolas"/>
                <a:sym typeface="Consolas"/>
              </a:rPr>
              <a:t>RESULT 2  /  MEANING AND ERRORS</a:t>
            </a:r>
            <a:endParaRPr/>
          </a:p>
        </p:txBody>
      </p:sp>
      <p:sp>
        <p:nvSpPr>
          <p:cNvPr id="1145" name="Google Shape;1145;p20"/>
          <p:cNvSpPr txBox="1"/>
          <p:nvPr/>
        </p:nvSpPr>
        <p:spPr>
          <a:xfrm>
            <a:off x="804672" y="914400"/>
            <a:ext cx="10762488" cy="66751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 u="none" cap="none" strike="noStrike">
                <a:solidFill>
                  <a:srgbClr val="1F2328"/>
                </a:solidFill>
                <a:latin typeface="Cambria"/>
                <a:ea typeface="Cambria"/>
                <a:cs typeface="Cambria"/>
                <a:sym typeface="Cambria"/>
              </a:rPr>
              <a:t>Then, meaning is added, with far fewer errors.</a:t>
            </a:r>
            <a:endParaRPr/>
          </a:p>
        </p:txBody>
      </p:sp>
      <p:sp>
        <p:nvSpPr>
          <p:cNvPr id="1146" name="Subtitle"/>
          <p:cNvSpPr txBox="1"/>
          <p:nvPr/>
        </p:nvSpPr>
        <p:spPr>
          <a:xfrm>
            <a:off x="822960" y="1645920"/>
            <a:ext cx="10680192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600" b="0" i="0" dirty="0">
                <a:solidFill>
                  <a:srgbClr val="3A434C"/>
                </a:solidFill>
                <a:latin typeface="Calibri"/>
                <a:cs typeface="Calibri"/>
              </a:rPr>
              <a:t xml:space="preserve">What each method adds, and the modeling errors per ontology, for every LLM and database.</a:t>
            </a:r>
          </a:p>
        </p:txBody>
      </p:sp>
      <p:sp>
        <p:nvSpPr>
          <p:cNvPr id="1147" name="Ladder"/>
          <p:cNvSpPr/>
          <p:nvPr/>
        </p:nvSpPr>
        <p:spPr>
          <a:xfrm>
            <a:off x="804672" y="2103120"/>
            <a:ext cx="1700784" cy="310896"/>
          </a:xfrm>
          <a:prstGeom prst="rect">
            <a:avLst/>
          </a:prstGeom>
          <a:solidFill>
            <a:srgbClr val="E8F6E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000" b="1" i="0" dirty="0">
                <a:solidFill>
                  <a:srgbClr val="0B6E4F"/>
                </a:solidFill>
                <a:latin typeface="Consolas"/>
                <a:cs typeface="Consolas"/>
              </a:rPr>
              <a:t xml:space="preserve">1  VALID</a:t>
            </a:r>
          </a:p>
        </p:txBody>
      </p:sp>
      <p:sp>
        <p:nvSpPr>
          <p:cNvPr id="1148" name="Ladder"/>
          <p:cNvSpPr/>
          <p:nvPr/>
        </p:nvSpPr>
        <p:spPr>
          <a:xfrm>
            <a:off x="2596896" y="2103120"/>
            <a:ext cx="1700784" cy="310896"/>
          </a:xfrm>
          <a:prstGeom prst="rect">
            <a:avLst/>
          </a:prstGeom>
          <a:solidFill>
            <a:srgbClr val="E8F6E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000" b="1" i="0" dirty="0">
                <a:solidFill>
                  <a:srgbClr val="0B6E4F"/>
                </a:solidFill>
                <a:latin typeface="Consolas"/>
                <a:cs typeface="Consolas"/>
              </a:rPr>
              <a:t xml:space="preserve">2  KEEPS THE SCHEMA</a:t>
            </a:r>
          </a:p>
        </p:txBody>
      </p:sp>
      <p:sp>
        <p:nvSpPr>
          <p:cNvPr id="1149" name="Ladder"/>
          <p:cNvSpPr/>
          <p:nvPr/>
        </p:nvSpPr>
        <p:spPr>
          <a:xfrm>
            <a:off x="4389120" y="2103120"/>
            <a:ext cx="1700784" cy="310896"/>
          </a:xfrm>
          <a:prstGeom prst="rect">
            <a:avLst/>
          </a:prstGeom>
          <a:solidFill>
            <a:srgbClr val="0B6E4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000" b="1" i="0" dirty="0">
                <a:solidFill>
                  <a:srgbClr val="FFFFFF"/>
                </a:solidFill>
                <a:latin typeface="Consolas"/>
                <a:cs typeface="Consolas"/>
              </a:rPr>
              <a:t xml:space="preserve">3  ADDS MEANING</a:t>
            </a:r>
          </a:p>
        </p:txBody>
      </p:sp>
      <p:sp>
        <p:nvSpPr>
          <p:cNvPr id="1150" name="Ladder"/>
          <p:cNvSpPr/>
          <p:nvPr/>
        </p:nvSpPr>
        <p:spPr>
          <a:xfrm>
            <a:off x="6181344" y="2103120"/>
            <a:ext cx="1700784" cy="310896"/>
          </a:xfrm>
          <a:prstGeom prst="rect">
            <a:avLst/>
          </a:prstGeom>
          <a:solidFill>
            <a:srgbClr val="0B6E4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000" b="1" i="0" dirty="0">
                <a:solidFill>
                  <a:srgbClr val="FFFFFF"/>
                </a:solidFill>
                <a:latin typeface="Consolas"/>
                <a:cs typeface="Consolas"/>
              </a:rPr>
              <a:t xml:space="preserve">4  FEWER ERRORS</a:t>
            </a:r>
          </a:p>
        </p:txBody>
      </p:sp>
      <p:sp>
        <p:nvSpPr>
          <p:cNvPr id="1151" name="Ladder"/>
          <p:cNvSpPr/>
          <p:nvPr/>
        </p:nvSpPr>
        <p:spPr>
          <a:xfrm>
            <a:off x="7973568" y="2103120"/>
            <a:ext cx="1700784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D9DEDB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000" b="1" i="0" dirty="0">
                <a:solidFill>
                  <a:srgbClr val="6B747B"/>
                </a:solidFill>
                <a:latin typeface="Consolas"/>
                <a:cs typeface="Consolas"/>
              </a:rPr>
              <a:t xml:space="preserve">5  GOLD MAPPINGS</a:t>
            </a:r>
          </a:p>
        </p:txBody>
      </p:sp>
      <p:sp>
        <p:nvSpPr>
          <p:cNvPr id="1152" name="Ladder"/>
          <p:cNvSpPr/>
          <p:nvPr/>
        </p:nvSpPr>
        <p:spPr>
          <a:xfrm>
            <a:off x="9765792" y="2103120"/>
            <a:ext cx="1700784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D9DEDB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000" b="1" i="0" dirty="0">
                <a:solidFill>
                  <a:srgbClr val="6B747B"/>
                </a:solidFill>
                <a:latin typeface="Consolas"/>
                <a:cs typeface="Consolas"/>
              </a:rPr>
              <a:t xml:space="preserve">6  JUDGES</a:t>
            </a:r>
          </a:p>
        </p:txBody>
      </p:sp>
      <p:sp>
        <p:nvSpPr>
          <p:cNvPr id="1153" name="Card"/>
          <p:cNvSpPr/>
          <p:nvPr/>
        </p:nvSpPr>
        <p:spPr>
          <a:xfrm>
            <a:off x="804672" y="2606040"/>
            <a:ext cx="3474720" cy="31546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9DEDB"/>
            </a:solidFill>
          </a:ln>
        </p:spPr>
        <p:txBody>
          <a:bodyPr wrap="square" lIns="0" tIns="0" rIns="0" bIns="0" anchor="t">
            <a:noAutofit/>
          </a:bodyPr>
          <a:lstStyle/>
          <a:p>
            <a:pPr algn="l"/>
          </a:p>
        </p:txBody>
      </p:sp>
      <p:sp>
        <p:nvSpPr>
          <p:cNvPr id="1154" name="Card label"/>
          <p:cNvSpPr txBox="1"/>
          <p:nvPr/>
        </p:nvSpPr>
        <p:spPr>
          <a:xfrm>
            <a:off x="1078992" y="2788920"/>
            <a:ext cx="2926079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300" b="1" i="0" dirty="0">
                <a:solidFill>
                  <a:srgbClr val="2F6B78"/>
                </a:solidFill>
                <a:latin typeface="Consolas"/>
                <a:cs typeface="Consolas"/>
              </a:rPr>
              <a:t xml:space="preserve">3  ADDS MEANING</a:t>
            </a:r>
          </a:p>
        </p:txBody>
      </p:sp>
      <p:sp>
        <p:nvSpPr>
          <p:cNvPr id="1155" name="Card note"/>
          <p:cNvSpPr txBox="1"/>
          <p:nvPr/>
        </p:nvSpPr>
        <p:spPr>
          <a:xfrm>
            <a:off x="1078992" y="3081528"/>
            <a:ext cx="2926079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150" b="0" i="1" dirty="0">
                <a:solidFill>
                  <a:srgbClr val="5B6770"/>
                </a:solidFill>
                <a:latin typeface="Calibri"/>
                <a:cs typeface="Calibri"/>
              </a:rPr>
              <a:t xml:space="preserve">elements per ontology (avg)</a:t>
            </a:r>
          </a:p>
        </p:txBody>
      </p:sp>
      <p:sp>
        <p:nvSpPr>
          <p:cNvPr id="1156" name="Column"/>
          <p:cNvSpPr txBox="1"/>
          <p:nvPr/>
        </p:nvSpPr>
        <p:spPr>
          <a:xfrm>
            <a:off x="2029967" y="3474720"/>
            <a:ext cx="82296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lang="en-US" sz="1000" b="0" i="0" dirty="0">
                <a:solidFill>
                  <a:srgbClr val="5B6770"/>
                </a:solidFill>
                <a:latin typeface="Calibri"/>
                <a:cs typeface="Calibri"/>
              </a:rPr>
              <a:t xml:space="preserve">Labels</a:t>
            </a:r>
          </a:p>
        </p:txBody>
      </p:sp>
      <p:sp>
        <p:nvSpPr>
          <p:cNvPr id="1157" name="Column"/>
          <p:cNvSpPr txBox="1"/>
          <p:nvPr/>
        </p:nvSpPr>
        <p:spPr>
          <a:xfrm>
            <a:off x="2743199" y="3474720"/>
            <a:ext cx="82296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lang="en-US" sz="1000" b="0" i="0" dirty="0">
                <a:solidFill>
                  <a:srgbClr val="5B6770"/>
                </a:solidFill>
                <a:latin typeface="Calibri"/>
                <a:cs typeface="Calibri"/>
              </a:rPr>
              <a:t xml:space="preserve">Provenance</a:t>
            </a:r>
          </a:p>
        </p:txBody>
      </p:sp>
      <p:sp>
        <p:nvSpPr>
          <p:cNvPr id="1158" name="Column"/>
          <p:cNvSpPr txBox="1"/>
          <p:nvPr/>
        </p:nvSpPr>
        <p:spPr>
          <a:xfrm>
            <a:off x="3456432" y="3474720"/>
            <a:ext cx="82296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lang="en-US" sz="1000" b="0" i="0" dirty="0">
                <a:solidFill>
                  <a:srgbClr val="5B6770"/>
                </a:solidFill>
                <a:latin typeface="Calibri"/>
                <a:cs typeface="Calibri"/>
              </a:rPr>
              <a:t xml:space="preserve">Hierarchy</a:t>
            </a:r>
          </a:p>
        </p:txBody>
      </p:sp>
      <p:sp>
        <p:nvSpPr>
          <p:cNvPr id="1159" name="Rule"/>
          <p:cNvSpPr/>
          <p:nvPr/>
        </p:nvSpPr>
        <p:spPr>
          <a:xfrm>
            <a:off x="1033271" y="3749039"/>
            <a:ext cx="3017520" cy="10972"/>
          </a:xfrm>
          <a:prstGeom prst="rect">
            <a:avLst/>
          </a:prstGeom>
          <a:solidFill>
            <a:srgbClr val="C5CCD0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/>
          </a:p>
        </p:txBody>
      </p:sp>
      <p:sp>
        <p:nvSpPr>
          <p:cNvPr id="1160" name="Method"/>
          <p:cNvSpPr txBox="1"/>
          <p:nvPr/>
        </p:nvSpPr>
        <p:spPr>
          <a:xfrm>
            <a:off x="1033271" y="3840480"/>
            <a:ext cx="109728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en-US" sz="1150" b="0" i="0" dirty="0">
                <a:solidFill>
                  <a:srgbClr val="1F2328"/>
                </a:solidFill>
                <a:latin typeface="Calibri"/>
                <a:cs typeface="Calibri"/>
              </a:rPr>
              <a:t xml:space="preserve">Direct Mapping</a:t>
            </a:r>
          </a:p>
        </p:txBody>
      </p:sp>
      <p:sp>
        <p:nvSpPr>
          <p:cNvPr id="1161" name="Value"/>
          <p:cNvSpPr txBox="1"/>
          <p:nvPr/>
        </p:nvSpPr>
        <p:spPr>
          <a:xfrm>
            <a:off x="2029967" y="3840480"/>
            <a:ext cx="82296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300" b="0" i="0" dirty="0">
                <a:solidFill>
                  <a:srgbClr val="6B747B"/>
                </a:solidFill>
                <a:latin typeface="Calibri"/>
                <a:cs typeface="Calibri"/>
              </a:rPr>
              <a:t xml:space="preserve">0</a:t>
            </a:r>
          </a:p>
        </p:txBody>
      </p:sp>
      <p:sp>
        <p:nvSpPr>
          <p:cNvPr id="1162" name="Value"/>
          <p:cNvSpPr txBox="1"/>
          <p:nvPr/>
        </p:nvSpPr>
        <p:spPr>
          <a:xfrm>
            <a:off x="2743199" y="3840480"/>
            <a:ext cx="82296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300" b="0" i="0" dirty="0">
                <a:solidFill>
                  <a:srgbClr val="6B747B"/>
                </a:solidFill>
                <a:latin typeface="Calibri"/>
                <a:cs typeface="Calibri"/>
              </a:rPr>
              <a:t xml:space="preserve">0</a:t>
            </a:r>
          </a:p>
        </p:txBody>
      </p:sp>
      <p:sp>
        <p:nvSpPr>
          <p:cNvPr id="1163" name="Value"/>
          <p:cNvSpPr txBox="1"/>
          <p:nvPr/>
        </p:nvSpPr>
        <p:spPr>
          <a:xfrm>
            <a:off x="3456432" y="3840480"/>
            <a:ext cx="82296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300" b="0" i="0" dirty="0">
                <a:solidFill>
                  <a:srgbClr val="6B747B"/>
                </a:solidFill>
                <a:latin typeface="Calibri"/>
                <a:cs typeface="Calibri"/>
              </a:rPr>
              <a:t xml:space="preserve">0</a:t>
            </a:r>
          </a:p>
        </p:txBody>
      </p:sp>
      <p:sp>
        <p:nvSpPr>
          <p:cNvPr id="1164" name="Method"/>
          <p:cNvSpPr txBox="1"/>
          <p:nvPr/>
        </p:nvSpPr>
        <p:spPr>
          <a:xfrm>
            <a:off x="1033271" y="4242816"/>
            <a:ext cx="109728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en-US" sz="1150" b="0" i="0" dirty="0">
                <a:solidFill>
                  <a:srgbClr val="1F2328"/>
                </a:solidFill>
                <a:latin typeface="Calibri"/>
                <a:cs typeface="Calibri"/>
              </a:rPr>
              <a:t xml:space="preserve">LLM baseline</a:t>
            </a:r>
          </a:p>
        </p:txBody>
      </p:sp>
      <p:sp>
        <p:nvSpPr>
          <p:cNvPr id="1165" name="Value"/>
          <p:cNvSpPr txBox="1"/>
          <p:nvPr/>
        </p:nvSpPr>
        <p:spPr>
          <a:xfrm>
            <a:off x="2029967" y="4242816"/>
            <a:ext cx="82296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300" b="0" i="0" dirty="0">
                <a:solidFill>
                  <a:srgbClr val="6B747B"/>
                </a:solidFill>
                <a:latin typeface="Calibri"/>
                <a:cs typeface="Calibri"/>
              </a:rPr>
              <a:t xml:space="preserve">0</a:t>
            </a:r>
          </a:p>
        </p:txBody>
      </p:sp>
      <p:sp>
        <p:nvSpPr>
          <p:cNvPr id="1166" name="Value"/>
          <p:cNvSpPr txBox="1"/>
          <p:nvPr/>
        </p:nvSpPr>
        <p:spPr>
          <a:xfrm>
            <a:off x="2743199" y="4242816"/>
            <a:ext cx="82296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300" b="0" i="0" dirty="0">
                <a:solidFill>
                  <a:srgbClr val="6B747B"/>
                </a:solidFill>
                <a:latin typeface="Calibri"/>
                <a:cs typeface="Calibri"/>
              </a:rPr>
              <a:t xml:space="preserve">0</a:t>
            </a:r>
          </a:p>
        </p:txBody>
      </p:sp>
      <p:sp>
        <p:nvSpPr>
          <p:cNvPr id="1167" name="Value"/>
          <p:cNvSpPr txBox="1"/>
          <p:nvPr/>
        </p:nvSpPr>
        <p:spPr>
          <a:xfrm>
            <a:off x="3456432" y="4242816"/>
            <a:ext cx="82296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300" b="0" i="0" dirty="0">
                <a:solidFill>
                  <a:srgbClr val="6B747B"/>
                </a:solidFill>
                <a:latin typeface="Calibri"/>
                <a:cs typeface="Calibri"/>
              </a:rPr>
              <a:t xml:space="preserve">0</a:t>
            </a:r>
          </a:p>
        </p:txBody>
      </p:sp>
      <p:sp>
        <p:nvSpPr>
          <p:cNvPr id="1168" name="Method"/>
          <p:cNvSpPr txBox="1"/>
          <p:nvPr/>
        </p:nvSpPr>
        <p:spPr>
          <a:xfrm>
            <a:off x="1033271" y="4645152"/>
            <a:ext cx="109728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en-US" sz="1150" b="0" i="0" dirty="0">
                <a:solidFill>
                  <a:srgbClr val="1F2328"/>
                </a:solidFill>
                <a:latin typeface="Calibri"/>
                <a:cs typeface="Calibri"/>
              </a:rPr>
              <a:t xml:space="preserve">Non-Iterative</a:t>
            </a:r>
          </a:p>
        </p:txBody>
      </p:sp>
      <p:sp>
        <p:nvSpPr>
          <p:cNvPr id="1169" name="Value"/>
          <p:cNvSpPr txBox="1"/>
          <p:nvPr/>
        </p:nvSpPr>
        <p:spPr>
          <a:xfrm>
            <a:off x="2029967" y="4645152"/>
            <a:ext cx="82296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300" b="1" i="0" dirty="0">
                <a:solidFill>
                  <a:srgbClr val="1F2328"/>
                </a:solidFill>
                <a:latin typeface="Calibri"/>
                <a:cs typeface="Calibri"/>
              </a:rPr>
              <a:t xml:space="preserve">389</a:t>
            </a:r>
          </a:p>
        </p:txBody>
      </p:sp>
      <p:sp>
        <p:nvSpPr>
          <p:cNvPr id="1170" name="Value"/>
          <p:cNvSpPr txBox="1"/>
          <p:nvPr/>
        </p:nvSpPr>
        <p:spPr>
          <a:xfrm>
            <a:off x="2743199" y="4645152"/>
            <a:ext cx="82296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300" b="0" i="0" dirty="0">
                <a:solidFill>
                  <a:srgbClr val="6B747B"/>
                </a:solidFill>
                <a:latin typeface="Calibri"/>
                <a:cs typeface="Calibri"/>
              </a:rPr>
              <a:t xml:space="preserve">0</a:t>
            </a:r>
          </a:p>
        </p:txBody>
      </p:sp>
      <p:sp>
        <p:nvSpPr>
          <p:cNvPr id="1171" name="Value"/>
          <p:cNvSpPr txBox="1"/>
          <p:nvPr/>
        </p:nvSpPr>
        <p:spPr>
          <a:xfrm>
            <a:off x="3456432" y="4645152"/>
            <a:ext cx="82296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300" b="0" i="0" dirty="0">
                <a:solidFill>
                  <a:srgbClr val="6B747B"/>
                </a:solidFill>
                <a:latin typeface="Calibri"/>
                <a:cs typeface="Calibri"/>
              </a:rPr>
              <a:t xml:space="preserve">0</a:t>
            </a:r>
          </a:p>
        </p:txBody>
      </p:sp>
      <p:sp>
        <p:nvSpPr>
          <p:cNvPr id="1172" name="RIGOR band"/>
          <p:cNvSpPr/>
          <p:nvPr/>
        </p:nvSpPr>
        <p:spPr>
          <a:xfrm>
            <a:off x="941832" y="5020056"/>
            <a:ext cx="3200400" cy="365760"/>
          </a:xfrm>
          <a:prstGeom prst="roundRect">
            <a:avLst>
              <a:gd name="adj" fmla="val 12000"/>
            </a:avLst>
          </a:prstGeom>
          <a:solidFill>
            <a:srgbClr val="E8F6EF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/>
          </a:p>
        </p:txBody>
      </p:sp>
      <p:sp>
        <p:nvSpPr>
          <p:cNvPr id="1173" name="Method"/>
          <p:cNvSpPr txBox="1"/>
          <p:nvPr/>
        </p:nvSpPr>
        <p:spPr>
          <a:xfrm>
            <a:off x="1033271" y="5047488"/>
            <a:ext cx="109728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en-US" sz="1150" b="1" i="0" dirty="0">
                <a:solidFill>
                  <a:srgbClr val="0B6E4F"/>
                </a:solidFill>
                <a:latin typeface="Calibri"/>
                <a:cs typeface="Calibri"/>
              </a:rPr>
              <a:t xml:space="preserve">RIGOR</a:t>
            </a:r>
          </a:p>
        </p:txBody>
      </p:sp>
      <p:sp>
        <p:nvSpPr>
          <p:cNvPr id="1174" name="Value"/>
          <p:cNvSpPr txBox="1"/>
          <p:nvPr/>
        </p:nvSpPr>
        <p:spPr>
          <a:xfrm>
            <a:off x="2029967" y="5047488"/>
            <a:ext cx="82296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300" b="1" i="0" dirty="0">
                <a:solidFill>
                  <a:srgbClr val="0B6E4F"/>
                </a:solidFill>
                <a:latin typeface="Calibri"/>
                <a:cs typeface="Calibri"/>
              </a:rPr>
              <a:t xml:space="preserve">777</a:t>
            </a:r>
          </a:p>
        </p:txBody>
      </p:sp>
      <p:sp>
        <p:nvSpPr>
          <p:cNvPr id="1175" name="Value"/>
          <p:cNvSpPr txBox="1"/>
          <p:nvPr/>
        </p:nvSpPr>
        <p:spPr>
          <a:xfrm>
            <a:off x="2743199" y="5047488"/>
            <a:ext cx="82296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300" b="1" i="0" dirty="0">
                <a:solidFill>
                  <a:srgbClr val="0B6E4F"/>
                </a:solidFill>
                <a:latin typeface="Calibri"/>
                <a:cs typeface="Calibri"/>
              </a:rPr>
              <a:t xml:space="preserve">196</a:t>
            </a:r>
          </a:p>
        </p:txBody>
      </p:sp>
      <p:sp>
        <p:nvSpPr>
          <p:cNvPr id="1176" name="Value"/>
          <p:cNvSpPr txBox="1"/>
          <p:nvPr/>
        </p:nvSpPr>
        <p:spPr>
          <a:xfrm>
            <a:off x="3456432" y="5047488"/>
            <a:ext cx="82296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300" b="1" i="0" dirty="0">
                <a:solidFill>
                  <a:srgbClr val="0B6E4F"/>
                </a:solidFill>
                <a:latin typeface="Calibri"/>
                <a:cs typeface="Calibri"/>
              </a:rPr>
              <a:t xml:space="preserve">59</a:t>
            </a:r>
          </a:p>
        </p:txBody>
      </p:sp>
      <p:sp>
        <p:nvSpPr>
          <p:cNvPr id="1177" name="Note"/>
          <p:cNvSpPr txBox="1"/>
          <p:nvPr/>
        </p:nvSpPr>
        <p:spPr>
          <a:xfrm>
            <a:off x="1033271" y="5458968"/>
            <a:ext cx="301752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000" b="0" i="1" dirty="0">
                <a:solidFill>
                  <a:srgbClr val="5B6770"/>
                </a:solidFill>
                <a:latin typeface="Calibri"/>
                <a:cs typeface="Calibri"/>
              </a:rPr>
              <a:t xml:space="preserve">Same pattern for every LLM and database.</a:t>
            </a:r>
          </a:p>
        </p:txBody>
      </p:sp>
      <p:sp>
        <p:nvSpPr>
          <p:cNvPr id="1178" name="Card"/>
          <p:cNvSpPr/>
          <p:nvPr/>
        </p:nvSpPr>
        <p:spPr>
          <a:xfrm>
            <a:off x="4416552" y="2606040"/>
            <a:ext cx="6967728" cy="31546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9DEDB"/>
            </a:solidFill>
          </a:ln>
        </p:spPr>
        <p:txBody>
          <a:bodyPr wrap="square" lIns="0" tIns="0" rIns="0" bIns="0" anchor="t">
            <a:noAutofit/>
          </a:bodyPr>
          <a:lstStyle/>
          <a:p>
            <a:pPr algn="l"/>
          </a:p>
        </p:txBody>
      </p:sp>
      <p:sp>
        <p:nvSpPr>
          <p:cNvPr id="1179" name="Card label"/>
          <p:cNvSpPr txBox="1"/>
          <p:nvPr/>
        </p:nvSpPr>
        <p:spPr>
          <a:xfrm>
            <a:off x="4690872" y="2788920"/>
            <a:ext cx="6419088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300" b="1" i="0" dirty="0">
                <a:solidFill>
                  <a:srgbClr val="2F6B78"/>
                </a:solidFill>
                <a:latin typeface="Consolas"/>
                <a:cs typeface="Consolas"/>
              </a:rPr>
              <a:t xml:space="preserve">4  FEWER ERRORS</a:t>
            </a:r>
          </a:p>
        </p:txBody>
      </p:sp>
      <p:sp>
        <p:nvSpPr>
          <p:cNvPr id="1180" name="Card note"/>
          <p:cNvSpPr txBox="1"/>
          <p:nvPr/>
        </p:nvSpPr>
        <p:spPr>
          <a:xfrm>
            <a:off x="4690872" y="3081528"/>
            <a:ext cx="6419088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150" b="0" i="1" dirty="0">
                <a:solidFill>
                  <a:srgbClr val="5B6770"/>
                </a:solidFill>
                <a:latin typeface="Calibri"/>
                <a:cs typeface="Calibri"/>
              </a:rPr>
              <a:t xml:space="preserve">OOPS! modeling pitfalls per ontology</a:t>
            </a:r>
          </a:p>
        </p:txBody>
      </p:sp>
      <p:sp>
        <p:nvSpPr>
          <p:cNvPr id="1181" name="Database"/>
          <p:cNvSpPr txBox="1"/>
          <p:nvPr/>
        </p:nvSpPr>
        <p:spPr>
          <a:xfrm>
            <a:off x="5806440" y="3383280"/>
            <a:ext cx="1591055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00" b="1" i="0" dirty="0">
                <a:solidFill>
                  <a:srgbClr val="1F2328"/>
                </a:solidFill>
                <a:latin typeface="Calibri"/>
                <a:cs typeface="Calibri"/>
              </a:rPr>
              <a:t xml:space="preserve">Liver Cancer</a:t>
            </a:r>
          </a:p>
        </p:txBody>
      </p:sp>
      <p:sp>
        <p:nvSpPr>
          <p:cNvPr id="1182" name="LLM"/>
          <p:cNvSpPr txBox="1"/>
          <p:nvPr/>
        </p:nvSpPr>
        <p:spPr>
          <a:xfrm>
            <a:off x="5806440" y="3611880"/>
            <a:ext cx="530352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850" b="0" i="0" dirty="0">
                <a:solidFill>
                  <a:srgbClr val="5B6770"/>
                </a:solidFill>
                <a:latin typeface="Calibri"/>
                <a:cs typeface="Calibri"/>
              </a:rPr>
              <a:t xml:space="preserve">Claude</a:t>
            </a:r>
          </a:p>
        </p:txBody>
      </p:sp>
      <p:sp>
        <p:nvSpPr>
          <p:cNvPr id="1183" name="LLM"/>
          <p:cNvSpPr txBox="1"/>
          <p:nvPr/>
        </p:nvSpPr>
        <p:spPr>
          <a:xfrm>
            <a:off x="6336792" y="3611880"/>
            <a:ext cx="530352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850" b="0" i="0" dirty="0">
                <a:solidFill>
                  <a:srgbClr val="5B6770"/>
                </a:solidFill>
                <a:latin typeface="Calibri"/>
                <a:cs typeface="Calibri"/>
              </a:rPr>
              <a:t xml:space="preserve">Mistral</a:t>
            </a:r>
          </a:p>
        </p:txBody>
      </p:sp>
      <p:sp>
        <p:nvSpPr>
          <p:cNvPr id="1184" name="LLM"/>
          <p:cNvSpPr txBox="1"/>
          <p:nvPr/>
        </p:nvSpPr>
        <p:spPr>
          <a:xfrm>
            <a:off x="6867144" y="3611880"/>
            <a:ext cx="530352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850" b="0" i="0" dirty="0">
                <a:solidFill>
                  <a:srgbClr val="5B6770"/>
                </a:solidFill>
                <a:latin typeface="Calibri"/>
                <a:cs typeface="Calibri"/>
              </a:rPr>
              <a:t xml:space="preserve">DeepSeek</a:t>
            </a:r>
          </a:p>
        </p:txBody>
      </p:sp>
      <p:sp>
        <p:nvSpPr>
          <p:cNvPr id="1185" name="Database"/>
          <p:cNvSpPr txBox="1"/>
          <p:nvPr/>
        </p:nvSpPr>
        <p:spPr>
          <a:xfrm>
            <a:off x="7397496" y="3383280"/>
            <a:ext cx="1591055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00" b="1" i="0" dirty="0">
                <a:solidFill>
                  <a:srgbClr val="1F2328"/>
                </a:solidFill>
                <a:latin typeface="Calibri"/>
                <a:cs typeface="Calibri"/>
              </a:rPr>
              <a:t xml:space="preserve">eICU-CRD</a:t>
            </a:r>
          </a:p>
        </p:txBody>
      </p:sp>
      <p:sp>
        <p:nvSpPr>
          <p:cNvPr id="1186" name="LLM"/>
          <p:cNvSpPr txBox="1"/>
          <p:nvPr/>
        </p:nvSpPr>
        <p:spPr>
          <a:xfrm>
            <a:off x="7397496" y="3611880"/>
            <a:ext cx="530352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850" b="0" i="0" dirty="0">
                <a:solidFill>
                  <a:srgbClr val="5B6770"/>
                </a:solidFill>
                <a:latin typeface="Calibri"/>
                <a:cs typeface="Calibri"/>
              </a:rPr>
              <a:t xml:space="preserve">Claude</a:t>
            </a:r>
          </a:p>
        </p:txBody>
      </p:sp>
      <p:sp>
        <p:nvSpPr>
          <p:cNvPr id="1187" name="LLM"/>
          <p:cNvSpPr txBox="1"/>
          <p:nvPr/>
        </p:nvSpPr>
        <p:spPr>
          <a:xfrm>
            <a:off x="7927848" y="3611880"/>
            <a:ext cx="530352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850" b="0" i="0" dirty="0">
                <a:solidFill>
                  <a:srgbClr val="5B6770"/>
                </a:solidFill>
                <a:latin typeface="Calibri"/>
                <a:cs typeface="Calibri"/>
              </a:rPr>
              <a:t xml:space="preserve">Mistral</a:t>
            </a:r>
          </a:p>
        </p:txBody>
      </p:sp>
      <p:sp>
        <p:nvSpPr>
          <p:cNvPr id="1188" name="LLM"/>
          <p:cNvSpPr txBox="1"/>
          <p:nvPr/>
        </p:nvSpPr>
        <p:spPr>
          <a:xfrm>
            <a:off x="8458200" y="3611880"/>
            <a:ext cx="530352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850" b="0" i="0" dirty="0">
                <a:solidFill>
                  <a:srgbClr val="5B6770"/>
                </a:solidFill>
                <a:latin typeface="Calibri"/>
                <a:cs typeface="Calibri"/>
              </a:rPr>
              <a:t xml:space="preserve">DeepSeek</a:t>
            </a:r>
          </a:p>
        </p:txBody>
      </p:sp>
      <p:sp>
        <p:nvSpPr>
          <p:cNvPr id="1189" name="Database"/>
          <p:cNvSpPr txBox="1"/>
          <p:nvPr/>
        </p:nvSpPr>
        <p:spPr>
          <a:xfrm>
            <a:off x="8988551" y="3383280"/>
            <a:ext cx="1591055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00" b="1" i="0" dirty="0">
                <a:solidFill>
                  <a:srgbClr val="1F2328"/>
                </a:solidFill>
                <a:latin typeface="Calibri"/>
                <a:cs typeface="Calibri"/>
              </a:rPr>
              <a:t xml:space="preserve">Chinook</a:t>
            </a:r>
          </a:p>
        </p:txBody>
      </p:sp>
      <p:sp>
        <p:nvSpPr>
          <p:cNvPr id="1190" name="LLM"/>
          <p:cNvSpPr txBox="1"/>
          <p:nvPr/>
        </p:nvSpPr>
        <p:spPr>
          <a:xfrm>
            <a:off x="8988551" y="3611880"/>
            <a:ext cx="530352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850" b="0" i="0" dirty="0">
                <a:solidFill>
                  <a:srgbClr val="5B6770"/>
                </a:solidFill>
                <a:latin typeface="Calibri"/>
                <a:cs typeface="Calibri"/>
              </a:rPr>
              <a:t xml:space="preserve">Claude</a:t>
            </a:r>
          </a:p>
        </p:txBody>
      </p:sp>
      <p:sp>
        <p:nvSpPr>
          <p:cNvPr id="1191" name="LLM"/>
          <p:cNvSpPr txBox="1"/>
          <p:nvPr/>
        </p:nvSpPr>
        <p:spPr>
          <a:xfrm>
            <a:off x="9518904" y="3611880"/>
            <a:ext cx="530352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850" b="0" i="0" dirty="0">
                <a:solidFill>
                  <a:srgbClr val="5B6770"/>
                </a:solidFill>
                <a:latin typeface="Calibri"/>
                <a:cs typeface="Calibri"/>
              </a:rPr>
              <a:t xml:space="preserve">Mistral</a:t>
            </a:r>
          </a:p>
        </p:txBody>
      </p:sp>
      <p:sp>
        <p:nvSpPr>
          <p:cNvPr id="1192" name="LLM"/>
          <p:cNvSpPr txBox="1"/>
          <p:nvPr/>
        </p:nvSpPr>
        <p:spPr>
          <a:xfrm>
            <a:off x="10049255" y="3611880"/>
            <a:ext cx="530352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850" b="0" i="0" dirty="0">
                <a:solidFill>
                  <a:srgbClr val="5B6770"/>
                </a:solidFill>
                <a:latin typeface="Calibri"/>
                <a:cs typeface="Calibri"/>
              </a:rPr>
              <a:t xml:space="preserve">DeepSeek</a:t>
            </a:r>
          </a:p>
        </p:txBody>
      </p:sp>
      <p:sp>
        <p:nvSpPr>
          <p:cNvPr id="1193" name="Avg head"/>
          <p:cNvSpPr txBox="1"/>
          <p:nvPr/>
        </p:nvSpPr>
        <p:spPr>
          <a:xfrm>
            <a:off x="10625328" y="3493008"/>
            <a:ext cx="68580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000" b="1" i="0" dirty="0">
                <a:solidFill>
                  <a:srgbClr val="5B6770"/>
                </a:solidFill>
                <a:latin typeface="Calibri"/>
                <a:cs typeface="Calibri"/>
              </a:rPr>
              <a:t xml:space="preserve">Avg</a:t>
            </a:r>
          </a:p>
        </p:txBody>
      </p:sp>
      <p:sp>
        <p:nvSpPr>
          <p:cNvPr id="1194" name="Method"/>
          <p:cNvSpPr txBox="1"/>
          <p:nvPr/>
        </p:nvSpPr>
        <p:spPr>
          <a:xfrm>
            <a:off x="4617720" y="3840480"/>
            <a:ext cx="118872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en-US" sz="1200" b="0" i="0" dirty="0">
                <a:solidFill>
                  <a:srgbClr val="1F2328"/>
                </a:solidFill>
                <a:latin typeface="Calibri"/>
                <a:cs typeface="Calibri"/>
              </a:rPr>
              <a:t xml:space="preserve">Direct Mapping</a:t>
            </a:r>
          </a:p>
        </p:txBody>
      </p:sp>
      <p:sp>
        <p:nvSpPr>
          <p:cNvPr id="1195" name="Cell"/>
          <p:cNvSpPr/>
          <p:nvPr/>
        </p:nvSpPr>
        <p:spPr>
          <a:xfrm>
            <a:off x="5824727" y="3858768"/>
            <a:ext cx="1554479" cy="420624"/>
          </a:xfrm>
          <a:prstGeom prst="rect">
            <a:avLst/>
          </a:prstGeom>
          <a:solidFill>
            <a:srgbClr val="EDB8AC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00" b="0" i="0" dirty="0">
                <a:solidFill>
                  <a:srgbClr val="1F2328"/>
                </a:solidFill>
                <a:latin typeface="Calibri"/>
                <a:cs typeface="Calibri"/>
              </a:rPr>
              <a:t xml:space="preserve">731</a:t>
            </a:r>
          </a:p>
        </p:txBody>
      </p:sp>
      <p:sp>
        <p:nvSpPr>
          <p:cNvPr id="1196" name="Cell"/>
          <p:cNvSpPr/>
          <p:nvPr/>
        </p:nvSpPr>
        <p:spPr>
          <a:xfrm>
            <a:off x="7415783" y="3858768"/>
            <a:ext cx="1554479" cy="420624"/>
          </a:xfrm>
          <a:prstGeom prst="rect">
            <a:avLst/>
          </a:prstGeom>
          <a:solidFill>
            <a:srgbClr val="EDB8AC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00" b="0" i="0" dirty="0">
                <a:solidFill>
                  <a:srgbClr val="1F2328"/>
                </a:solidFill>
                <a:latin typeface="Calibri"/>
                <a:cs typeface="Calibri"/>
              </a:rPr>
              <a:t xml:space="preserve">665</a:t>
            </a:r>
          </a:p>
        </p:txBody>
      </p:sp>
      <p:sp>
        <p:nvSpPr>
          <p:cNvPr id="1197" name="Cell"/>
          <p:cNvSpPr/>
          <p:nvPr/>
        </p:nvSpPr>
        <p:spPr>
          <a:xfrm>
            <a:off x="9006839" y="3858768"/>
            <a:ext cx="1554479" cy="420624"/>
          </a:xfrm>
          <a:prstGeom prst="rect">
            <a:avLst/>
          </a:prstGeom>
          <a:solidFill>
            <a:srgbClr val="F6DAD3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00" b="0" i="0" dirty="0">
                <a:solidFill>
                  <a:srgbClr val="1F2328"/>
                </a:solidFill>
                <a:latin typeface="Calibri"/>
                <a:cs typeface="Calibri"/>
              </a:rPr>
              <a:t xml:space="preserve">102</a:t>
            </a:r>
          </a:p>
        </p:txBody>
      </p:sp>
      <p:sp>
        <p:nvSpPr>
          <p:cNvPr id="1198" name="Avg"/>
          <p:cNvSpPr txBox="1"/>
          <p:nvPr/>
        </p:nvSpPr>
        <p:spPr>
          <a:xfrm>
            <a:off x="10625328" y="3840480"/>
            <a:ext cx="6858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250" b="1" i="0" dirty="0">
                <a:solidFill>
                  <a:srgbClr val="1F2328"/>
                </a:solidFill>
                <a:latin typeface="Calibri"/>
                <a:cs typeface="Calibri"/>
              </a:rPr>
              <a:t xml:space="preserve">499</a:t>
            </a:r>
          </a:p>
        </p:txBody>
      </p:sp>
      <p:sp>
        <p:nvSpPr>
          <p:cNvPr id="1199" name="Method"/>
          <p:cNvSpPr txBox="1"/>
          <p:nvPr/>
        </p:nvSpPr>
        <p:spPr>
          <a:xfrm>
            <a:off x="4617720" y="4297680"/>
            <a:ext cx="118872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en-US" sz="1200" b="0" i="0" dirty="0">
                <a:solidFill>
                  <a:srgbClr val="1F2328"/>
                </a:solidFill>
                <a:latin typeface="Calibri"/>
                <a:cs typeface="Calibri"/>
              </a:rPr>
              <a:t xml:space="preserve">LLM baseline</a:t>
            </a:r>
          </a:p>
        </p:txBody>
      </p:sp>
      <p:sp>
        <p:nvSpPr>
          <p:cNvPr id="1200" name="Cell"/>
          <p:cNvSpPr/>
          <p:nvPr/>
        </p:nvSpPr>
        <p:spPr>
          <a:xfrm>
            <a:off x="5824727" y="4315968"/>
            <a:ext cx="493775" cy="420624"/>
          </a:xfrm>
          <a:prstGeom prst="rect">
            <a:avLst/>
          </a:prstGeom>
          <a:solidFill>
            <a:srgbClr val="EDB8AC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00" b="0" i="0" dirty="0">
                <a:solidFill>
                  <a:srgbClr val="1F2328"/>
                </a:solidFill>
                <a:latin typeface="Calibri"/>
                <a:cs typeface="Calibri"/>
              </a:rPr>
              <a:t xml:space="preserve">422</a:t>
            </a:r>
          </a:p>
        </p:txBody>
      </p:sp>
      <p:sp>
        <p:nvSpPr>
          <p:cNvPr id="1201" name="Cell"/>
          <p:cNvSpPr/>
          <p:nvPr/>
        </p:nvSpPr>
        <p:spPr>
          <a:xfrm>
            <a:off x="6355079" y="4315968"/>
            <a:ext cx="493775" cy="420624"/>
          </a:xfrm>
          <a:prstGeom prst="rect">
            <a:avLst/>
          </a:prstGeom>
          <a:solidFill>
            <a:srgbClr val="EDB8AC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00" b="0" i="0" dirty="0">
                <a:solidFill>
                  <a:srgbClr val="1F2328"/>
                </a:solidFill>
                <a:latin typeface="Calibri"/>
                <a:cs typeface="Calibri"/>
              </a:rPr>
              <a:t xml:space="preserve">397</a:t>
            </a:r>
          </a:p>
        </p:txBody>
      </p:sp>
      <p:sp>
        <p:nvSpPr>
          <p:cNvPr id="1202" name="Cell"/>
          <p:cNvSpPr/>
          <p:nvPr/>
        </p:nvSpPr>
        <p:spPr>
          <a:xfrm>
            <a:off x="6885431" y="4315968"/>
            <a:ext cx="493775" cy="420624"/>
          </a:xfrm>
          <a:prstGeom prst="rect">
            <a:avLst/>
          </a:prstGeom>
          <a:solidFill>
            <a:srgbClr val="EDB8AC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00" b="0" i="0" dirty="0">
                <a:solidFill>
                  <a:srgbClr val="1F2328"/>
                </a:solidFill>
                <a:latin typeface="Calibri"/>
                <a:cs typeface="Calibri"/>
              </a:rPr>
              <a:t xml:space="preserve">403</a:t>
            </a:r>
          </a:p>
        </p:txBody>
      </p:sp>
      <p:sp>
        <p:nvSpPr>
          <p:cNvPr id="1203" name="Cell"/>
          <p:cNvSpPr/>
          <p:nvPr/>
        </p:nvSpPr>
        <p:spPr>
          <a:xfrm>
            <a:off x="7415783" y="4315968"/>
            <a:ext cx="493775" cy="420624"/>
          </a:xfrm>
          <a:prstGeom prst="rect">
            <a:avLst/>
          </a:prstGeom>
          <a:solidFill>
            <a:srgbClr val="EDB8AC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00" b="0" i="0" dirty="0">
                <a:solidFill>
                  <a:srgbClr val="1F2328"/>
                </a:solidFill>
                <a:latin typeface="Calibri"/>
                <a:cs typeface="Calibri"/>
              </a:rPr>
              <a:t xml:space="preserve">434</a:t>
            </a:r>
          </a:p>
        </p:txBody>
      </p:sp>
      <p:sp>
        <p:nvSpPr>
          <p:cNvPr id="1204" name="Cell"/>
          <p:cNvSpPr/>
          <p:nvPr/>
        </p:nvSpPr>
        <p:spPr>
          <a:xfrm>
            <a:off x="7946136" y="4315968"/>
            <a:ext cx="493775" cy="420624"/>
          </a:xfrm>
          <a:prstGeom prst="rect">
            <a:avLst/>
          </a:prstGeom>
          <a:solidFill>
            <a:srgbClr val="EDB8AC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00" b="0" i="0" dirty="0">
                <a:solidFill>
                  <a:srgbClr val="1F2328"/>
                </a:solidFill>
                <a:latin typeface="Calibri"/>
                <a:cs typeface="Calibri"/>
              </a:rPr>
              <a:t xml:space="preserve">440</a:t>
            </a:r>
          </a:p>
        </p:txBody>
      </p:sp>
      <p:sp>
        <p:nvSpPr>
          <p:cNvPr id="1205" name="Cell"/>
          <p:cNvSpPr/>
          <p:nvPr/>
        </p:nvSpPr>
        <p:spPr>
          <a:xfrm>
            <a:off x="8476488" y="4315968"/>
            <a:ext cx="493775" cy="420624"/>
          </a:xfrm>
          <a:prstGeom prst="rect">
            <a:avLst/>
          </a:prstGeom>
          <a:solidFill>
            <a:srgbClr val="EDB8AC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00" b="0" i="0" dirty="0">
                <a:solidFill>
                  <a:srgbClr val="1F2328"/>
                </a:solidFill>
                <a:latin typeface="Calibri"/>
                <a:cs typeface="Calibri"/>
              </a:rPr>
              <a:t xml:space="preserve">421</a:t>
            </a:r>
          </a:p>
        </p:txBody>
      </p:sp>
      <p:sp>
        <p:nvSpPr>
          <p:cNvPr id="1206" name="Cell"/>
          <p:cNvSpPr/>
          <p:nvPr/>
        </p:nvSpPr>
        <p:spPr>
          <a:xfrm>
            <a:off x="9006839" y="4315968"/>
            <a:ext cx="493775" cy="420624"/>
          </a:xfrm>
          <a:prstGeom prst="rect">
            <a:avLst/>
          </a:prstGeom>
          <a:solidFill>
            <a:srgbClr val="F1F3F2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00" b="0" i="0" dirty="0">
                <a:solidFill>
                  <a:srgbClr val="1F2328"/>
                </a:solidFill>
                <a:latin typeface="Calibri"/>
                <a:cs typeface="Calibri"/>
              </a:rPr>
              <a:t xml:space="preserve">95</a:t>
            </a:r>
          </a:p>
        </p:txBody>
      </p:sp>
      <p:sp>
        <p:nvSpPr>
          <p:cNvPr id="1207" name="Cell"/>
          <p:cNvSpPr/>
          <p:nvPr/>
        </p:nvSpPr>
        <p:spPr>
          <a:xfrm>
            <a:off x="9537192" y="4315968"/>
            <a:ext cx="493775" cy="420624"/>
          </a:xfrm>
          <a:prstGeom prst="rect">
            <a:avLst/>
          </a:prstGeom>
          <a:solidFill>
            <a:srgbClr val="F1F3F2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00" b="0" i="0" dirty="0">
                <a:solidFill>
                  <a:srgbClr val="1F2328"/>
                </a:solidFill>
                <a:latin typeface="Calibri"/>
                <a:cs typeface="Calibri"/>
              </a:rPr>
              <a:t xml:space="preserve">74</a:t>
            </a:r>
          </a:p>
        </p:txBody>
      </p:sp>
      <p:sp>
        <p:nvSpPr>
          <p:cNvPr id="1208" name="Cell"/>
          <p:cNvSpPr/>
          <p:nvPr/>
        </p:nvSpPr>
        <p:spPr>
          <a:xfrm>
            <a:off x="10067543" y="4315968"/>
            <a:ext cx="493775" cy="420624"/>
          </a:xfrm>
          <a:prstGeom prst="rect">
            <a:avLst/>
          </a:prstGeom>
          <a:solidFill>
            <a:srgbClr val="F1F3F2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00" b="0" i="0" dirty="0">
                <a:solidFill>
                  <a:srgbClr val="1F2328"/>
                </a:solidFill>
                <a:latin typeface="Calibri"/>
                <a:cs typeface="Calibri"/>
              </a:rPr>
              <a:t xml:space="preserve">81</a:t>
            </a:r>
          </a:p>
        </p:txBody>
      </p:sp>
      <p:sp>
        <p:nvSpPr>
          <p:cNvPr id="1209" name="Avg"/>
          <p:cNvSpPr txBox="1"/>
          <p:nvPr/>
        </p:nvSpPr>
        <p:spPr>
          <a:xfrm>
            <a:off x="10625328" y="4297680"/>
            <a:ext cx="6858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250" b="1" i="0" dirty="0">
                <a:solidFill>
                  <a:srgbClr val="1F2328"/>
                </a:solidFill>
                <a:latin typeface="Calibri"/>
                <a:cs typeface="Calibri"/>
              </a:rPr>
              <a:t xml:space="preserve">307</a:t>
            </a:r>
          </a:p>
        </p:txBody>
      </p:sp>
      <p:sp>
        <p:nvSpPr>
          <p:cNvPr id="1210" name="Method"/>
          <p:cNvSpPr txBox="1"/>
          <p:nvPr/>
        </p:nvSpPr>
        <p:spPr>
          <a:xfrm>
            <a:off x="4617720" y="4754880"/>
            <a:ext cx="118872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en-US" sz="1200" b="0" i="0" dirty="0">
                <a:solidFill>
                  <a:srgbClr val="1F2328"/>
                </a:solidFill>
                <a:latin typeface="Calibri"/>
                <a:cs typeface="Calibri"/>
              </a:rPr>
              <a:t xml:space="preserve">Non-Iterative</a:t>
            </a:r>
          </a:p>
        </p:txBody>
      </p:sp>
      <p:sp>
        <p:nvSpPr>
          <p:cNvPr id="1211" name="Cell"/>
          <p:cNvSpPr/>
          <p:nvPr/>
        </p:nvSpPr>
        <p:spPr>
          <a:xfrm>
            <a:off x="5824727" y="4773168"/>
            <a:ext cx="493775" cy="420624"/>
          </a:xfrm>
          <a:prstGeom prst="rect">
            <a:avLst/>
          </a:prstGeom>
          <a:solidFill>
            <a:srgbClr val="DDF0E5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00" b="0" i="0" dirty="0">
                <a:solidFill>
                  <a:srgbClr val="1F2328"/>
                </a:solidFill>
                <a:latin typeface="Calibri"/>
                <a:cs typeface="Calibri"/>
              </a:rPr>
              <a:t xml:space="preserve">29</a:t>
            </a:r>
          </a:p>
        </p:txBody>
      </p:sp>
      <p:sp>
        <p:nvSpPr>
          <p:cNvPr id="1212" name="Cell"/>
          <p:cNvSpPr/>
          <p:nvPr/>
        </p:nvSpPr>
        <p:spPr>
          <a:xfrm>
            <a:off x="6355079" y="4773168"/>
            <a:ext cx="493775" cy="420624"/>
          </a:xfrm>
          <a:prstGeom prst="rect">
            <a:avLst/>
          </a:prstGeom>
          <a:solidFill>
            <a:srgbClr val="F1F3F2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00" b="0" i="0" dirty="0">
                <a:solidFill>
                  <a:srgbClr val="1F2328"/>
                </a:solidFill>
                <a:latin typeface="Calibri"/>
                <a:cs typeface="Calibri"/>
              </a:rPr>
              <a:t xml:space="preserve">61</a:t>
            </a:r>
          </a:p>
        </p:txBody>
      </p:sp>
      <p:sp>
        <p:nvSpPr>
          <p:cNvPr id="1213" name="Cell"/>
          <p:cNvSpPr/>
          <p:nvPr/>
        </p:nvSpPr>
        <p:spPr>
          <a:xfrm>
            <a:off x="6885431" y="4773168"/>
            <a:ext cx="493775" cy="420624"/>
          </a:xfrm>
          <a:prstGeom prst="rect">
            <a:avLst/>
          </a:prstGeom>
          <a:solidFill>
            <a:srgbClr val="DDF0E5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00" b="0" i="0" dirty="0">
                <a:solidFill>
                  <a:srgbClr val="1F2328"/>
                </a:solidFill>
                <a:latin typeface="Calibri"/>
                <a:cs typeface="Calibri"/>
              </a:rPr>
              <a:t xml:space="preserve">18</a:t>
            </a:r>
          </a:p>
        </p:txBody>
      </p:sp>
      <p:sp>
        <p:nvSpPr>
          <p:cNvPr id="1214" name="Cell"/>
          <p:cNvSpPr/>
          <p:nvPr/>
        </p:nvSpPr>
        <p:spPr>
          <a:xfrm>
            <a:off x="7415783" y="4773168"/>
            <a:ext cx="493775" cy="420624"/>
          </a:xfrm>
          <a:prstGeom prst="rect">
            <a:avLst/>
          </a:prstGeom>
          <a:solidFill>
            <a:srgbClr val="F1F3F2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00" b="0" i="0" dirty="0">
                <a:solidFill>
                  <a:srgbClr val="1F2328"/>
                </a:solidFill>
                <a:latin typeface="Calibri"/>
                <a:cs typeface="Calibri"/>
              </a:rPr>
              <a:t xml:space="preserve">39</a:t>
            </a:r>
          </a:p>
        </p:txBody>
      </p:sp>
      <p:sp>
        <p:nvSpPr>
          <p:cNvPr id="1215" name="Cell"/>
          <p:cNvSpPr/>
          <p:nvPr/>
        </p:nvSpPr>
        <p:spPr>
          <a:xfrm>
            <a:off x="7946136" y="4773168"/>
            <a:ext cx="493775" cy="420624"/>
          </a:xfrm>
          <a:prstGeom prst="rect">
            <a:avLst/>
          </a:prstGeom>
          <a:solidFill>
            <a:srgbClr val="F6DAD3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00" b="0" i="0" dirty="0">
                <a:solidFill>
                  <a:srgbClr val="1F2328"/>
                </a:solidFill>
                <a:latin typeface="Calibri"/>
                <a:cs typeface="Calibri"/>
              </a:rPr>
              <a:t xml:space="preserve">220</a:t>
            </a:r>
          </a:p>
        </p:txBody>
      </p:sp>
      <p:sp>
        <p:nvSpPr>
          <p:cNvPr id="1216" name="Cell"/>
          <p:cNvSpPr/>
          <p:nvPr/>
        </p:nvSpPr>
        <p:spPr>
          <a:xfrm>
            <a:off x="8476488" y="4773168"/>
            <a:ext cx="493775" cy="420624"/>
          </a:xfrm>
          <a:prstGeom prst="rect">
            <a:avLst/>
          </a:prstGeom>
          <a:solidFill>
            <a:srgbClr val="DDF0E5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00" b="0" i="0" dirty="0">
                <a:solidFill>
                  <a:srgbClr val="1F2328"/>
                </a:solidFill>
                <a:latin typeface="Calibri"/>
                <a:cs typeface="Calibri"/>
              </a:rPr>
              <a:t xml:space="preserve">27</a:t>
            </a:r>
          </a:p>
        </p:txBody>
      </p:sp>
      <p:sp>
        <p:nvSpPr>
          <p:cNvPr id="1217" name="Cell"/>
          <p:cNvSpPr/>
          <p:nvPr/>
        </p:nvSpPr>
        <p:spPr>
          <a:xfrm>
            <a:off x="9006839" y="4773168"/>
            <a:ext cx="493775" cy="420624"/>
          </a:xfrm>
          <a:prstGeom prst="rect">
            <a:avLst/>
          </a:prstGeom>
          <a:solidFill>
            <a:srgbClr val="DDF0E5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00" b="0" i="0" dirty="0">
                <a:solidFill>
                  <a:srgbClr val="1F2328"/>
                </a:solidFill>
                <a:latin typeface="Calibri"/>
                <a:cs typeface="Calibri"/>
              </a:rPr>
              <a:t xml:space="preserve">24</a:t>
            </a:r>
          </a:p>
        </p:txBody>
      </p:sp>
      <p:sp>
        <p:nvSpPr>
          <p:cNvPr id="1218" name="Cell"/>
          <p:cNvSpPr/>
          <p:nvPr/>
        </p:nvSpPr>
        <p:spPr>
          <a:xfrm>
            <a:off x="9537192" y="4773168"/>
            <a:ext cx="493775" cy="420624"/>
          </a:xfrm>
          <a:prstGeom prst="rect">
            <a:avLst/>
          </a:prstGeom>
          <a:solidFill>
            <a:srgbClr val="F1F3F2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00" b="0" i="0" dirty="0">
                <a:solidFill>
                  <a:srgbClr val="1F2328"/>
                </a:solidFill>
                <a:latin typeface="Calibri"/>
                <a:cs typeface="Calibri"/>
              </a:rPr>
              <a:t xml:space="preserve">35</a:t>
            </a:r>
          </a:p>
        </p:txBody>
      </p:sp>
      <p:sp>
        <p:nvSpPr>
          <p:cNvPr id="1219" name="Cell"/>
          <p:cNvSpPr/>
          <p:nvPr/>
        </p:nvSpPr>
        <p:spPr>
          <a:xfrm>
            <a:off x="10067543" y="4773168"/>
            <a:ext cx="493775" cy="420624"/>
          </a:xfrm>
          <a:prstGeom prst="rect">
            <a:avLst/>
          </a:prstGeom>
          <a:solidFill>
            <a:srgbClr val="DDF0E5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00" b="0" i="0" dirty="0">
                <a:solidFill>
                  <a:srgbClr val="1F2328"/>
                </a:solidFill>
                <a:latin typeface="Calibri"/>
                <a:cs typeface="Calibri"/>
              </a:rPr>
              <a:t xml:space="preserve">14</a:t>
            </a:r>
          </a:p>
        </p:txBody>
      </p:sp>
      <p:sp>
        <p:nvSpPr>
          <p:cNvPr id="1220" name="Avg"/>
          <p:cNvSpPr txBox="1"/>
          <p:nvPr/>
        </p:nvSpPr>
        <p:spPr>
          <a:xfrm>
            <a:off x="10625328" y="4754880"/>
            <a:ext cx="6858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250" b="1" i="0" dirty="0">
                <a:solidFill>
                  <a:srgbClr val="1F2328"/>
                </a:solidFill>
                <a:latin typeface="Calibri"/>
                <a:cs typeface="Calibri"/>
              </a:rPr>
              <a:t xml:space="preserve">52</a:t>
            </a:r>
          </a:p>
        </p:txBody>
      </p:sp>
      <p:sp>
        <p:nvSpPr>
          <p:cNvPr id="1221" name="Method"/>
          <p:cNvSpPr txBox="1"/>
          <p:nvPr/>
        </p:nvSpPr>
        <p:spPr>
          <a:xfrm>
            <a:off x="4617720" y="5212080"/>
            <a:ext cx="118872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en-US" sz="1200" b="1" i="0" dirty="0">
                <a:solidFill>
                  <a:srgbClr val="0B6E4F"/>
                </a:solidFill>
                <a:latin typeface="Calibri"/>
                <a:cs typeface="Calibri"/>
              </a:rPr>
              <a:t xml:space="preserve">RIGOR</a:t>
            </a:r>
          </a:p>
        </p:txBody>
      </p:sp>
      <p:sp>
        <p:nvSpPr>
          <p:cNvPr id="1222" name="Cell"/>
          <p:cNvSpPr/>
          <p:nvPr/>
        </p:nvSpPr>
        <p:spPr>
          <a:xfrm>
            <a:off x="5824727" y="5230368"/>
            <a:ext cx="493775" cy="420624"/>
          </a:xfrm>
          <a:prstGeom prst="rect">
            <a:avLst/>
          </a:prstGeom>
          <a:solidFill>
            <a:srgbClr val="DDF0E5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00" b="1" i="0" dirty="0">
                <a:solidFill>
                  <a:srgbClr val="1F2328"/>
                </a:solidFill>
                <a:latin typeface="Calibri"/>
                <a:cs typeface="Calibri"/>
              </a:rPr>
              <a:t xml:space="preserve">20</a:t>
            </a:r>
          </a:p>
        </p:txBody>
      </p:sp>
      <p:sp>
        <p:nvSpPr>
          <p:cNvPr id="1223" name="Cell"/>
          <p:cNvSpPr/>
          <p:nvPr/>
        </p:nvSpPr>
        <p:spPr>
          <a:xfrm>
            <a:off x="6355079" y="5230368"/>
            <a:ext cx="493775" cy="420624"/>
          </a:xfrm>
          <a:prstGeom prst="rect">
            <a:avLst/>
          </a:prstGeom>
          <a:solidFill>
            <a:srgbClr val="DDF0E5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00" b="1" i="0" dirty="0">
                <a:solidFill>
                  <a:srgbClr val="1F2328"/>
                </a:solidFill>
                <a:latin typeface="Calibri"/>
                <a:cs typeface="Calibri"/>
              </a:rPr>
              <a:t xml:space="preserve">23</a:t>
            </a:r>
          </a:p>
        </p:txBody>
      </p:sp>
      <p:sp>
        <p:nvSpPr>
          <p:cNvPr id="1224" name="Cell"/>
          <p:cNvSpPr/>
          <p:nvPr/>
        </p:nvSpPr>
        <p:spPr>
          <a:xfrm>
            <a:off x="6885431" y="5230368"/>
            <a:ext cx="493775" cy="420624"/>
          </a:xfrm>
          <a:prstGeom prst="rect">
            <a:avLst/>
          </a:prstGeom>
          <a:solidFill>
            <a:srgbClr val="BFE3C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00" b="1" i="0" dirty="0">
                <a:solidFill>
                  <a:srgbClr val="1F2328"/>
                </a:solidFill>
                <a:latin typeface="Calibri"/>
                <a:cs typeface="Calibri"/>
              </a:rPr>
              <a:t xml:space="preserve">3</a:t>
            </a:r>
          </a:p>
        </p:txBody>
      </p:sp>
      <p:sp>
        <p:nvSpPr>
          <p:cNvPr id="1225" name="Cell"/>
          <p:cNvSpPr/>
          <p:nvPr/>
        </p:nvSpPr>
        <p:spPr>
          <a:xfrm>
            <a:off x="7415783" y="5230368"/>
            <a:ext cx="493775" cy="420624"/>
          </a:xfrm>
          <a:prstGeom prst="rect">
            <a:avLst/>
          </a:prstGeom>
          <a:solidFill>
            <a:srgbClr val="BFE3C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00" b="1" i="0" dirty="0">
                <a:solidFill>
                  <a:srgbClr val="1F2328"/>
                </a:solidFill>
                <a:latin typeface="Calibri"/>
                <a:cs typeface="Calibri"/>
              </a:rPr>
              <a:t xml:space="preserve">2</a:t>
            </a:r>
          </a:p>
        </p:txBody>
      </p:sp>
      <p:sp>
        <p:nvSpPr>
          <p:cNvPr id="1226" name="Cell"/>
          <p:cNvSpPr/>
          <p:nvPr/>
        </p:nvSpPr>
        <p:spPr>
          <a:xfrm>
            <a:off x="7946136" y="5230368"/>
            <a:ext cx="493775" cy="420624"/>
          </a:xfrm>
          <a:prstGeom prst="rect">
            <a:avLst/>
          </a:prstGeom>
          <a:solidFill>
            <a:srgbClr val="BFE3C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00" b="1" i="0" dirty="0">
                <a:solidFill>
                  <a:srgbClr val="1F2328"/>
                </a:solidFill>
                <a:latin typeface="Calibri"/>
                <a:cs typeface="Calibri"/>
              </a:rPr>
              <a:t xml:space="preserve">2</a:t>
            </a:r>
          </a:p>
        </p:txBody>
      </p:sp>
      <p:sp>
        <p:nvSpPr>
          <p:cNvPr id="1227" name="Cell"/>
          <p:cNvSpPr/>
          <p:nvPr/>
        </p:nvSpPr>
        <p:spPr>
          <a:xfrm>
            <a:off x="8476488" y="5230368"/>
            <a:ext cx="493775" cy="420624"/>
          </a:xfrm>
          <a:prstGeom prst="rect">
            <a:avLst/>
          </a:prstGeom>
          <a:solidFill>
            <a:srgbClr val="DDF0E5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00" b="1" i="0" dirty="0">
                <a:solidFill>
                  <a:srgbClr val="1F2328"/>
                </a:solidFill>
                <a:latin typeface="Calibri"/>
                <a:cs typeface="Calibri"/>
              </a:rPr>
              <a:t xml:space="preserve">26</a:t>
            </a:r>
          </a:p>
        </p:txBody>
      </p:sp>
      <p:sp>
        <p:nvSpPr>
          <p:cNvPr id="1228" name="Cell"/>
          <p:cNvSpPr/>
          <p:nvPr/>
        </p:nvSpPr>
        <p:spPr>
          <a:xfrm>
            <a:off x="9006839" y="5230368"/>
            <a:ext cx="493775" cy="420624"/>
          </a:xfrm>
          <a:prstGeom prst="rect">
            <a:avLst/>
          </a:prstGeom>
          <a:solidFill>
            <a:srgbClr val="BFE3C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00" b="1" i="0" dirty="0">
                <a:solidFill>
                  <a:srgbClr val="1F2328"/>
                </a:solidFill>
                <a:latin typeface="Calibri"/>
                <a:cs typeface="Calibri"/>
              </a:rPr>
              <a:t xml:space="preserve">0</a:t>
            </a:r>
          </a:p>
        </p:txBody>
      </p:sp>
      <p:sp>
        <p:nvSpPr>
          <p:cNvPr id="1229" name="Cell"/>
          <p:cNvSpPr/>
          <p:nvPr/>
        </p:nvSpPr>
        <p:spPr>
          <a:xfrm>
            <a:off x="9537192" y="5230368"/>
            <a:ext cx="493775" cy="420624"/>
          </a:xfrm>
          <a:prstGeom prst="rect">
            <a:avLst/>
          </a:prstGeom>
          <a:solidFill>
            <a:srgbClr val="BFE3C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00" b="1" i="0" dirty="0">
                <a:solidFill>
                  <a:srgbClr val="1F2328"/>
                </a:solidFill>
                <a:latin typeface="Calibri"/>
                <a:cs typeface="Calibri"/>
              </a:rPr>
              <a:t xml:space="preserve">0</a:t>
            </a:r>
          </a:p>
        </p:txBody>
      </p:sp>
      <p:sp>
        <p:nvSpPr>
          <p:cNvPr id="1230" name="Cell"/>
          <p:cNvSpPr/>
          <p:nvPr/>
        </p:nvSpPr>
        <p:spPr>
          <a:xfrm>
            <a:off x="10067543" y="5230368"/>
            <a:ext cx="493775" cy="420624"/>
          </a:xfrm>
          <a:prstGeom prst="rect">
            <a:avLst/>
          </a:prstGeom>
          <a:solidFill>
            <a:srgbClr val="BFE3C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00" b="1" i="0" dirty="0">
                <a:solidFill>
                  <a:srgbClr val="1F2328"/>
                </a:solidFill>
                <a:latin typeface="Calibri"/>
                <a:cs typeface="Calibri"/>
              </a:rPr>
              <a:t xml:space="preserve">0</a:t>
            </a:r>
          </a:p>
        </p:txBody>
      </p:sp>
      <p:sp>
        <p:nvSpPr>
          <p:cNvPr id="1231" name="Avg"/>
          <p:cNvSpPr txBox="1"/>
          <p:nvPr/>
        </p:nvSpPr>
        <p:spPr>
          <a:xfrm>
            <a:off x="10625328" y="5212080"/>
            <a:ext cx="6858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250" b="1" i="0" dirty="0">
                <a:solidFill>
                  <a:srgbClr val="0B6E4F"/>
                </a:solidFill>
                <a:latin typeface="Calibri"/>
                <a:cs typeface="Calibri"/>
              </a:rPr>
              <a:t xml:space="preserve">8</a:t>
            </a:r>
          </a:p>
        </p:txBody>
      </p:sp>
      <p:sp>
        <p:nvSpPr>
          <p:cNvPr id="1232" name="Strip"/>
          <p:cNvSpPr/>
          <p:nvPr/>
        </p:nvSpPr>
        <p:spPr>
          <a:xfrm>
            <a:off x="804672" y="5879592"/>
            <a:ext cx="10579608" cy="420624"/>
          </a:xfrm>
          <a:prstGeom prst="roundRect">
            <a:avLst>
              <a:gd name="adj" fmla="val 12000"/>
            </a:avLst>
          </a:prstGeom>
          <a:solidFill>
            <a:srgbClr val="E6F2EC"/>
          </a:solidFill>
          <a:ln>
            <a:noFill/>
          </a:ln>
        </p:spPr>
        <p:txBody>
          <a:bodyPr wrap="square" lIns="201168" tIns="0" rIns="201168" bIns="0" anchor="ctr">
            <a:noAutofit/>
          </a:bodyPr>
          <a:lstStyle/>
          <a:p>
            <a:pPr algn="l"/>
            <a:r>
              <a:rPr lang="en-US" sz="1400" b="0" i="0" dirty="0">
                <a:solidFill>
                  <a:srgbClr val="3A434C"/>
                </a:solidFill>
                <a:latin typeface="Calibri"/>
                <a:cs typeface="Calibri"/>
              </a:rPr>
              <a:t xml:space="preserve">Without validation, the smaller LLM fails hardest: </a:t>
            </a:r>
            <a:r>
              <a:rPr lang="en-US" sz="1400" b="1" i="0" dirty="0">
                <a:solidFill>
                  <a:srgbClr val="B23A1E"/>
                </a:solidFill>
                <a:latin typeface="Calibri"/>
                <a:cs typeface="Calibri"/>
              </a:rPr>
              <a:t xml:space="preserve">Mistral on eICU, 220.</a:t>
            </a:r>
            <a:r>
              <a:rPr lang="en-US" sz="1400" b="0" i="0" dirty="0">
                <a:solidFill>
                  <a:srgbClr val="3A434C"/>
                </a:solidFill>
                <a:latin typeface="Calibri"/>
                <a:cs typeface="Calibri"/>
              </a:rPr>
              <a:t xml:space="preserve">  With RIGOR: </a:t>
            </a:r>
            <a:r>
              <a:rPr lang="en-US" sz="1400" b="1" i="0" dirty="0">
                <a:solidFill>
                  <a:srgbClr val="0B6E4F"/>
                </a:solidFill>
                <a:latin typeface="Calibri"/>
                <a:cs typeface="Calibri"/>
              </a:rPr>
              <a:t xml:space="preserve">2, and zero on Chinook for every LLM.</a:t>
            </a:r>
          </a:p>
        </p:txBody>
      </p:sp>
      <p:sp>
        <p:nvSpPr>
          <p:cNvPr id="1233" name="Source"/>
          <p:cNvSpPr txBox="1"/>
          <p:nvPr/>
        </p:nvSpPr>
        <p:spPr>
          <a:xfrm>
            <a:off x="822960" y="6382512"/>
            <a:ext cx="1060704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000" b="0" i="0" dirty="0">
                <a:solidFill>
                  <a:srgbClr val="5B6770"/>
                </a:solidFill>
                <a:latin typeface="Calibri"/>
                <a:cs typeface="Calibri"/>
              </a:rPr>
              <a:t xml:space="preserve">Paper Table 8 (annotations, prov:wasDerivedFrom, SubClassOf) and Table 7 (OOPS! totals). 72% of the other methods' pitfalls are missing annotations (P08).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202" name="Shape 1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3" name="Google Shape;1203;p21"/>
          <p:cNvSpPr txBox="1"/>
          <p:nvPr/>
        </p:nvSpPr>
        <p:spPr>
          <a:xfrm>
            <a:off x="804672" y="512064"/>
            <a:ext cx="10753200" cy="31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0B6E4F"/>
                </a:solidFill>
                <a:latin typeface="Consolas"/>
                <a:ea typeface="Consolas"/>
                <a:cs typeface="Consolas"/>
                <a:sym typeface="Consolas"/>
              </a:rPr>
              <a:t>RESULT 3  /  EXTERNAL BENCHMARK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04" name="Google Shape;1204;p21"/>
          <p:cNvSpPr txBox="1"/>
          <p:nvPr/>
        </p:nvSpPr>
        <p:spPr>
          <a:xfrm>
            <a:off x="804672" y="914400"/>
            <a:ext cx="10762500" cy="667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900"/>
              <a:buFont typeface="Arial"/>
              <a:buNone/>
            </a:pPr>
            <a:r>
              <a:rPr b="1" i="0" lang="en-US" sz="2900" u="none" cap="none" strike="noStrike">
                <a:solidFill>
                  <a:srgbClr val="1F2328"/>
                </a:solidFill>
                <a:latin typeface="Cambria"/>
                <a:ea typeface="Cambria"/>
                <a:cs typeface="Cambria"/>
                <a:sym typeface="Cambria"/>
              </a:rPr>
              <a:t>RIGOR keeps the link to the data.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05" name="Google Shape;1205;p21"/>
          <p:cNvSpPr txBox="1"/>
          <p:nvPr/>
        </p:nvSpPr>
        <p:spPr>
          <a:xfrm>
            <a:off x="822960" y="1645920"/>
            <a:ext cx="10680300" cy="329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3A434C"/>
                </a:solidFill>
                <a:latin typeface="Calibri"/>
                <a:ea typeface="Calibri"/>
                <a:cs typeface="Calibri"/>
                <a:sym typeface="Calibri"/>
              </a:rPr>
              <a:t>BURR [Laskowski et al., PACMMOD 2025]  ·  ISWC scenario  ·  highest F1 among ontology-learning systems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06" name="Google Shape;1206;p21"/>
          <p:cNvSpPr/>
          <p:nvPr/>
        </p:nvSpPr>
        <p:spPr>
          <a:xfrm>
            <a:off x="5870448" y="2523744"/>
            <a:ext cx="5468100" cy="30633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0775">
            <a:solidFill>
              <a:srgbClr val="D9DEDB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07" name="Google Shape;1207;p21"/>
          <p:cNvSpPr txBox="1"/>
          <p:nvPr/>
        </p:nvSpPr>
        <p:spPr>
          <a:xfrm>
            <a:off x="6099048" y="2706624"/>
            <a:ext cx="1828800" cy="329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50" u="none" cap="none" strike="noStrike">
                <a:solidFill>
                  <a:srgbClr val="2F6B78"/>
                </a:solidFill>
                <a:latin typeface="Consolas"/>
                <a:ea typeface="Consolas"/>
                <a:cs typeface="Consolas"/>
                <a:sym typeface="Consolas"/>
              </a:rPr>
              <a:t>SYSTEM</a:t>
            </a:r>
            <a:endParaRPr/>
          </a:p>
        </p:txBody>
      </p:sp>
      <p:sp>
        <p:nvSpPr>
          <p:cNvPr id="1208" name="Google Shape;1208;p21"/>
          <p:cNvSpPr txBox="1"/>
          <p:nvPr/>
        </p:nvSpPr>
        <p:spPr>
          <a:xfrm>
            <a:off x="8156447" y="2706624"/>
            <a:ext cx="1051500" cy="329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50" u="none" cap="none" strike="noStrike">
                <a:solidFill>
                  <a:srgbClr val="2F6B78"/>
                </a:solidFill>
                <a:latin typeface="Consolas"/>
                <a:ea typeface="Consolas"/>
                <a:cs typeface="Consolas"/>
                <a:sym typeface="Consolas"/>
              </a:rPr>
              <a:t>CLASSES</a:t>
            </a:r>
            <a:endParaRPr/>
          </a:p>
        </p:txBody>
      </p:sp>
      <p:sp>
        <p:nvSpPr>
          <p:cNvPr id="1209" name="Google Shape;1209;p21"/>
          <p:cNvSpPr txBox="1"/>
          <p:nvPr/>
        </p:nvSpPr>
        <p:spPr>
          <a:xfrm>
            <a:off x="9208008" y="2706624"/>
            <a:ext cx="1051500" cy="329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50" u="none" cap="none" strike="noStrike">
                <a:solidFill>
                  <a:srgbClr val="2F6B78"/>
                </a:solidFill>
                <a:latin typeface="Consolas"/>
                <a:ea typeface="Consolas"/>
                <a:cs typeface="Consolas"/>
                <a:sym typeface="Consolas"/>
              </a:rPr>
              <a:t>RELATIONS</a:t>
            </a:r>
            <a:endParaRPr/>
          </a:p>
        </p:txBody>
      </p:sp>
      <p:sp>
        <p:nvSpPr>
          <p:cNvPr id="1210" name="Google Shape;1210;p21"/>
          <p:cNvSpPr txBox="1"/>
          <p:nvPr/>
        </p:nvSpPr>
        <p:spPr>
          <a:xfrm>
            <a:off x="10259567" y="2706624"/>
            <a:ext cx="1051500" cy="329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50" u="none" cap="none" strike="noStrike">
                <a:solidFill>
                  <a:srgbClr val="2F6B78"/>
                </a:solidFill>
                <a:latin typeface="Consolas"/>
                <a:ea typeface="Consolas"/>
                <a:cs typeface="Consolas"/>
                <a:sym typeface="Consolas"/>
              </a:rPr>
              <a:t>ATTRIBUTES</a:t>
            </a:r>
            <a:endParaRPr/>
          </a:p>
        </p:txBody>
      </p:sp>
      <p:cxnSp>
        <p:nvCxnSpPr>
          <p:cNvPr id="1211" name="Google Shape;1211;p21"/>
          <p:cNvCxnSpPr/>
          <p:nvPr/>
        </p:nvCxnSpPr>
        <p:spPr>
          <a:xfrm>
            <a:off x="6071616" y="3145536"/>
            <a:ext cx="5065800" cy="0"/>
          </a:xfrm>
          <a:prstGeom prst="straightConnector1">
            <a:avLst/>
          </a:prstGeom>
          <a:noFill/>
          <a:ln cap="flat" cmpd="sng" w="13950">
            <a:solidFill>
              <a:srgbClr val="D9DEDB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40"/>
              </a:srgbClr>
            </a:outerShdw>
          </a:effectLst>
        </p:spPr>
      </p:cxnSp>
      <p:sp>
        <p:nvSpPr>
          <p:cNvPr id="1212" name="Google Shape;1212;p21"/>
          <p:cNvSpPr txBox="1"/>
          <p:nvPr/>
        </p:nvSpPr>
        <p:spPr>
          <a:xfrm>
            <a:off x="6117336" y="3182112"/>
            <a:ext cx="20118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39" u="none" cap="none" strike="noStrike">
                <a:solidFill>
                  <a:srgbClr val="3A434C"/>
                </a:solidFill>
                <a:latin typeface="Calibri"/>
                <a:ea typeface="Calibri"/>
                <a:cs typeface="Calibri"/>
                <a:sym typeface="Calibri"/>
              </a:rPr>
              <a:t>W3C-Mapper / Ontop</a:t>
            </a:r>
            <a:endParaRPr/>
          </a:p>
        </p:txBody>
      </p:sp>
      <p:sp>
        <p:nvSpPr>
          <p:cNvPr id="1213" name="Google Shape;1213;p21"/>
          <p:cNvSpPr txBox="1"/>
          <p:nvPr/>
        </p:nvSpPr>
        <p:spPr>
          <a:xfrm>
            <a:off x="6117336" y="3438144"/>
            <a:ext cx="1828800" cy="201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30" u="none" cap="none" strike="noStrike">
                <a:solidFill>
                  <a:srgbClr val="5B6770"/>
                </a:solidFill>
                <a:latin typeface="Calibri"/>
                <a:ea typeface="Calibri"/>
                <a:cs typeface="Calibri"/>
                <a:sym typeface="Calibri"/>
              </a:rPr>
              <a:t>rule-based</a:t>
            </a:r>
            <a:endParaRPr/>
          </a:p>
        </p:txBody>
      </p:sp>
      <p:sp>
        <p:nvSpPr>
          <p:cNvPr id="1214" name="Google Shape;1214;p21"/>
          <p:cNvSpPr txBox="1"/>
          <p:nvPr/>
        </p:nvSpPr>
        <p:spPr>
          <a:xfrm>
            <a:off x="8202167" y="3241548"/>
            <a:ext cx="9600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39" u="none" cap="none" strike="noStrike">
                <a:solidFill>
                  <a:srgbClr val="3A434C"/>
                </a:solidFill>
                <a:latin typeface="Calibri"/>
                <a:ea typeface="Calibri"/>
                <a:cs typeface="Calibri"/>
                <a:sym typeface="Calibri"/>
              </a:rPr>
              <a:t>0.53</a:t>
            </a:r>
            <a:endParaRPr/>
          </a:p>
        </p:txBody>
      </p:sp>
      <p:sp>
        <p:nvSpPr>
          <p:cNvPr id="1215" name="Google Shape;1215;p21"/>
          <p:cNvSpPr txBox="1"/>
          <p:nvPr/>
        </p:nvSpPr>
        <p:spPr>
          <a:xfrm>
            <a:off x="9253728" y="3241548"/>
            <a:ext cx="9600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39" u="none" cap="none" strike="noStrike">
                <a:solidFill>
                  <a:srgbClr val="3A434C"/>
                </a:solidFill>
                <a:latin typeface="Calibri"/>
                <a:ea typeface="Calibri"/>
                <a:cs typeface="Calibri"/>
                <a:sym typeface="Calibri"/>
              </a:rPr>
              <a:t>0.11</a:t>
            </a:r>
            <a:endParaRPr/>
          </a:p>
        </p:txBody>
      </p:sp>
      <p:sp>
        <p:nvSpPr>
          <p:cNvPr id="1216" name="Google Shape;1216;p21"/>
          <p:cNvSpPr txBox="1"/>
          <p:nvPr/>
        </p:nvSpPr>
        <p:spPr>
          <a:xfrm>
            <a:off x="10305288" y="3241548"/>
            <a:ext cx="9600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39" u="none" cap="none" strike="noStrike">
                <a:solidFill>
                  <a:srgbClr val="3A434C"/>
                </a:solidFill>
                <a:latin typeface="Calibri"/>
                <a:ea typeface="Calibri"/>
                <a:cs typeface="Calibri"/>
                <a:sym typeface="Calibri"/>
              </a:rPr>
              <a:t>0.39</a:t>
            </a:r>
            <a:endParaRPr/>
          </a:p>
        </p:txBody>
      </p:sp>
      <p:sp>
        <p:nvSpPr>
          <p:cNvPr id="1217" name="Google Shape;1217;p21"/>
          <p:cNvSpPr txBox="1"/>
          <p:nvPr/>
        </p:nvSpPr>
        <p:spPr>
          <a:xfrm>
            <a:off x="6117336" y="3739896"/>
            <a:ext cx="20118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39" u="none" cap="none" strike="noStrike">
                <a:solidFill>
                  <a:srgbClr val="3A434C"/>
                </a:solidFill>
                <a:latin typeface="Calibri"/>
                <a:ea typeface="Calibri"/>
                <a:cs typeface="Calibri"/>
                <a:sym typeface="Calibri"/>
              </a:rPr>
              <a:t>RDB2Onto</a:t>
            </a:r>
            <a:endParaRPr/>
          </a:p>
        </p:txBody>
      </p:sp>
      <p:sp>
        <p:nvSpPr>
          <p:cNvPr id="1218" name="Google Shape;1218;p21"/>
          <p:cNvSpPr txBox="1"/>
          <p:nvPr/>
        </p:nvSpPr>
        <p:spPr>
          <a:xfrm>
            <a:off x="6117336" y="3995928"/>
            <a:ext cx="1828800" cy="201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30" u="none" cap="none" strike="noStrike">
                <a:solidFill>
                  <a:srgbClr val="5B6770"/>
                </a:solidFill>
                <a:latin typeface="Calibri"/>
                <a:ea typeface="Calibri"/>
                <a:cs typeface="Calibri"/>
                <a:sym typeface="Calibri"/>
              </a:rPr>
              <a:t>rule-based</a:t>
            </a:r>
            <a:endParaRPr/>
          </a:p>
        </p:txBody>
      </p:sp>
      <p:sp>
        <p:nvSpPr>
          <p:cNvPr id="1219" name="Google Shape;1219;p21"/>
          <p:cNvSpPr txBox="1"/>
          <p:nvPr/>
        </p:nvSpPr>
        <p:spPr>
          <a:xfrm>
            <a:off x="8202167" y="3799332"/>
            <a:ext cx="9600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39" u="none" cap="none" strike="noStrike">
                <a:solidFill>
                  <a:srgbClr val="3A434C"/>
                </a:solidFill>
                <a:latin typeface="Calibri"/>
                <a:ea typeface="Calibri"/>
                <a:cs typeface="Calibri"/>
                <a:sym typeface="Calibri"/>
              </a:rPr>
              <a:t>0.67</a:t>
            </a:r>
            <a:endParaRPr/>
          </a:p>
        </p:txBody>
      </p:sp>
      <p:sp>
        <p:nvSpPr>
          <p:cNvPr id="1220" name="Google Shape;1220;p21"/>
          <p:cNvSpPr txBox="1"/>
          <p:nvPr/>
        </p:nvSpPr>
        <p:spPr>
          <a:xfrm>
            <a:off x="9253728" y="3799332"/>
            <a:ext cx="9600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39" u="none" cap="none" strike="noStrike">
                <a:solidFill>
                  <a:srgbClr val="3A434C"/>
                </a:solidFill>
                <a:latin typeface="Calibri"/>
                <a:ea typeface="Calibri"/>
                <a:cs typeface="Calibri"/>
                <a:sym typeface="Calibri"/>
              </a:rPr>
              <a:t>0.62</a:t>
            </a:r>
            <a:endParaRPr/>
          </a:p>
        </p:txBody>
      </p:sp>
      <p:sp>
        <p:nvSpPr>
          <p:cNvPr id="1221" name="Google Shape;1221;p21"/>
          <p:cNvSpPr txBox="1"/>
          <p:nvPr/>
        </p:nvSpPr>
        <p:spPr>
          <a:xfrm>
            <a:off x="10305288" y="3799332"/>
            <a:ext cx="9600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39" u="none" cap="none" strike="noStrike">
                <a:solidFill>
                  <a:srgbClr val="3A434C"/>
                </a:solidFill>
                <a:latin typeface="Calibri"/>
                <a:ea typeface="Calibri"/>
                <a:cs typeface="Calibri"/>
                <a:sym typeface="Calibri"/>
              </a:rPr>
              <a:t>0.44</a:t>
            </a:r>
            <a:endParaRPr/>
          </a:p>
        </p:txBody>
      </p:sp>
      <p:sp>
        <p:nvSpPr>
          <p:cNvPr id="1222" name="Google Shape;1222;p21"/>
          <p:cNvSpPr txBox="1"/>
          <p:nvPr/>
        </p:nvSpPr>
        <p:spPr>
          <a:xfrm>
            <a:off x="6117336" y="4297680"/>
            <a:ext cx="20118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39" u="none" cap="none" strike="noStrike">
                <a:solidFill>
                  <a:srgbClr val="3A434C"/>
                </a:solidFill>
                <a:latin typeface="Calibri"/>
                <a:ea typeface="Calibri"/>
                <a:cs typeface="Calibri"/>
                <a:sym typeface="Calibri"/>
              </a:rPr>
              <a:t>OntoGenix</a:t>
            </a:r>
            <a:endParaRPr/>
          </a:p>
        </p:txBody>
      </p:sp>
      <p:sp>
        <p:nvSpPr>
          <p:cNvPr id="1223" name="Google Shape;1223;p21"/>
          <p:cNvSpPr txBox="1"/>
          <p:nvPr/>
        </p:nvSpPr>
        <p:spPr>
          <a:xfrm>
            <a:off x="6117336" y="4553712"/>
            <a:ext cx="1828800" cy="201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30" u="none" cap="none" strike="noStrike">
                <a:solidFill>
                  <a:srgbClr val="5B6770"/>
                </a:solidFill>
                <a:latin typeface="Calibri"/>
                <a:ea typeface="Calibri"/>
                <a:cs typeface="Calibri"/>
                <a:sym typeface="Calibri"/>
              </a:rPr>
              <a:t>LLM-based</a:t>
            </a:r>
            <a:endParaRPr/>
          </a:p>
        </p:txBody>
      </p:sp>
      <p:sp>
        <p:nvSpPr>
          <p:cNvPr id="1224" name="Google Shape;1224;p21"/>
          <p:cNvSpPr txBox="1"/>
          <p:nvPr/>
        </p:nvSpPr>
        <p:spPr>
          <a:xfrm>
            <a:off x="8202167" y="4357116"/>
            <a:ext cx="9600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39" u="none" cap="none" strike="noStrike">
                <a:solidFill>
                  <a:srgbClr val="3A434C"/>
                </a:solidFill>
                <a:latin typeface="Calibri"/>
                <a:ea typeface="Calibri"/>
                <a:cs typeface="Calibri"/>
                <a:sym typeface="Calibri"/>
              </a:rPr>
              <a:t>0.58</a:t>
            </a:r>
            <a:endParaRPr/>
          </a:p>
        </p:txBody>
      </p:sp>
      <p:sp>
        <p:nvSpPr>
          <p:cNvPr id="1225" name="Google Shape;1225;p21"/>
          <p:cNvSpPr txBox="1"/>
          <p:nvPr/>
        </p:nvSpPr>
        <p:spPr>
          <a:xfrm>
            <a:off x="9253728" y="4357116"/>
            <a:ext cx="9600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39" u="none" cap="none" strike="noStrike">
                <a:solidFill>
                  <a:srgbClr val="3A434C"/>
                </a:solidFill>
                <a:latin typeface="Calibri"/>
                <a:ea typeface="Calibri"/>
                <a:cs typeface="Calibri"/>
                <a:sym typeface="Calibri"/>
              </a:rPr>
              <a:t>0.35</a:t>
            </a:r>
            <a:endParaRPr/>
          </a:p>
        </p:txBody>
      </p:sp>
      <p:sp>
        <p:nvSpPr>
          <p:cNvPr id="1226" name="Google Shape;1226;p21"/>
          <p:cNvSpPr txBox="1"/>
          <p:nvPr/>
        </p:nvSpPr>
        <p:spPr>
          <a:xfrm>
            <a:off x="10305288" y="4357116"/>
            <a:ext cx="9600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39" u="none" cap="none" strike="noStrike">
                <a:solidFill>
                  <a:srgbClr val="3A434C"/>
                </a:solidFill>
                <a:latin typeface="Calibri"/>
                <a:ea typeface="Calibri"/>
                <a:cs typeface="Calibri"/>
                <a:sym typeface="Calibri"/>
              </a:rPr>
              <a:t>0.44</a:t>
            </a:r>
            <a:endParaRPr/>
          </a:p>
        </p:txBody>
      </p:sp>
      <p:sp>
        <p:nvSpPr>
          <p:cNvPr id="1227" name="Google Shape;1227;p21"/>
          <p:cNvSpPr/>
          <p:nvPr/>
        </p:nvSpPr>
        <p:spPr>
          <a:xfrm>
            <a:off x="5980176" y="4892040"/>
            <a:ext cx="5248800" cy="512100"/>
          </a:xfrm>
          <a:prstGeom prst="rect">
            <a:avLst/>
          </a:prstGeom>
          <a:solidFill>
            <a:srgbClr val="E9EEEB"/>
          </a:solidFill>
          <a:ln cap="flat" cmpd="sng" w="9525">
            <a:solidFill>
              <a:srgbClr val="3A7D8C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28" name="Google Shape;1228;p21"/>
          <p:cNvSpPr txBox="1"/>
          <p:nvPr/>
        </p:nvSpPr>
        <p:spPr>
          <a:xfrm>
            <a:off x="6117336" y="4855464"/>
            <a:ext cx="20118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1F2328"/>
                </a:solidFill>
                <a:latin typeface="Calibri"/>
                <a:ea typeface="Calibri"/>
                <a:cs typeface="Calibri"/>
                <a:sym typeface="Calibri"/>
              </a:rPr>
              <a:t>RIGOR</a:t>
            </a:r>
            <a:endParaRPr/>
          </a:p>
        </p:txBody>
      </p:sp>
      <p:sp>
        <p:nvSpPr>
          <p:cNvPr id="1229" name="Google Shape;1229;p21"/>
          <p:cNvSpPr txBox="1"/>
          <p:nvPr/>
        </p:nvSpPr>
        <p:spPr>
          <a:xfrm>
            <a:off x="6117336" y="5111496"/>
            <a:ext cx="1828800" cy="201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30" u="none" cap="none" strike="noStrike">
                <a:solidFill>
                  <a:srgbClr val="2F6B78"/>
                </a:solidFill>
                <a:latin typeface="Calibri"/>
                <a:ea typeface="Calibri"/>
                <a:cs typeface="Calibri"/>
                <a:sym typeface="Calibri"/>
              </a:rPr>
              <a:t>LLM + rules</a:t>
            </a:r>
            <a:endParaRPr/>
          </a:p>
        </p:txBody>
      </p:sp>
      <p:sp>
        <p:nvSpPr>
          <p:cNvPr id="1230" name="Google Shape;1230;p21"/>
          <p:cNvSpPr txBox="1"/>
          <p:nvPr/>
        </p:nvSpPr>
        <p:spPr>
          <a:xfrm>
            <a:off x="8202167" y="4914900"/>
            <a:ext cx="9600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1F2328"/>
                </a:solidFill>
                <a:latin typeface="Calibri"/>
                <a:ea typeface="Calibri"/>
                <a:cs typeface="Calibri"/>
                <a:sym typeface="Calibri"/>
              </a:rPr>
              <a:t>0.73</a:t>
            </a:r>
            <a:endParaRPr/>
          </a:p>
        </p:txBody>
      </p:sp>
      <p:sp>
        <p:nvSpPr>
          <p:cNvPr id="1231" name="Google Shape;1231;p21"/>
          <p:cNvSpPr txBox="1"/>
          <p:nvPr/>
        </p:nvSpPr>
        <p:spPr>
          <a:xfrm>
            <a:off x="9253728" y="4914900"/>
            <a:ext cx="9600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1F2328"/>
                </a:solidFill>
                <a:latin typeface="Calibri"/>
                <a:ea typeface="Calibri"/>
                <a:cs typeface="Calibri"/>
                <a:sym typeface="Calibri"/>
              </a:rPr>
              <a:t>0.67</a:t>
            </a:r>
            <a:endParaRPr/>
          </a:p>
        </p:txBody>
      </p:sp>
      <p:sp>
        <p:nvSpPr>
          <p:cNvPr id="1232" name="Google Shape;1232;p21"/>
          <p:cNvSpPr txBox="1"/>
          <p:nvPr/>
        </p:nvSpPr>
        <p:spPr>
          <a:xfrm>
            <a:off x="10305288" y="4914900"/>
            <a:ext cx="9600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1F2328"/>
                </a:solidFill>
                <a:latin typeface="Calibri"/>
                <a:ea typeface="Calibri"/>
                <a:cs typeface="Calibri"/>
                <a:sym typeface="Calibri"/>
              </a:rPr>
              <a:t>0.52</a:t>
            </a:r>
            <a:endParaRPr/>
          </a:p>
        </p:txBody>
      </p:sp>
      <p:sp>
        <p:nvSpPr>
          <p:cNvPr id="1233" name="Google Shape;1233;p21"/>
          <p:cNvSpPr/>
          <p:nvPr/>
        </p:nvSpPr>
        <p:spPr>
          <a:xfrm>
            <a:off x="841248" y="2523744"/>
            <a:ext cx="4846200" cy="3063300"/>
          </a:xfrm>
          <a:prstGeom prst="roundRect">
            <a:avLst>
              <a:gd fmla="val 12000" name="adj"/>
            </a:avLst>
          </a:prstGeom>
          <a:solidFill>
            <a:srgbClr val="F3F5F4"/>
          </a:solidFill>
          <a:ln cap="flat" cmpd="sng" w="9525">
            <a:solidFill>
              <a:srgbClr val="D9DED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34" name="Google Shape;1234;p21"/>
          <p:cNvSpPr txBox="1"/>
          <p:nvPr/>
        </p:nvSpPr>
        <p:spPr>
          <a:xfrm>
            <a:off x="1069848" y="2706624"/>
            <a:ext cx="43890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2F6B78"/>
                </a:solidFill>
                <a:latin typeface="Consolas"/>
                <a:ea typeface="Consolas"/>
                <a:cs typeface="Consolas"/>
                <a:sym typeface="Consolas"/>
              </a:rPr>
              <a:t>WHAT BURR CHECKS</a:t>
            </a:r>
            <a:endParaRPr/>
          </a:p>
        </p:txBody>
      </p:sp>
      <p:sp>
        <p:nvSpPr>
          <p:cNvPr id="1235" name="Google Shape;1235;p21"/>
          <p:cNvSpPr txBox="1"/>
          <p:nvPr/>
        </p:nvSpPr>
        <p:spPr>
          <a:xfrm>
            <a:off x="1069848" y="3035808"/>
            <a:ext cx="4389000" cy="310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1F2328"/>
                </a:solidFill>
                <a:latin typeface="Calibri"/>
                <a:ea typeface="Calibri"/>
                <a:cs typeface="Calibri"/>
                <a:sym typeface="Calibri"/>
              </a:rPr>
              <a:t>Every ontology element must map back to the database.</a:t>
            </a:r>
            <a:endParaRPr/>
          </a:p>
        </p:txBody>
      </p:sp>
      <p:sp>
        <p:nvSpPr>
          <p:cNvPr id="1236" name="Google Shape;1236;p21"/>
          <p:cNvSpPr txBox="1"/>
          <p:nvPr/>
        </p:nvSpPr>
        <p:spPr>
          <a:xfrm>
            <a:off x="1069848" y="3474720"/>
            <a:ext cx="1005900" cy="329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2F6B78"/>
                </a:solidFill>
                <a:latin typeface="Consolas"/>
                <a:ea typeface="Consolas"/>
                <a:cs typeface="Consolas"/>
                <a:sym typeface="Consolas"/>
              </a:rPr>
              <a:t>CLASSES</a:t>
            </a:r>
            <a:endParaRPr/>
          </a:p>
        </p:txBody>
      </p:sp>
      <p:sp>
        <p:nvSpPr>
          <p:cNvPr descr="database element" id="1237" name="Google Shape;1237;p21"/>
          <p:cNvSpPr/>
          <p:nvPr/>
        </p:nvSpPr>
        <p:spPr>
          <a:xfrm>
            <a:off x="2075688" y="3474720"/>
            <a:ext cx="1298400" cy="329100"/>
          </a:xfrm>
          <a:prstGeom prst="roundRect">
            <a:avLst>
              <a:gd fmla="val 12000" name="adj"/>
            </a:avLst>
          </a:prstGeom>
          <a:solidFill>
            <a:srgbClr val="FFFFFF"/>
          </a:solidFill>
          <a:ln cap="flat" cmpd="sng" w="9525">
            <a:solidFill>
              <a:srgbClr val="D0D7D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73150" spcFirstLastPara="1" rIns="7315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1F2328"/>
                </a:solidFill>
                <a:latin typeface="Consolas"/>
                <a:ea typeface="Consolas"/>
                <a:cs typeface="Consolas"/>
                <a:sym typeface="Consolas"/>
              </a:rPr>
              <a:t>person</a:t>
            </a:r>
            <a:endParaRPr/>
          </a:p>
        </p:txBody>
      </p:sp>
      <p:sp>
        <p:nvSpPr>
          <p:cNvPr id="1238" name="Google Shape;1238;p21"/>
          <p:cNvSpPr txBox="1"/>
          <p:nvPr/>
        </p:nvSpPr>
        <p:spPr>
          <a:xfrm>
            <a:off x="3392424" y="3474720"/>
            <a:ext cx="237600" cy="329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5B6770"/>
                </a:solidFill>
                <a:latin typeface="Calibri"/>
                <a:ea typeface="Calibri"/>
                <a:cs typeface="Calibri"/>
                <a:sym typeface="Calibri"/>
              </a:rPr>
              <a:t>→</a:t>
            </a:r>
            <a:endParaRPr/>
          </a:p>
        </p:txBody>
      </p:sp>
      <p:sp>
        <p:nvSpPr>
          <p:cNvPr descr="ontology element" id="1239" name="Google Shape;1239;p21"/>
          <p:cNvSpPr/>
          <p:nvPr/>
        </p:nvSpPr>
        <p:spPr>
          <a:xfrm>
            <a:off x="3648456" y="3474720"/>
            <a:ext cx="1856100" cy="329100"/>
          </a:xfrm>
          <a:prstGeom prst="roundRect">
            <a:avLst>
              <a:gd fmla="val 12000" name="adj"/>
            </a:avLst>
          </a:prstGeom>
          <a:solidFill>
            <a:srgbClr val="FFFFFF"/>
          </a:solidFill>
          <a:ln cap="flat" cmpd="sng" w="9525">
            <a:solidFill>
              <a:srgbClr val="D0D7D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73150" spcFirstLastPara="1" rIns="7315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0B6E4F"/>
                </a:solidFill>
                <a:latin typeface="Consolas"/>
                <a:ea typeface="Consolas"/>
                <a:cs typeface="Consolas"/>
                <a:sym typeface="Consolas"/>
              </a:rPr>
              <a:t>Class: </a:t>
            </a:r>
            <a:r>
              <a:rPr b="0" i="0" lang="en-US" sz="1050" u="none" cap="none" strike="noStrike">
                <a:solidFill>
                  <a:srgbClr val="1F2328"/>
                </a:solidFill>
                <a:latin typeface="Consolas"/>
                <a:ea typeface="Consolas"/>
                <a:cs typeface="Consolas"/>
                <a:sym typeface="Consolas"/>
              </a:rPr>
              <a:t>Person</a:t>
            </a:r>
            <a:endParaRPr/>
          </a:p>
        </p:txBody>
      </p:sp>
      <p:sp>
        <p:nvSpPr>
          <p:cNvPr id="1240" name="Google Shape;1240;p21"/>
          <p:cNvSpPr txBox="1"/>
          <p:nvPr/>
        </p:nvSpPr>
        <p:spPr>
          <a:xfrm>
            <a:off x="1069848" y="3895344"/>
            <a:ext cx="1005900" cy="329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2F6B78"/>
                </a:solidFill>
                <a:latin typeface="Consolas"/>
                <a:ea typeface="Consolas"/>
                <a:cs typeface="Consolas"/>
                <a:sym typeface="Consolas"/>
              </a:rPr>
              <a:t>RELATIONS</a:t>
            </a:r>
            <a:endParaRPr/>
          </a:p>
        </p:txBody>
      </p:sp>
      <p:sp>
        <p:nvSpPr>
          <p:cNvPr descr="database element" id="1241" name="Google Shape;1241;p21"/>
          <p:cNvSpPr/>
          <p:nvPr/>
        </p:nvSpPr>
        <p:spPr>
          <a:xfrm>
            <a:off x="2075688" y="3895344"/>
            <a:ext cx="1298400" cy="329100"/>
          </a:xfrm>
          <a:prstGeom prst="roundRect">
            <a:avLst>
              <a:gd fmla="val 12000" name="adj"/>
            </a:avLst>
          </a:prstGeom>
          <a:solidFill>
            <a:srgbClr val="FFFFFF"/>
          </a:solidFill>
          <a:ln cap="flat" cmpd="sng" w="9525">
            <a:solidFill>
              <a:srgbClr val="D0D7D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73150" spcFirstLastPara="1" rIns="7315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1F2328"/>
                </a:solidFill>
                <a:latin typeface="Consolas"/>
                <a:ea typeface="Consolas"/>
                <a:cs typeface="Consolas"/>
                <a:sym typeface="Consolas"/>
              </a:rPr>
              <a:t>paper.author_id</a:t>
            </a:r>
            <a:endParaRPr/>
          </a:p>
        </p:txBody>
      </p:sp>
      <p:sp>
        <p:nvSpPr>
          <p:cNvPr id="1242" name="Google Shape;1242;p21"/>
          <p:cNvSpPr txBox="1"/>
          <p:nvPr/>
        </p:nvSpPr>
        <p:spPr>
          <a:xfrm>
            <a:off x="3392424" y="3895344"/>
            <a:ext cx="237600" cy="329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5B6770"/>
                </a:solidFill>
                <a:latin typeface="Calibri"/>
                <a:ea typeface="Calibri"/>
                <a:cs typeface="Calibri"/>
                <a:sym typeface="Calibri"/>
              </a:rPr>
              <a:t>→</a:t>
            </a:r>
            <a:endParaRPr/>
          </a:p>
        </p:txBody>
      </p:sp>
      <p:sp>
        <p:nvSpPr>
          <p:cNvPr descr="ontology element" id="1243" name="Google Shape;1243;p21"/>
          <p:cNvSpPr/>
          <p:nvPr/>
        </p:nvSpPr>
        <p:spPr>
          <a:xfrm>
            <a:off x="3648456" y="3895344"/>
            <a:ext cx="1856100" cy="329100"/>
          </a:xfrm>
          <a:prstGeom prst="roundRect">
            <a:avLst>
              <a:gd fmla="val 12000" name="adj"/>
            </a:avLst>
          </a:prstGeom>
          <a:solidFill>
            <a:srgbClr val="FFFFFF"/>
          </a:solidFill>
          <a:ln cap="flat" cmpd="sng" w="9525">
            <a:solidFill>
              <a:srgbClr val="D0D7D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73150" spcFirstLastPara="1" rIns="7315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0B6E4F"/>
                </a:solidFill>
                <a:latin typeface="Consolas"/>
                <a:ea typeface="Consolas"/>
                <a:cs typeface="Consolas"/>
                <a:sym typeface="Consolas"/>
              </a:rPr>
              <a:t>ObjectProperty: </a:t>
            </a:r>
            <a:r>
              <a:rPr b="0" i="0" lang="en-US" sz="1050" u="none" cap="none" strike="noStrike">
                <a:solidFill>
                  <a:srgbClr val="1F2328"/>
                </a:solidFill>
                <a:latin typeface="Consolas"/>
                <a:ea typeface="Consolas"/>
                <a:cs typeface="Consolas"/>
                <a:sym typeface="Consolas"/>
              </a:rPr>
              <a:t>author</a:t>
            </a:r>
            <a:endParaRPr/>
          </a:p>
        </p:txBody>
      </p:sp>
      <p:sp>
        <p:nvSpPr>
          <p:cNvPr id="1244" name="Google Shape;1244;p21"/>
          <p:cNvSpPr txBox="1"/>
          <p:nvPr/>
        </p:nvSpPr>
        <p:spPr>
          <a:xfrm>
            <a:off x="1069848" y="4315968"/>
            <a:ext cx="1005900" cy="329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2F6B78"/>
                </a:solidFill>
                <a:latin typeface="Consolas"/>
                <a:ea typeface="Consolas"/>
                <a:cs typeface="Consolas"/>
                <a:sym typeface="Consolas"/>
              </a:rPr>
              <a:t>ATTRIBUTES</a:t>
            </a:r>
            <a:endParaRPr/>
          </a:p>
        </p:txBody>
      </p:sp>
      <p:sp>
        <p:nvSpPr>
          <p:cNvPr descr="database element" id="1245" name="Google Shape;1245;p21"/>
          <p:cNvSpPr/>
          <p:nvPr/>
        </p:nvSpPr>
        <p:spPr>
          <a:xfrm>
            <a:off x="2075688" y="4315968"/>
            <a:ext cx="1298400" cy="329100"/>
          </a:xfrm>
          <a:prstGeom prst="roundRect">
            <a:avLst>
              <a:gd fmla="val 12000" name="adj"/>
            </a:avLst>
          </a:prstGeom>
          <a:solidFill>
            <a:srgbClr val="FFFFFF"/>
          </a:solidFill>
          <a:ln cap="flat" cmpd="sng" w="9525">
            <a:solidFill>
              <a:srgbClr val="D0D7D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73150" spcFirstLastPara="1" rIns="7315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1F2328"/>
                </a:solidFill>
                <a:latin typeface="Consolas"/>
                <a:ea typeface="Consolas"/>
                <a:cs typeface="Consolas"/>
                <a:sym typeface="Consolas"/>
              </a:rPr>
              <a:t>person.name</a:t>
            </a:r>
            <a:endParaRPr/>
          </a:p>
        </p:txBody>
      </p:sp>
      <p:sp>
        <p:nvSpPr>
          <p:cNvPr id="1246" name="Google Shape;1246;p21"/>
          <p:cNvSpPr txBox="1"/>
          <p:nvPr/>
        </p:nvSpPr>
        <p:spPr>
          <a:xfrm>
            <a:off x="3392424" y="4315968"/>
            <a:ext cx="237600" cy="329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5B6770"/>
                </a:solidFill>
                <a:latin typeface="Calibri"/>
                <a:ea typeface="Calibri"/>
                <a:cs typeface="Calibri"/>
                <a:sym typeface="Calibri"/>
              </a:rPr>
              <a:t>→</a:t>
            </a:r>
            <a:endParaRPr/>
          </a:p>
        </p:txBody>
      </p:sp>
      <p:sp>
        <p:nvSpPr>
          <p:cNvPr descr="ontology element" id="1247" name="Google Shape;1247;p21"/>
          <p:cNvSpPr/>
          <p:nvPr/>
        </p:nvSpPr>
        <p:spPr>
          <a:xfrm>
            <a:off x="3648456" y="4315968"/>
            <a:ext cx="1856100" cy="329100"/>
          </a:xfrm>
          <a:prstGeom prst="roundRect">
            <a:avLst>
              <a:gd fmla="val 12000" name="adj"/>
            </a:avLst>
          </a:prstGeom>
          <a:solidFill>
            <a:srgbClr val="FFFFFF"/>
          </a:solidFill>
          <a:ln cap="flat" cmpd="sng" w="9525">
            <a:solidFill>
              <a:srgbClr val="D0D7D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73150" spcFirstLastPara="1" rIns="7315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0B6E4F"/>
                </a:solidFill>
                <a:latin typeface="Consolas"/>
                <a:ea typeface="Consolas"/>
                <a:cs typeface="Consolas"/>
                <a:sym typeface="Consolas"/>
              </a:rPr>
              <a:t>DataProperty: </a:t>
            </a:r>
            <a:r>
              <a:rPr b="0" i="0" lang="en-US" sz="1050" u="none" cap="none" strike="noStrike">
                <a:solidFill>
                  <a:srgbClr val="1F2328"/>
                </a:solidFill>
                <a:latin typeface="Consolas"/>
                <a:ea typeface="Consolas"/>
                <a:cs typeface="Consolas"/>
                <a:sym typeface="Consolas"/>
              </a:rPr>
              <a:t>name</a:t>
            </a:r>
            <a:endParaRPr/>
          </a:p>
        </p:txBody>
      </p:sp>
      <p:sp>
        <p:nvSpPr>
          <p:cNvPr id="1248" name="Google Shape;1248;p21"/>
          <p:cNvSpPr txBox="1"/>
          <p:nvPr/>
        </p:nvSpPr>
        <p:spPr>
          <a:xfrm>
            <a:off x="1069848" y="4736592"/>
            <a:ext cx="4389000" cy="585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00" u="none" cap="none" strike="noStrike">
                <a:solidFill>
                  <a:srgbClr val="3A434C"/>
                </a:solidFill>
                <a:latin typeface="Calibri"/>
                <a:ea typeface="Calibri"/>
                <a:cs typeface="Calibri"/>
                <a:sym typeface="Calibri"/>
              </a:rPr>
              <a:t>Elements match when they map to the same database elements, whatever their names. F1 per element type.</a:t>
            </a:r>
            <a:endParaRPr/>
          </a:p>
        </p:txBody>
      </p:sp>
      <p:sp>
        <p:nvSpPr>
          <p:cNvPr id="1249" name="Google Shape;1249;p21"/>
          <p:cNvSpPr txBox="1"/>
          <p:nvPr/>
        </p:nvSpPr>
        <p:spPr>
          <a:xfrm>
            <a:off x="1069848" y="5358384"/>
            <a:ext cx="4389000" cy="18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5B6770"/>
                </a:solidFill>
                <a:latin typeface="Calibri"/>
                <a:ea typeface="Calibri"/>
                <a:cs typeface="Calibri"/>
                <a:sym typeface="Calibri"/>
              </a:rPr>
              <a:t>Illustrative elements  ·  ISWC gold mapping: D2RQ example by Bizer &amp; Seaborne</a:t>
            </a:r>
            <a:endParaRPr/>
          </a:p>
        </p:txBody>
      </p:sp>
      <p:sp>
        <p:nvSpPr>
          <p:cNvPr id="1250" name="Google Shape;1250;p21"/>
          <p:cNvSpPr txBox="1"/>
          <p:nvPr/>
        </p:nvSpPr>
        <p:spPr>
          <a:xfrm>
            <a:off x="850392" y="6382512"/>
            <a:ext cx="10488300" cy="246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5B6770"/>
                </a:solidFill>
                <a:latin typeface="Calibri"/>
                <a:ea typeface="Calibri"/>
                <a:cs typeface="Calibri"/>
                <a:sym typeface="Calibri"/>
              </a:rPr>
              <a:t>One scenario  ·  9 tables · 46 columns · 11 FKs  ·  RIGOR with Claude  ·  its prov:wasDerivedFrom links exported as a D2RQ mapping  ·  Source: paper Table 13</a:t>
            </a:r>
            <a:endParaRPr/>
          </a:p>
        </p:txBody>
      </p:sp>
      <p:sp>
        <p:nvSpPr>
          <p:cNvPr id="1251" name="Ladder"/>
          <p:cNvSpPr/>
          <p:nvPr/>
        </p:nvSpPr>
        <p:spPr>
          <a:xfrm>
            <a:off x="804672" y="2103120"/>
            <a:ext cx="1700784" cy="310896"/>
          </a:xfrm>
          <a:prstGeom prst="rect">
            <a:avLst/>
          </a:prstGeom>
          <a:solidFill>
            <a:srgbClr val="E8F6E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000" b="1" i="0" dirty="0">
                <a:solidFill>
                  <a:srgbClr val="0B6E4F"/>
                </a:solidFill>
                <a:latin typeface="Consolas"/>
                <a:cs typeface="Consolas"/>
              </a:rPr>
              <a:t xml:space="preserve">1  VALID</a:t>
            </a:r>
          </a:p>
        </p:txBody>
      </p:sp>
      <p:sp>
        <p:nvSpPr>
          <p:cNvPr id="1252" name="Ladder"/>
          <p:cNvSpPr/>
          <p:nvPr/>
        </p:nvSpPr>
        <p:spPr>
          <a:xfrm>
            <a:off x="2596896" y="2103120"/>
            <a:ext cx="1700784" cy="310896"/>
          </a:xfrm>
          <a:prstGeom prst="rect">
            <a:avLst/>
          </a:prstGeom>
          <a:solidFill>
            <a:srgbClr val="E8F6E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000" b="1" i="0" dirty="0">
                <a:solidFill>
                  <a:srgbClr val="0B6E4F"/>
                </a:solidFill>
                <a:latin typeface="Consolas"/>
                <a:cs typeface="Consolas"/>
              </a:rPr>
              <a:t xml:space="preserve">2  KEEPS THE SCHEMA</a:t>
            </a:r>
          </a:p>
        </p:txBody>
      </p:sp>
      <p:sp>
        <p:nvSpPr>
          <p:cNvPr id="1253" name="Ladder"/>
          <p:cNvSpPr/>
          <p:nvPr/>
        </p:nvSpPr>
        <p:spPr>
          <a:xfrm>
            <a:off x="4389120" y="2103120"/>
            <a:ext cx="1700784" cy="310896"/>
          </a:xfrm>
          <a:prstGeom prst="rect">
            <a:avLst/>
          </a:prstGeom>
          <a:solidFill>
            <a:srgbClr val="E8F6E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000" b="1" i="0" dirty="0">
                <a:solidFill>
                  <a:srgbClr val="0B6E4F"/>
                </a:solidFill>
                <a:latin typeface="Consolas"/>
                <a:cs typeface="Consolas"/>
              </a:rPr>
              <a:t xml:space="preserve">3  ADDS MEANING</a:t>
            </a:r>
          </a:p>
        </p:txBody>
      </p:sp>
      <p:sp>
        <p:nvSpPr>
          <p:cNvPr id="1254" name="Ladder"/>
          <p:cNvSpPr/>
          <p:nvPr/>
        </p:nvSpPr>
        <p:spPr>
          <a:xfrm>
            <a:off x="6181344" y="2103120"/>
            <a:ext cx="1700784" cy="310896"/>
          </a:xfrm>
          <a:prstGeom prst="rect">
            <a:avLst/>
          </a:prstGeom>
          <a:solidFill>
            <a:srgbClr val="E8F6E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000" b="1" i="0" dirty="0">
                <a:solidFill>
                  <a:srgbClr val="0B6E4F"/>
                </a:solidFill>
                <a:latin typeface="Consolas"/>
                <a:cs typeface="Consolas"/>
              </a:rPr>
              <a:t xml:space="preserve">4  FEWER ERRORS</a:t>
            </a:r>
          </a:p>
        </p:txBody>
      </p:sp>
      <p:sp>
        <p:nvSpPr>
          <p:cNvPr id="1255" name="Ladder"/>
          <p:cNvSpPr/>
          <p:nvPr/>
        </p:nvSpPr>
        <p:spPr>
          <a:xfrm>
            <a:off x="7973568" y="2103120"/>
            <a:ext cx="1700784" cy="310896"/>
          </a:xfrm>
          <a:prstGeom prst="rect">
            <a:avLst/>
          </a:prstGeom>
          <a:solidFill>
            <a:srgbClr val="0B6E4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000" b="1" i="0" dirty="0">
                <a:solidFill>
                  <a:srgbClr val="FFFFFF"/>
                </a:solidFill>
                <a:latin typeface="Consolas"/>
                <a:cs typeface="Consolas"/>
              </a:rPr>
              <a:t xml:space="preserve">5  GOLD MAPPINGS</a:t>
            </a:r>
          </a:p>
        </p:txBody>
      </p:sp>
      <p:sp>
        <p:nvSpPr>
          <p:cNvPr id="1256" name="Ladder"/>
          <p:cNvSpPr/>
          <p:nvPr/>
        </p:nvSpPr>
        <p:spPr>
          <a:xfrm>
            <a:off x="9765792" y="2103120"/>
            <a:ext cx="1700784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D9DEDB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000" b="1" i="0" dirty="0">
                <a:solidFill>
                  <a:srgbClr val="6B747B"/>
                </a:solidFill>
                <a:latin typeface="Consolas"/>
                <a:cs typeface="Consolas"/>
              </a:rPr>
              <a:t xml:space="preserve">6  JUDGES</a:t>
            </a:r>
          </a:p>
        </p:txBody>
      </p:sp>
      <p:sp>
        <p:nvSpPr>
          <p:cNvPr id="1257" name="Strip"/>
          <p:cNvSpPr/>
          <p:nvPr/>
        </p:nvSpPr>
        <p:spPr>
          <a:xfrm>
            <a:off x="804672" y="5879592"/>
            <a:ext cx="10579608" cy="420624"/>
          </a:xfrm>
          <a:prstGeom prst="roundRect">
            <a:avLst>
              <a:gd name="adj" fmla="val 12000"/>
            </a:avLst>
          </a:prstGeom>
          <a:solidFill>
            <a:srgbClr val="E6F2EC"/>
          </a:solidFill>
          <a:ln>
            <a:noFill/>
          </a:ln>
        </p:spPr>
        <p:txBody>
          <a:bodyPr wrap="square" lIns="201168" tIns="0" rIns="201168" bIns="0" anchor="ctr">
            <a:noAutofit/>
          </a:bodyPr>
          <a:lstStyle/>
          <a:p>
            <a:pPr algn="l"/>
            <a:r>
              <a:rPr lang="en-US" sz="1400" b="1" i="0" dirty="0">
                <a:solidFill>
                  <a:srgbClr val="1F2328"/>
                </a:solidFill>
                <a:latin typeface="Calibri"/>
                <a:cs typeface="Calibri"/>
              </a:rPr>
              <a:t xml:space="preserve">Relations: 0.67 vs 0.11</a:t>
            </a:r>
            <a:r>
              <a:rPr lang="en-US" sz="1400" b="0" i="0" dirty="0">
                <a:solidFill>
                  <a:srgbClr val="3A434C"/>
                </a:solidFill>
                <a:latin typeface="Calibri"/>
                <a:cs typeface="Calibri"/>
              </a:rPr>
              <a:t xml:space="preserve"> for W3C-Mapper / Ontop. Foreign keys become named relations, like hasPatientData.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255" name="Shape 1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6" name="Google Shape;1256;p19"/>
          <p:cNvSpPr txBox="1"/>
          <p:nvPr/>
        </p:nvSpPr>
        <p:spPr>
          <a:xfrm>
            <a:off x="804672" y="512064"/>
            <a:ext cx="10753344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0B6E4F"/>
                </a:solidFill>
                <a:latin typeface="Consolas"/>
                <a:ea typeface="Consolas"/>
                <a:cs typeface="Consolas"/>
                <a:sym typeface="Consolas"/>
              </a:rPr>
              <a:t>RESULT 4  /  LLM JUDGE AND HUMAN EXPERTS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57" name="Google Shape;1257;p19"/>
          <p:cNvSpPr txBox="1"/>
          <p:nvPr/>
        </p:nvSpPr>
        <p:spPr>
          <a:xfrm>
            <a:off x="804672" y="914400"/>
            <a:ext cx="10762488" cy="66751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900"/>
              <a:buFont typeface="Arial"/>
              <a:buNone/>
            </a:pPr>
            <a:r>
              <a:rPr b="1" i="0" lang="en-US" sz="2900" u="none" cap="none" strike="noStrike">
                <a:solidFill>
                  <a:srgbClr val="1F2328"/>
                </a:solidFill>
                <a:latin typeface="Cambria"/>
                <a:ea typeface="Cambria"/>
                <a:cs typeface="Cambria"/>
                <a:sym typeface="Cambria"/>
              </a:rPr>
              <a:t>An LLM judge and human experts both rank RIGOR first.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58" name="Subtitle"/>
          <p:cNvSpPr txBox="1"/>
          <p:nvPr/>
        </p:nvSpPr>
        <p:spPr>
          <a:xfrm>
            <a:off x="822960" y="1645920"/>
            <a:ext cx="10680192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600" b="0" i="0" dirty="0">
                <a:solidFill>
                  <a:srgbClr val="3A434C"/>
                </a:solidFill>
                <a:latin typeface="Calibri"/>
                <a:cs typeface="Calibri"/>
              </a:rPr>
              <a:t xml:space="preserve">Blind rankings of four anonymized ontologies per table, broken down by database.</a:t>
            </a:r>
          </a:p>
        </p:txBody>
      </p:sp>
      <p:sp>
        <p:nvSpPr>
          <p:cNvPr id="1259" name="Ladder"/>
          <p:cNvSpPr/>
          <p:nvPr/>
        </p:nvSpPr>
        <p:spPr>
          <a:xfrm>
            <a:off x="804672" y="2103120"/>
            <a:ext cx="1700784" cy="310896"/>
          </a:xfrm>
          <a:prstGeom prst="rect">
            <a:avLst/>
          </a:prstGeom>
          <a:solidFill>
            <a:srgbClr val="E8F6E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000" b="1" i="0" dirty="0">
                <a:solidFill>
                  <a:srgbClr val="0B6E4F"/>
                </a:solidFill>
                <a:latin typeface="Consolas"/>
                <a:cs typeface="Consolas"/>
              </a:rPr>
              <a:t xml:space="preserve">1  VALID</a:t>
            </a:r>
          </a:p>
        </p:txBody>
      </p:sp>
      <p:sp>
        <p:nvSpPr>
          <p:cNvPr id="1260" name="Ladder"/>
          <p:cNvSpPr/>
          <p:nvPr/>
        </p:nvSpPr>
        <p:spPr>
          <a:xfrm>
            <a:off x="2596896" y="2103120"/>
            <a:ext cx="1700784" cy="310896"/>
          </a:xfrm>
          <a:prstGeom prst="rect">
            <a:avLst/>
          </a:prstGeom>
          <a:solidFill>
            <a:srgbClr val="E8F6E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000" b="1" i="0" dirty="0">
                <a:solidFill>
                  <a:srgbClr val="0B6E4F"/>
                </a:solidFill>
                <a:latin typeface="Consolas"/>
                <a:cs typeface="Consolas"/>
              </a:rPr>
              <a:t xml:space="preserve">2  KEEPS THE SCHEMA</a:t>
            </a:r>
          </a:p>
        </p:txBody>
      </p:sp>
      <p:sp>
        <p:nvSpPr>
          <p:cNvPr id="1261" name="Ladder"/>
          <p:cNvSpPr/>
          <p:nvPr/>
        </p:nvSpPr>
        <p:spPr>
          <a:xfrm>
            <a:off x="4389120" y="2103120"/>
            <a:ext cx="1700784" cy="310896"/>
          </a:xfrm>
          <a:prstGeom prst="rect">
            <a:avLst/>
          </a:prstGeom>
          <a:solidFill>
            <a:srgbClr val="E8F6E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000" b="1" i="0" dirty="0">
                <a:solidFill>
                  <a:srgbClr val="0B6E4F"/>
                </a:solidFill>
                <a:latin typeface="Consolas"/>
                <a:cs typeface="Consolas"/>
              </a:rPr>
              <a:t xml:space="preserve">3  ADDS MEANING</a:t>
            </a:r>
          </a:p>
        </p:txBody>
      </p:sp>
      <p:sp>
        <p:nvSpPr>
          <p:cNvPr id="1262" name="Ladder"/>
          <p:cNvSpPr/>
          <p:nvPr/>
        </p:nvSpPr>
        <p:spPr>
          <a:xfrm>
            <a:off x="6181344" y="2103120"/>
            <a:ext cx="1700784" cy="310896"/>
          </a:xfrm>
          <a:prstGeom prst="rect">
            <a:avLst/>
          </a:prstGeom>
          <a:solidFill>
            <a:srgbClr val="E8F6E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000" b="1" i="0" dirty="0">
                <a:solidFill>
                  <a:srgbClr val="0B6E4F"/>
                </a:solidFill>
                <a:latin typeface="Consolas"/>
                <a:cs typeface="Consolas"/>
              </a:rPr>
              <a:t xml:space="preserve">4  FEWER ERRORS</a:t>
            </a:r>
          </a:p>
        </p:txBody>
      </p:sp>
      <p:sp>
        <p:nvSpPr>
          <p:cNvPr id="1263" name="Ladder"/>
          <p:cNvSpPr/>
          <p:nvPr/>
        </p:nvSpPr>
        <p:spPr>
          <a:xfrm>
            <a:off x="7973568" y="2103120"/>
            <a:ext cx="1700784" cy="310896"/>
          </a:xfrm>
          <a:prstGeom prst="rect">
            <a:avLst/>
          </a:prstGeom>
          <a:solidFill>
            <a:srgbClr val="E8F6E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000" b="1" i="0" dirty="0">
                <a:solidFill>
                  <a:srgbClr val="0B6E4F"/>
                </a:solidFill>
                <a:latin typeface="Consolas"/>
                <a:cs typeface="Consolas"/>
              </a:rPr>
              <a:t xml:space="preserve">5  GOLD MAPPINGS</a:t>
            </a:r>
          </a:p>
        </p:txBody>
      </p:sp>
      <p:sp>
        <p:nvSpPr>
          <p:cNvPr id="1264" name="Ladder"/>
          <p:cNvSpPr/>
          <p:nvPr/>
        </p:nvSpPr>
        <p:spPr>
          <a:xfrm>
            <a:off x="9765792" y="2103120"/>
            <a:ext cx="1700784" cy="310896"/>
          </a:xfrm>
          <a:prstGeom prst="rect">
            <a:avLst/>
          </a:prstGeom>
          <a:solidFill>
            <a:srgbClr val="0B6E4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000" b="1" i="0" dirty="0">
                <a:solidFill>
                  <a:srgbClr val="FFFFFF"/>
                </a:solidFill>
                <a:latin typeface="Consolas"/>
                <a:cs typeface="Consolas"/>
              </a:rPr>
              <a:t xml:space="preserve">6  JUDGES</a:t>
            </a:r>
          </a:p>
        </p:txBody>
      </p:sp>
      <p:sp>
        <p:nvSpPr>
          <p:cNvPr id="1265" name="Card"/>
          <p:cNvSpPr/>
          <p:nvPr/>
        </p:nvSpPr>
        <p:spPr>
          <a:xfrm>
            <a:off x="804672" y="2606040"/>
            <a:ext cx="5760720" cy="3154680"/>
          </a:xfrm>
          <a:prstGeom prst="roundRect">
            <a:avLst>
              <a:gd name="adj" fmla="val 12000"/>
            </a:avLst>
          </a:prstGeom>
          <a:solidFill>
            <a:srgbClr val="F3F5F4"/>
          </a:solidFill>
          <a:ln w="9525">
            <a:solidFill>
              <a:srgbClr val="D9DEDB"/>
            </a:solidFill>
          </a:ln>
        </p:spPr>
        <p:txBody>
          <a:bodyPr wrap="square" lIns="0" tIns="0" rIns="0" bIns="0" anchor="t">
            <a:noAutofit/>
          </a:bodyPr>
          <a:lstStyle/>
          <a:p>
            <a:pPr algn="l"/>
          </a:p>
        </p:txBody>
      </p:sp>
      <p:sp>
        <p:nvSpPr>
          <p:cNvPr id="1266" name="Card label"/>
          <p:cNvSpPr txBox="1"/>
          <p:nvPr/>
        </p:nvSpPr>
        <p:spPr>
          <a:xfrm>
            <a:off x="1078992" y="2788920"/>
            <a:ext cx="52120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300" b="1" i="0" dirty="0">
                <a:solidFill>
                  <a:srgbClr val="2F6B78"/>
                </a:solidFill>
                <a:latin typeface="Consolas"/>
                <a:cs typeface="Consolas"/>
              </a:rPr>
              <a:t xml:space="preserve">LLM-AS-A-JUDGE  ·  GPT-5.4</a:t>
            </a:r>
          </a:p>
        </p:txBody>
      </p:sp>
      <p:sp>
        <p:nvSpPr>
          <p:cNvPr id="1267" name="Big"/>
          <p:cNvSpPr txBox="1"/>
          <p:nvPr/>
        </p:nvSpPr>
        <p:spPr>
          <a:xfrm>
            <a:off x="1078992" y="3063240"/>
            <a:ext cx="237744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4000" b="1" i="0" dirty="0">
                <a:solidFill>
                  <a:srgbClr val="1F2328"/>
                </a:solidFill>
                <a:latin typeface="Cambria"/>
                <a:cs typeface="Cambria"/>
              </a:rPr>
              <a:t xml:space="preserve">58 / 58</a:t>
            </a:r>
          </a:p>
        </p:txBody>
      </p:sp>
      <p:sp>
        <p:nvSpPr>
          <p:cNvPr id="1268" name="Claim"/>
          <p:cNvSpPr txBox="1"/>
          <p:nvPr/>
        </p:nvSpPr>
        <p:spPr>
          <a:xfrm>
            <a:off x="3410712" y="3172968"/>
            <a:ext cx="2926079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en-US" sz="1600" b="1" i="0" dirty="0">
                <a:solidFill>
                  <a:srgbClr val="0B6E4F"/>
                </a:solidFill>
                <a:latin typeface="Calibri"/>
                <a:cs typeface="Calibri"/>
              </a:rPr>
              <a:t xml:space="preserve">tables with RIGOR ranked first</a:t>
            </a:r>
          </a:p>
        </p:txBody>
      </p:sp>
      <p:sp>
        <p:nvSpPr>
          <p:cNvPr id="1269" name="Note"/>
          <p:cNvSpPr txBox="1"/>
          <p:nvPr/>
        </p:nvSpPr>
        <p:spPr>
          <a:xfrm>
            <a:off x="1078992" y="3776472"/>
            <a:ext cx="521208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050" b="0" i="1" dirty="0">
                <a:solidFill>
                  <a:srgbClr val="5B6770"/>
                </a:solidFill>
                <a:latin typeface="Calibri"/>
                <a:cs typeface="Calibri"/>
              </a:rPr>
              <a:t xml:space="preserve">average score, 0–5 (Claude ontologies)</a:t>
            </a:r>
          </a:p>
        </p:txBody>
      </p:sp>
      <p:sp>
        <p:nvSpPr>
          <p:cNvPr id="1270" name="Database"/>
          <p:cNvSpPr txBox="1"/>
          <p:nvPr/>
        </p:nvSpPr>
        <p:spPr>
          <a:xfrm>
            <a:off x="2359152" y="3995928"/>
            <a:ext cx="1298448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00" b="1" i="0" dirty="0">
                <a:solidFill>
                  <a:srgbClr val="1F2328"/>
                </a:solidFill>
                <a:latin typeface="Calibri"/>
                <a:cs typeface="Calibri"/>
              </a:rPr>
              <a:t xml:space="preserve">Liver Cancer</a:t>
            </a:r>
          </a:p>
        </p:txBody>
      </p:sp>
      <p:sp>
        <p:nvSpPr>
          <p:cNvPr id="1271" name="Database"/>
          <p:cNvSpPr txBox="1"/>
          <p:nvPr/>
        </p:nvSpPr>
        <p:spPr>
          <a:xfrm>
            <a:off x="3657600" y="3995928"/>
            <a:ext cx="1298448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00" b="1" i="0" dirty="0">
                <a:solidFill>
                  <a:srgbClr val="1F2328"/>
                </a:solidFill>
                <a:latin typeface="Calibri"/>
                <a:cs typeface="Calibri"/>
              </a:rPr>
              <a:t xml:space="preserve">eICU-CRD</a:t>
            </a:r>
          </a:p>
        </p:txBody>
      </p:sp>
      <p:sp>
        <p:nvSpPr>
          <p:cNvPr id="1272" name="Database"/>
          <p:cNvSpPr txBox="1"/>
          <p:nvPr/>
        </p:nvSpPr>
        <p:spPr>
          <a:xfrm>
            <a:off x="4956048" y="3995928"/>
            <a:ext cx="1298448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00" b="1" i="0" dirty="0">
                <a:solidFill>
                  <a:srgbClr val="1F2328"/>
                </a:solidFill>
                <a:latin typeface="Calibri"/>
                <a:cs typeface="Calibri"/>
              </a:rPr>
              <a:t xml:space="preserve">Chinook</a:t>
            </a:r>
          </a:p>
        </p:txBody>
      </p:sp>
      <p:sp>
        <p:nvSpPr>
          <p:cNvPr id="1273" name="Method"/>
          <p:cNvSpPr txBox="1"/>
          <p:nvPr/>
        </p:nvSpPr>
        <p:spPr>
          <a:xfrm>
            <a:off x="1033271" y="4251960"/>
            <a:ext cx="132588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en-US" sz="1200" b="0" i="0" dirty="0">
                <a:solidFill>
                  <a:srgbClr val="1F2328"/>
                </a:solidFill>
                <a:latin typeface="Calibri"/>
                <a:cs typeface="Calibri"/>
              </a:rPr>
              <a:t xml:space="preserve">Direct Mapping</a:t>
            </a:r>
          </a:p>
        </p:txBody>
      </p:sp>
      <p:sp>
        <p:nvSpPr>
          <p:cNvPr id="1274" name="Cell"/>
          <p:cNvSpPr/>
          <p:nvPr/>
        </p:nvSpPr>
        <p:spPr>
          <a:xfrm>
            <a:off x="2377440" y="4270248"/>
            <a:ext cx="1261872" cy="310896"/>
          </a:xfrm>
          <a:prstGeom prst="rect">
            <a:avLst/>
          </a:prstGeom>
          <a:solidFill>
            <a:srgbClr val="F1F3F2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00" b="0" i="0" dirty="0">
                <a:solidFill>
                  <a:srgbClr val="1F2328"/>
                </a:solidFill>
                <a:latin typeface="Calibri"/>
                <a:cs typeface="Calibri"/>
              </a:rPr>
              <a:t xml:space="preserve">2.05</a:t>
            </a:r>
          </a:p>
        </p:txBody>
      </p:sp>
      <p:sp>
        <p:nvSpPr>
          <p:cNvPr id="1275" name="Cell"/>
          <p:cNvSpPr/>
          <p:nvPr/>
        </p:nvSpPr>
        <p:spPr>
          <a:xfrm>
            <a:off x="3675887" y="4270248"/>
            <a:ext cx="1261872" cy="310896"/>
          </a:xfrm>
          <a:prstGeom prst="rect">
            <a:avLst/>
          </a:prstGeom>
          <a:solidFill>
            <a:srgbClr val="F1F3F2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00" b="0" i="0" dirty="0">
                <a:solidFill>
                  <a:srgbClr val="1F2328"/>
                </a:solidFill>
                <a:latin typeface="Calibri"/>
                <a:cs typeface="Calibri"/>
              </a:rPr>
              <a:t xml:space="preserve">2.13</a:t>
            </a:r>
          </a:p>
        </p:txBody>
      </p:sp>
      <p:sp>
        <p:nvSpPr>
          <p:cNvPr id="1276" name="Cell"/>
          <p:cNvSpPr/>
          <p:nvPr/>
        </p:nvSpPr>
        <p:spPr>
          <a:xfrm>
            <a:off x="4974336" y="4270248"/>
            <a:ext cx="1261872" cy="310896"/>
          </a:xfrm>
          <a:prstGeom prst="rect">
            <a:avLst/>
          </a:prstGeom>
          <a:solidFill>
            <a:srgbClr val="EDB8AC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00" b="0" i="0" dirty="0">
                <a:solidFill>
                  <a:srgbClr val="1F2328"/>
                </a:solidFill>
                <a:latin typeface="Calibri"/>
                <a:cs typeface="Calibri"/>
              </a:rPr>
              <a:t xml:space="preserve">0.13</a:t>
            </a:r>
          </a:p>
        </p:txBody>
      </p:sp>
      <p:sp>
        <p:nvSpPr>
          <p:cNvPr id="1277" name="Method"/>
          <p:cNvSpPr txBox="1"/>
          <p:nvPr/>
        </p:nvSpPr>
        <p:spPr>
          <a:xfrm>
            <a:off x="1033271" y="4599432"/>
            <a:ext cx="132588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en-US" sz="1200" b="0" i="0" dirty="0">
                <a:solidFill>
                  <a:srgbClr val="1F2328"/>
                </a:solidFill>
                <a:latin typeface="Calibri"/>
                <a:cs typeface="Calibri"/>
              </a:rPr>
              <a:t xml:space="preserve">LLM baseline</a:t>
            </a:r>
          </a:p>
        </p:txBody>
      </p:sp>
      <p:sp>
        <p:nvSpPr>
          <p:cNvPr id="1278" name="Cell"/>
          <p:cNvSpPr/>
          <p:nvPr/>
        </p:nvSpPr>
        <p:spPr>
          <a:xfrm>
            <a:off x="2377440" y="4617720"/>
            <a:ext cx="1261872" cy="310896"/>
          </a:xfrm>
          <a:prstGeom prst="rect">
            <a:avLst/>
          </a:prstGeom>
          <a:solidFill>
            <a:srgbClr val="F6DAD3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00" b="0" i="0" dirty="0">
                <a:solidFill>
                  <a:srgbClr val="1F2328"/>
                </a:solidFill>
                <a:latin typeface="Calibri"/>
                <a:cs typeface="Calibri"/>
              </a:rPr>
              <a:t xml:space="preserve">1.38</a:t>
            </a:r>
          </a:p>
        </p:txBody>
      </p:sp>
      <p:sp>
        <p:nvSpPr>
          <p:cNvPr id="1279" name="Cell"/>
          <p:cNvSpPr/>
          <p:nvPr/>
        </p:nvSpPr>
        <p:spPr>
          <a:xfrm>
            <a:off x="3675887" y="4617720"/>
            <a:ext cx="1261872" cy="310896"/>
          </a:xfrm>
          <a:prstGeom prst="rect">
            <a:avLst/>
          </a:prstGeom>
          <a:solidFill>
            <a:srgbClr val="EDB8AC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00" b="0" i="0" dirty="0">
                <a:solidFill>
                  <a:srgbClr val="1F2328"/>
                </a:solidFill>
                <a:latin typeface="Calibri"/>
                <a:cs typeface="Calibri"/>
              </a:rPr>
              <a:t xml:space="preserve">0.28</a:t>
            </a:r>
          </a:p>
        </p:txBody>
      </p:sp>
      <p:sp>
        <p:nvSpPr>
          <p:cNvPr id="1280" name="Cell"/>
          <p:cNvSpPr/>
          <p:nvPr/>
        </p:nvSpPr>
        <p:spPr>
          <a:xfrm>
            <a:off x="4974336" y="4617720"/>
            <a:ext cx="1261872" cy="310896"/>
          </a:xfrm>
          <a:prstGeom prst="rect">
            <a:avLst/>
          </a:prstGeom>
          <a:solidFill>
            <a:srgbClr val="F6DAD3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00" b="0" i="0" dirty="0">
                <a:solidFill>
                  <a:srgbClr val="1F2328"/>
                </a:solidFill>
                <a:latin typeface="Calibri"/>
                <a:cs typeface="Calibri"/>
              </a:rPr>
              <a:t xml:space="preserve">1.48</a:t>
            </a:r>
          </a:p>
        </p:txBody>
      </p:sp>
      <p:sp>
        <p:nvSpPr>
          <p:cNvPr id="1281" name="Method"/>
          <p:cNvSpPr txBox="1"/>
          <p:nvPr/>
        </p:nvSpPr>
        <p:spPr>
          <a:xfrm>
            <a:off x="1033271" y="4946904"/>
            <a:ext cx="132588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en-US" sz="1200" b="0" i="0" dirty="0">
                <a:solidFill>
                  <a:srgbClr val="1F2328"/>
                </a:solidFill>
                <a:latin typeface="Calibri"/>
                <a:cs typeface="Calibri"/>
              </a:rPr>
              <a:t xml:space="preserve">Non-Iterative</a:t>
            </a:r>
          </a:p>
        </p:txBody>
      </p:sp>
      <p:sp>
        <p:nvSpPr>
          <p:cNvPr id="1282" name="Cell"/>
          <p:cNvSpPr/>
          <p:nvPr/>
        </p:nvSpPr>
        <p:spPr>
          <a:xfrm>
            <a:off x="2377440" y="4965192"/>
            <a:ext cx="1261872" cy="310896"/>
          </a:xfrm>
          <a:prstGeom prst="rect">
            <a:avLst/>
          </a:prstGeom>
          <a:solidFill>
            <a:srgbClr val="F6DAD3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00" b="0" i="0" dirty="0">
                <a:solidFill>
                  <a:srgbClr val="1F2328"/>
                </a:solidFill>
                <a:latin typeface="Calibri"/>
                <a:cs typeface="Calibri"/>
              </a:rPr>
              <a:t xml:space="preserve">1.89</a:t>
            </a:r>
          </a:p>
        </p:txBody>
      </p:sp>
      <p:sp>
        <p:nvSpPr>
          <p:cNvPr id="1283" name="Cell"/>
          <p:cNvSpPr/>
          <p:nvPr/>
        </p:nvSpPr>
        <p:spPr>
          <a:xfrm>
            <a:off x="3675887" y="4965192"/>
            <a:ext cx="1261872" cy="310896"/>
          </a:xfrm>
          <a:prstGeom prst="rect">
            <a:avLst/>
          </a:prstGeom>
          <a:solidFill>
            <a:srgbClr val="EDB8AC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00" b="0" i="0" dirty="0">
                <a:solidFill>
                  <a:srgbClr val="1F2328"/>
                </a:solidFill>
                <a:latin typeface="Calibri"/>
                <a:cs typeface="Calibri"/>
              </a:rPr>
              <a:t xml:space="preserve">0.67</a:t>
            </a:r>
          </a:p>
        </p:txBody>
      </p:sp>
      <p:sp>
        <p:nvSpPr>
          <p:cNvPr id="1284" name="Cell"/>
          <p:cNvSpPr/>
          <p:nvPr/>
        </p:nvSpPr>
        <p:spPr>
          <a:xfrm>
            <a:off x="4974336" y="4965192"/>
            <a:ext cx="1261872" cy="310896"/>
          </a:xfrm>
          <a:prstGeom prst="rect">
            <a:avLst/>
          </a:prstGeom>
          <a:solidFill>
            <a:srgbClr val="F1F3F2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00" b="0" i="0" dirty="0">
                <a:solidFill>
                  <a:srgbClr val="1F2328"/>
                </a:solidFill>
                <a:latin typeface="Calibri"/>
                <a:cs typeface="Calibri"/>
              </a:rPr>
              <a:t xml:space="preserve">2.77</a:t>
            </a:r>
          </a:p>
        </p:txBody>
      </p:sp>
      <p:sp>
        <p:nvSpPr>
          <p:cNvPr id="1285" name="Method"/>
          <p:cNvSpPr txBox="1"/>
          <p:nvPr/>
        </p:nvSpPr>
        <p:spPr>
          <a:xfrm>
            <a:off x="1033271" y="5294376"/>
            <a:ext cx="132588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en-US" sz="1200" b="1" i="0" dirty="0">
                <a:solidFill>
                  <a:srgbClr val="0B6E4F"/>
                </a:solidFill>
                <a:latin typeface="Calibri"/>
                <a:cs typeface="Calibri"/>
              </a:rPr>
              <a:t xml:space="preserve">RIGOR</a:t>
            </a:r>
          </a:p>
        </p:txBody>
      </p:sp>
      <p:sp>
        <p:nvSpPr>
          <p:cNvPr id="1286" name="Cell"/>
          <p:cNvSpPr/>
          <p:nvPr/>
        </p:nvSpPr>
        <p:spPr>
          <a:xfrm>
            <a:off x="2377440" y="5312664"/>
            <a:ext cx="1261872" cy="310896"/>
          </a:xfrm>
          <a:prstGeom prst="rect">
            <a:avLst/>
          </a:prstGeom>
          <a:solidFill>
            <a:srgbClr val="BFE3C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00" b="1" i="0" dirty="0">
                <a:solidFill>
                  <a:srgbClr val="1F2328"/>
                </a:solidFill>
                <a:latin typeface="Calibri"/>
                <a:cs typeface="Calibri"/>
              </a:rPr>
              <a:t xml:space="preserve">3.93</a:t>
            </a:r>
          </a:p>
        </p:txBody>
      </p:sp>
      <p:sp>
        <p:nvSpPr>
          <p:cNvPr id="1287" name="Cell"/>
          <p:cNvSpPr/>
          <p:nvPr/>
        </p:nvSpPr>
        <p:spPr>
          <a:xfrm>
            <a:off x="3675887" y="5312664"/>
            <a:ext cx="1261872" cy="310896"/>
          </a:xfrm>
          <a:prstGeom prst="rect">
            <a:avLst/>
          </a:prstGeom>
          <a:solidFill>
            <a:srgbClr val="BFE3C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00" b="1" i="0" dirty="0">
                <a:solidFill>
                  <a:srgbClr val="1F2328"/>
                </a:solidFill>
                <a:latin typeface="Calibri"/>
                <a:cs typeface="Calibri"/>
              </a:rPr>
              <a:t xml:space="preserve">3.64</a:t>
            </a:r>
          </a:p>
        </p:txBody>
      </p:sp>
      <p:sp>
        <p:nvSpPr>
          <p:cNvPr id="1288" name="Cell"/>
          <p:cNvSpPr/>
          <p:nvPr/>
        </p:nvSpPr>
        <p:spPr>
          <a:xfrm>
            <a:off x="4974336" y="5312664"/>
            <a:ext cx="1261872" cy="310896"/>
          </a:xfrm>
          <a:prstGeom prst="rect">
            <a:avLst/>
          </a:prstGeom>
          <a:solidFill>
            <a:srgbClr val="DDF0E5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00" b="1" i="0" dirty="0">
                <a:solidFill>
                  <a:srgbClr val="1F2328"/>
                </a:solidFill>
                <a:latin typeface="Calibri"/>
                <a:cs typeface="Calibri"/>
              </a:rPr>
              <a:t xml:space="preserve">3.32</a:t>
            </a:r>
          </a:p>
        </p:txBody>
      </p:sp>
      <p:sp>
        <p:nvSpPr>
          <p:cNvPr id="1289" name="Card"/>
          <p:cNvSpPr/>
          <p:nvPr/>
        </p:nvSpPr>
        <p:spPr>
          <a:xfrm>
            <a:off x="6702552" y="2606040"/>
            <a:ext cx="4681728" cy="3154680"/>
          </a:xfrm>
          <a:prstGeom prst="roundRect">
            <a:avLst>
              <a:gd name="adj" fmla="val 12000"/>
            </a:avLst>
          </a:prstGeom>
          <a:solidFill>
            <a:srgbClr val="F3F5F4"/>
          </a:solidFill>
          <a:ln w="9525">
            <a:solidFill>
              <a:srgbClr val="D9DEDB"/>
            </a:solidFill>
          </a:ln>
        </p:spPr>
        <p:txBody>
          <a:bodyPr wrap="square" lIns="0" tIns="0" rIns="0" bIns="0" anchor="t">
            <a:noAutofit/>
          </a:bodyPr>
          <a:lstStyle/>
          <a:p>
            <a:pPr algn="l"/>
          </a:p>
        </p:txBody>
      </p:sp>
      <p:sp>
        <p:nvSpPr>
          <p:cNvPr id="1290" name="Card label"/>
          <p:cNvSpPr txBox="1"/>
          <p:nvPr/>
        </p:nvSpPr>
        <p:spPr>
          <a:xfrm>
            <a:off x="6976872" y="2788920"/>
            <a:ext cx="4133088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300" b="1" i="0" dirty="0">
                <a:solidFill>
                  <a:srgbClr val="2F6B78"/>
                </a:solidFill>
                <a:latin typeface="Consolas"/>
                <a:cs typeface="Consolas"/>
              </a:rPr>
              <a:t xml:space="preserve">10 ONTOLOGY EXPERTS</a:t>
            </a:r>
          </a:p>
        </p:txBody>
      </p:sp>
      <p:sp>
        <p:nvSpPr>
          <p:cNvPr id="1291" name="Big"/>
          <p:cNvSpPr txBox="1"/>
          <p:nvPr/>
        </p:nvSpPr>
        <p:spPr>
          <a:xfrm>
            <a:off x="6976872" y="3063240"/>
            <a:ext cx="237744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4000" b="1" i="0" dirty="0">
                <a:solidFill>
                  <a:srgbClr val="1F2328"/>
                </a:solidFill>
                <a:latin typeface="Cambria"/>
                <a:cs typeface="Cambria"/>
              </a:rPr>
              <a:t xml:space="preserve">28 / 40</a:t>
            </a:r>
          </a:p>
        </p:txBody>
      </p:sp>
      <p:sp>
        <p:nvSpPr>
          <p:cNvPr id="1292" name="Claim"/>
          <p:cNvSpPr txBox="1"/>
          <p:nvPr/>
        </p:nvSpPr>
        <p:spPr>
          <a:xfrm>
            <a:off x="9262872" y="3172968"/>
            <a:ext cx="1938528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en-US" sz="1600" b="1" i="0" dirty="0">
                <a:solidFill>
                  <a:srgbClr val="0B6E4F"/>
                </a:solidFill>
                <a:latin typeface="Calibri"/>
                <a:cs typeface="Calibri"/>
              </a:rPr>
              <a:t xml:space="preserve">rankings with RIGOR first (70%)</a:t>
            </a:r>
          </a:p>
        </p:txBody>
      </p:sp>
      <p:sp>
        <p:nvSpPr>
          <p:cNvPr id="1293" name="Note"/>
          <p:cNvSpPr txBox="1"/>
          <p:nvPr/>
        </p:nvSpPr>
        <p:spPr>
          <a:xfrm>
            <a:off x="6976872" y="3776472"/>
            <a:ext cx="4133088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050" b="0" i="1" dirty="0">
                <a:solidFill>
                  <a:srgbClr val="5B6770"/>
                </a:solidFill>
                <a:latin typeface="Calibri"/>
                <a:cs typeface="Calibri"/>
              </a:rPr>
              <a:t xml:space="preserve">first places, of 20 per database</a:t>
            </a:r>
          </a:p>
        </p:txBody>
      </p:sp>
      <p:sp>
        <p:nvSpPr>
          <p:cNvPr id="1294" name="Database"/>
          <p:cNvSpPr txBox="1"/>
          <p:nvPr/>
        </p:nvSpPr>
        <p:spPr>
          <a:xfrm>
            <a:off x="8257031" y="3995928"/>
            <a:ext cx="141732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00" b="1" i="0" dirty="0">
                <a:solidFill>
                  <a:srgbClr val="1F2328"/>
                </a:solidFill>
                <a:latin typeface="Calibri"/>
                <a:cs typeface="Calibri"/>
              </a:rPr>
              <a:t xml:space="preserve">Liver Cancer</a:t>
            </a:r>
          </a:p>
        </p:txBody>
      </p:sp>
      <p:sp>
        <p:nvSpPr>
          <p:cNvPr id="1295" name="Database"/>
          <p:cNvSpPr txBox="1"/>
          <p:nvPr/>
        </p:nvSpPr>
        <p:spPr>
          <a:xfrm>
            <a:off x="9674352" y="3995928"/>
            <a:ext cx="141732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00" b="1" i="0" dirty="0">
                <a:solidFill>
                  <a:srgbClr val="1F2328"/>
                </a:solidFill>
                <a:latin typeface="Calibri"/>
                <a:cs typeface="Calibri"/>
              </a:rPr>
              <a:t xml:space="preserve">eICU-CRD</a:t>
            </a:r>
          </a:p>
        </p:txBody>
      </p:sp>
      <p:sp>
        <p:nvSpPr>
          <p:cNvPr id="1296" name="Method"/>
          <p:cNvSpPr txBox="1"/>
          <p:nvPr/>
        </p:nvSpPr>
        <p:spPr>
          <a:xfrm>
            <a:off x="6931152" y="4251960"/>
            <a:ext cx="132588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en-US" sz="1200" b="0" i="0" dirty="0">
                <a:solidFill>
                  <a:srgbClr val="1F2328"/>
                </a:solidFill>
                <a:latin typeface="Calibri"/>
                <a:cs typeface="Calibri"/>
              </a:rPr>
              <a:t xml:space="preserve">Direct Mapping</a:t>
            </a:r>
          </a:p>
        </p:txBody>
      </p:sp>
      <p:sp>
        <p:nvSpPr>
          <p:cNvPr id="1297" name="Cell"/>
          <p:cNvSpPr/>
          <p:nvPr/>
        </p:nvSpPr>
        <p:spPr>
          <a:xfrm>
            <a:off x="8275319" y="4270248"/>
            <a:ext cx="1380744" cy="310896"/>
          </a:xfrm>
          <a:prstGeom prst="rect">
            <a:avLst/>
          </a:prstGeom>
          <a:solidFill>
            <a:srgbClr val="F1F3F2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00" b="0" i="0" dirty="0">
                <a:solidFill>
                  <a:srgbClr val="1F2328"/>
                </a:solidFill>
                <a:latin typeface="Calibri"/>
                <a:cs typeface="Calibri"/>
              </a:rPr>
              <a:t xml:space="preserve">3</a:t>
            </a:r>
          </a:p>
        </p:txBody>
      </p:sp>
      <p:sp>
        <p:nvSpPr>
          <p:cNvPr id="1298" name="Cell"/>
          <p:cNvSpPr/>
          <p:nvPr/>
        </p:nvSpPr>
        <p:spPr>
          <a:xfrm>
            <a:off x="9692640" y="4270248"/>
            <a:ext cx="1380744" cy="310896"/>
          </a:xfrm>
          <a:prstGeom prst="rect">
            <a:avLst/>
          </a:prstGeom>
          <a:solidFill>
            <a:srgbClr val="F6DAD3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00" b="0" i="0" dirty="0">
                <a:solidFill>
                  <a:srgbClr val="1F2328"/>
                </a:solidFill>
                <a:latin typeface="Calibri"/>
                <a:cs typeface="Calibri"/>
              </a:rPr>
              <a:t xml:space="preserve">2</a:t>
            </a:r>
          </a:p>
        </p:txBody>
      </p:sp>
      <p:sp>
        <p:nvSpPr>
          <p:cNvPr id="1299" name="Method"/>
          <p:cNvSpPr txBox="1"/>
          <p:nvPr/>
        </p:nvSpPr>
        <p:spPr>
          <a:xfrm>
            <a:off x="6931152" y="4599432"/>
            <a:ext cx="132588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en-US" sz="1200" b="0" i="0" dirty="0">
                <a:solidFill>
                  <a:srgbClr val="1F2328"/>
                </a:solidFill>
                <a:latin typeface="Calibri"/>
                <a:cs typeface="Calibri"/>
              </a:rPr>
              <a:t xml:space="preserve">LLM baseline</a:t>
            </a:r>
          </a:p>
        </p:txBody>
      </p:sp>
      <p:sp>
        <p:nvSpPr>
          <p:cNvPr id="1300" name="Cell"/>
          <p:cNvSpPr/>
          <p:nvPr/>
        </p:nvSpPr>
        <p:spPr>
          <a:xfrm>
            <a:off x="8275319" y="4617720"/>
            <a:ext cx="1380744" cy="310896"/>
          </a:xfrm>
          <a:prstGeom prst="rect">
            <a:avLst/>
          </a:prstGeom>
          <a:solidFill>
            <a:srgbClr val="F6DAD3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00" b="0" i="0" dirty="0">
                <a:solidFill>
                  <a:srgbClr val="1F2328"/>
                </a:solidFill>
                <a:latin typeface="Calibri"/>
                <a:cs typeface="Calibri"/>
              </a:rPr>
              <a:t xml:space="preserve">1</a:t>
            </a:r>
          </a:p>
        </p:txBody>
      </p:sp>
      <p:sp>
        <p:nvSpPr>
          <p:cNvPr id="1301" name="Cell"/>
          <p:cNvSpPr/>
          <p:nvPr/>
        </p:nvSpPr>
        <p:spPr>
          <a:xfrm>
            <a:off x="9692640" y="4617720"/>
            <a:ext cx="1380744" cy="310896"/>
          </a:xfrm>
          <a:prstGeom prst="rect">
            <a:avLst/>
          </a:prstGeom>
          <a:solidFill>
            <a:srgbClr val="F1F3F2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00" b="0" i="0" dirty="0">
                <a:solidFill>
                  <a:srgbClr val="1F2328"/>
                </a:solidFill>
                <a:latin typeface="Calibri"/>
                <a:cs typeface="Calibri"/>
              </a:rPr>
              <a:t xml:space="preserve">4</a:t>
            </a:r>
          </a:p>
        </p:txBody>
      </p:sp>
      <p:sp>
        <p:nvSpPr>
          <p:cNvPr id="1302" name="Method"/>
          <p:cNvSpPr txBox="1"/>
          <p:nvPr/>
        </p:nvSpPr>
        <p:spPr>
          <a:xfrm>
            <a:off x="6931152" y="4946904"/>
            <a:ext cx="132588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en-US" sz="1200" b="0" i="0" dirty="0">
                <a:solidFill>
                  <a:srgbClr val="1F2328"/>
                </a:solidFill>
                <a:latin typeface="Calibri"/>
                <a:cs typeface="Calibri"/>
              </a:rPr>
              <a:t xml:space="preserve">Non-Iterative</a:t>
            </a:r>
          </a:p>
        </p:txBody>
      </p:sp>
      <p:sp>
        <p:nvSpPr>
          <p:cNvPr id="1303" name="Cell"/>
          <p:cNvSpPr/>
          <p:nvPr/>
        </p:nvSpPr>
        <p:spPr>
          <a:xfrm>
            <a:off x="8275319" y="4965192"/>
            <a:ext cx="1380744" cy="310896"/>
          </a:xfrm>
          <a:prstGeom prst="rect">
            <a:avLst/>
          </a:prstGeom>
          <a:solidFill>
            <a:srgbClr val="F6DAD3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00" b="0" i="0" dirty="0">
                <a:solidFill>
                  <a:srgbClr val="1F2328"/>
                </a:solidFill>
                <a:latin typeface="Calibri"/>
                <a:cs typeface="Calibri"/>
              </a:rPr>
              <a:t xml:space="preserve">2</a:t>
            </a:r>
          </a:p>
        </p:txBody>
      </p:sp>
      <p:sp>
        <p:nvSpPr>
          <p:cNvPr id="1304" name="Cell"/>
          <p:cNvSpPr/>
          <p:nvPr/>
        </p:nvSpPr>
        <p:spPr>
          <a:xfrm>
            <a:off x="9692640" y="4965192"/>
            <a:ext cx="1380744" cy="310896"/>
          </a:xfrm>
          <a:prstGeom prst="rect">
            <a:avLst/>
          </a:prstGeom>
          <a:solidFill>
            <a:srgbClr val="EDB8AC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00" b="0" i="0" dirty="0">
                <a:solidFill>
                  <a:srgbClr val="1F2328"/>
                </a:solidFill>
                <a:latin typeface="Calibri"/>
                <a:cs typeface="Calibri"/>
              </a:rPr>
              <a:t xml:space="preserve">0</a:t>
            </a:r>
          </a:p>
        </p:txBody>
      </p:sp>
      <p:sp>
        <p:nvSpPr>
          <p:cNvPr id="1305" name="Method"/>
          <p:cNvSpPr txBox="1"/>
          <p:nvPr/>
        </p:nvSpPr>
        <p:spPr>
          <a:xfrm>
            <a:off x="6931152" y="5294376"/>
            <a:ext cx="132588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en-US" sz="1200" b="1" i="0" dirty="0">
                <a:solidFill>
                  <a:srgbClr val="0B6E4F"/>
                </a:solidFill>
                <a:latin typeface="Calibri"/>
                <a:cs typeface="Calibri"/>
              </a:rPr>
              <a:t xml:space="preserve">RIGOR</a:t>
            </a:r>
          </a:p>
        </p:txBody>
      </p:sp>
      <p:sp>
        <p:nvSpPr>
          <p:cNvPr id="1306" name="Cell"/>
          <p:cNvSpPr/>
          <p:nvPr/>
        </p:nvSpPr>
        <p:spPr>
          <a:xfrm>
            <a:off x="8275319" y="5312664"/>
            <a:ext cx="1380744" cy="310896"/>
          </a:xfrm>
          <a:prstGeom prst="rect">
            <a:avLst/>
          </a:prstGeom>
          <a:solidFill>
            <a:srgbClr val="BFE3C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00" b="1" i="0" dirty="0">
                <a:solidFill>
                  <a:srgbClr val="1F2328"/>
                </a:solidFill>
                <a:latin typeface="Calibri"/>
                <a:cs typeface="Calibri"/>
              </a:rPr>
              <a:t xml:space="preserve">14</a:t>
            </a:r>
          </a:p>
        </p:txBody>
      </p:sp>
      <p:sp>
        <p:nvSpPr>
          <p:cNvPr id="1307" name="Cell"/>
          <p:cNvSpPr/>
          <p:nvPr/>
        </p:nvSpPr>
        <p:spPr>
          <a:xfrm>
            <a:off x="9692640" y="5312664"/>
            <a:ext cx="1380744" cy="310896"/>
          </a:xfrm>
          <a:prstGeom prst="rect">
            <a:avLst/>
          </a:prstGeom>
          <a:solidFill>
            <a:srgbClr val="BFE3C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00" b="1" i="0" dirty="0">
                <a:solidFill>
                  <a:srgbClr val="1F2328"/>
                </a:solidFill>
                <a:latin typeface="Calibri"/>
                <a:cs typeface="Calibri"/>
              </a:rPr>
              <a:t xml:space="preserve">14</a:t>
            </a:r>
          </a:p>
        </p:txBody>
      </p:sp>
      <p:sp>
        <p:nvSpPr>
          <p:cNvPr id="1308" name="Strip"/>
          <p:cNvSpPr/>
          <p:nvPr/>
        </p:nvSpPr>
        <p:spPr>
          <a:xfrm>
            <a:off x="804672" y="5879592"/>
            <a:ext cx="10579608" cy="420624"/>
          </a:xfrm>
          <a:prstGeom prst="roundRect">
            <a:avLst>
              <a:gd name="adj" fmla="val 12000"/>
            </a:avLst>
          </a:prstGeom>
          <a:solidFill>
            <a:srgbClr val="E6F2EC"/>
          </a:solidFill>
          <a:ln>
            <a:noFill/>
          </a:ln>
        </p:spPr>
        <p:txBody>
          <a:bodyPr wrap="square" lIns="201168" tIns="0" rIns="201168" bIns="0" anchor="ctr">
            <a:noAutofit/>
          </a:bodyPr>
          <a:lstStyle/>
          <a:p>
            <a:pPr algn="l"/>
            <a:r>
              <a:rPr lang="en-US" sz="1400" b="0" i="0" dirty="0">
                <a:solidFill>
                  <a:srgbClr val="3A434C"/>
                </a:solidFill>
                <a:latin typeface="Calibri"/>
                <a:cs typeface="Calibri"/>
              </a:rPr>
              <a:t xml:space="preserve">Direct Mapping: structure without meaning.  LLMs alone: meaning without structure.  </a:t>
            </a:r>
            <a:r>
              <a:rPr lang="en-US" sz="1400" b="1" i="0" dirty="0">
                <a:solidFill>
                  <a:srgbClr val="0B6E4F"/>
                </a:solidFill>
                <a:latin typeface="Calibri"/>
                <a:cs typeface="Calibri"/>
              </a:rPr>
              <a:t xml:space="preserve">RIGOR: both, and checked.</a:t>
            </a:r>
          </a:p>
        </p:txBody>
      </p:sp>
      <p:sp>
        <p:nvSpPr>
          <p:cNvPr id="1309" name="Source"/>
          <p:cNvSpPr txBox="1"/>
          <p:nvPr/>
        </p:nvSpPr>
        <p:spPr>
          <a:xfrm>
            <a:off x="822960" y="6382512"/>
            <a:ext cx="1060704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000" b="0" i="0" dirty="0">
                <a:solidFill>
                  <a:srgbClr val="5B6770"/>
                </a:solidFill>
                <a:latin typeface="Calibri"/>
                <a:cs typeface="Calibri"/>
              </a:rPr>
              <a:t xml:space="preserve">Paper Table 1 (scores, rankings; judge: 58 tables, 290 competency questions) and Table 12 (expert agreement, Kendall's W 0.39–0.72; 4 medical tables).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143" name="Shape 1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4" name="Google Shape;1144;p20"/>
          <p:cNvSpPr txBox="1"/>
          <p:nvPr/>
        </p:nvSpPr>
        <p:spPr>
          <a:xfrm>
            <a:off x="804672" y="512064"/>
            <a:ext cx="10753344" cy="31089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0B6E4F"/>
                </a:solidFill>
                <a:latin typeface="Consolas"/>
                <a:ea typeface="Consolas"/>
                <a:cs typeface="Consolas"/>
                <a:sym typeface="Consolas"/>
              </a:rPr>
              <a:t>RESULT 1  /  NOTHING IS LOST</a:t>
            </a:r>
            <a:endParaRPr/>
          </a:p>
        </p:txBody>
      </p:sp>
      <p:sp>
        <p:nvSpPr>
          <p:cNvPr id="1145" name="Google Shape;1145;p20"/>
          <p:cNvSpPr txBox="1"/>
          <p:nvPr/>
        </p:nvSpPr>
        <p:spPr>
          <a:xfrm>
            <a:off x="804672" y="914400"/>
            <a:ext cx="10762488" cy="66751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 u="none" cap="none" strike="noStrike">
                <a:solidFill>
                  <a:srgbClr val="1F2328"/>
                </a:solidFill>
                <a:latin typeface="Cambria"/>
                <a:ea typeface="Cambria"/>
                <a:cs typeface="Cambria"/>
                <a:sym typeface="Cambria"/>
              </a:rPr>
              <a:t>First, nothing is lost: RIGOR keeps the schema.</a:t>
            </a:r>
            <a:endParaRPr/>
          </a:p>
        </p:txBody>
      </p:sp>
      <p:sp>
        <p:nvSpPr>
          <p:cNvPr id="1146" name="Subtitle"/>
          <p:cNvSpPr txBox="1"/>
          <p:nvPr/>
        </p:nvSpPr>
        <p:spPr>
          <a:xfrm>
            <a:off x="822960" y="1645920"/>
            <a:ext cx="10680192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600" b="0" i="0" dirty="0">
                <a:solidFill>
                  <a:srgbClr val="3A434C"/>
                </a:solidFill>
                <a:latin typeface="Calibri"/>
                <a:cs typeface="Calibri"/>
              </a:rPr>
              <a:t xml:space="preserve">Every LLM, every database. We climb from the easiest check to the hardest.</a:t>
            </a:r>
          </a:p>
        </p:txBody>
      </p:sp>
      <p:sp>
        <p:nvSpPr>
          <p:cNvPr id="1147" name="Ladder"/>
          <p:cNvSpPr/>
          <p:nvPr/>
        </p:nvSpPr>
        <p:spPr>
          <a:xfrm>
            <a:off x="804672" y="2103120"/>
            <a:ext cx="1700784" cy="310896"/>
          </a:xfrm>
          <a:prstGeom prst="rect">
            <a:avLst/>
          </a:prstGeom>
          <a:solidFill>
            <a:srgbClr val="0B6E4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000" b="1" i="0" dirty="0">
                <a:solidFill>
                  <a:srgbClr val="FFFFFF"/>
                </a:solidFill>
                <a:latin typeface="Consolas"/>
                <a:cs typeface="Consolas"/>
              </a:rPr>
              <a:t xml:space="preserve">1  VALID</a:t>
            </a:r>
          </a:p>
        </p:txBody>
      </p:sp>
      <p:sp>
        <p:nvSpPr>
          <p:cNvPr id="1148" name="Ladder"/>
          <p:cNvSpPr/>
          <p:nvPr/>
        </p:nvSpPr>
        <p:spPr>
          <a:xfrm>
            <a:off x="2596896" y="2103120"/>
            <a:ext cx="1700784" cy="310896"/>
          </a:xfrm>
          <a:prstGeom prst="rect">
            <a:avLst/>
          </a:prstGeom>
          <a:solidFill>
            <a:srgbClr val="0B6E4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000" b="1" i="0" dirty="0">
                <a:solidFill>
                  <a:srgbClr val="FFFFFF"/>
                </a:solidFill>
                <a:latin typeface="Consolas"/>
                <a:cs typeface="Consolas"/>
              </a:rPr>
              <a:t xml:space="preserve">2  KEEPS THE SCHEMA</a:t>
            </a:r>
          </a:p>
        </p:txBody>
      </p:sp>
      <p:sp>
        <p:nvSpPr>
          <p:cNvPr id="1149" name="Ladder"/>
          <p:cNvSpPr/>
          <p:nvPr/>
        </p:nvSpPr>
        <p:spPr>
          <a:xfrm>
            <a:off x="4389120" y="2103120"/>
            <a:ext cx="1700784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D9DEDB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000" b="1" i="0" dirty="0">
                <a:solidFill>
                  <a:srgbClr val="6B747B"/>
                </a:solidFill>
                <a:latin typeface="Consolas"/>
                <a:cs typeface="Consolas"/>
              </a:rPr>
              <a:t xml:space="preserve">3  ADDS MEANING</a:t>
            </a:r>
          </a:p>
        </p:txBody>
      </p:sp>
      <p:sp>
        <p:nvSpPr>
          <p:cNvPr id="1150" name="Ladder"/>
          <p:cNvSpPr/>
          <p:nvPr/>
        </p:nvSpPr>
        <p:spPr>
          <a:xfrm>
            <a:off x="6181344" y="2103120"/>
            <a:ext cx="1700784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D9DEDB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000" b="1" i="0" dirty="0">
                <a:solidFill>
                  <a:srgbClr val="6B747B"/>
                </a:solidFill>
                <a:latin typeface="Consolas"/>
                <a:cs typeface="Consolas"/>
              </a:rPr>
              <a:t xml:space="preserve">4  FEWER ERRORS</a:t>
            </a:r>
          </a:p>
        </p:txBody>
      </p:sp>
      <p:sp>
        <p:nvSpPr>
          <p:cNvPr id="1151" name="Ladder"/>
          <p:cNvSpPr/>
          <p:nvPr/>
        </p:nvSpPr>
        <p:spPr>
          <a:xfrm>
            <a:off x="7973568" y="2103120"/>
            <a:ext cx="1700784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D9DEDB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000" b="1" i="0" dirty="0">
                <a:solidFill>
                  <a:srgbClr val="6B747B"/>
                </a:solidFill>
                <a:latin typeface="Consolas"/>
                <a:cs typeface="Consolas"/>
              </a:rPr>
              <a:t xml:space="preserve">5  GOLD MAPPINGS</a:t>
            </a:r>
          </a:p>
        </p:txBody>
      </p:sp>
      <p:sp>
        <p:nvSpPr>
          <p:cNvPr id="1152" name="Ladder"/>
          <p:cNvSpPr/>
          <p:nvPr/>
        </p:nvSpPr>
        <p:spPr>
          <a:xfrm>
            <a:off x="9765792" y="2103120"/>
            <a:ext cx="1700784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D9DEDB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000" b="1" i="0" dirty="0">
                <a:solidFill>
                  <a:srgbClr val="6B747B"/>
                </a:solidFill>
                <a:latin typeface="Consolas"/>
                <a:cs typeface="Consolas"/>
              </a:rPr>
              <a:t xml:space="preserve">6  JUDGES</a:t>
            </a:r>
          </a:p>
        </p:txBody>
      </p:sp>
      <p:sp>
        <p:nvSpPr>
          <p:cNvPr id="1153" name="Card"/>
          <p:cNvSpPr/>
          <p:nvPr/>
        </p:nvSpPr>
        <p:spPr>
          <a:xfrm>
            <a:off x="804672" y="2606040"/>
            <a:ext cx="2240280" cy="31546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9DEDB"/>
            </a:solidFill>
          </a:ln>
        </p:spPr>
        <p:txBody>
          <a:bodyPr wrap="square" lIns="0" tIns="0" rIns="0" bIns="0" anchor="t">
            <a:noAutofit/>
          </a:bodyPr>
          <a:lstStyle/>
          <a:p>
            <a:pPr algn="l"/>
          </a:p>
        </p:txBody>
      </p:sp>
      <p:sp>
        <p:nvSpPr>
          <p:cNvPr id="1154" name="Card label"/>
          <p:cNvSpPr txBox="1"/>
          <p:nvPr/>
        </p:nvSpPr>
        <p:spPr>
          <a:xfrm>
            <a:off x="1078992" y="2788920"/>
            <a:ext cx="169164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300" b="1" i="0" dirty="0">
                <a:solidFill>
                  <a:srgbClr val="2F6B78"/>
                </a:solidFill>
                <a:latin typeface="Consolas"/>
                <a:cs typeface="Consolas"/>
              </a:rPr>
              <a:t xml:space="preserve">1  VALID</a:t>
            </a:r>
          </a:p>
        </p:txBody>
      </p:sp>
      <p:sp>
        <p:nvSpPr>
          <p:cNvPr id="1155" name="Big"/>
          <p:cNvSpPr txBox="1"/>
          <p:nvPr/>
        </p:nvSpPr>
        <p:spPr>
          <a:xfrm>
            <a:off x="1033271" y="3246120"/>
            <a:ext cx="192024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4000" b="1" i="0" dirty="0">
                <a:solidFill>
                  <a:srgbClr val="1F2328"/>
                </a:solidFill>
                <a:latin typeface="Cambria"/>
                <a:cs typeface="Cambria"/>
              </a:rPr>
              <a:t xml:space="preserve">30 / 30</a:t>
            </a:r>
          </a:p>
        </p:txBody>
      </p:sp>
      <p:sp>
        <p:nvSpPr>
          <p:cNvPr id="1156" name="Claim"/>
          <p:cNvSpPr txBox="1"/>
          <p:nvPr/>
        </p:nvSpPr>
        <p:spPr>
          <a:xfrm>
            <a:off x="1033271" y="4069080"/>
            <a:ext cx="1828800" cy="1463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350" b="0" i="0" dirty="0">
                <a:solidFill>
                  <a:srgbClr val="3A434C"/>
                </a:solidFill>
                <a:latin typeface="Calibri"/>
                <a:cs typeface="Calibri"/>
              </a:rPr>
              <a:t xml:space="preserve">ontologies are valid OWL 2 DL and logically consistent, for every method and LLM.</a:t>
            </a:r>
          </a:p>
        </p:txBody>
      </p:sp>
      <p:sp>
        <p:nvSpPr>
          <p:cNvPr id="1157" name="Card"/>
          <p:cNvSpPr/>
          <p:nvPr/>
        </p:nvSpPr>
        <p:spPr>
          <a:xfrm>
            <a:off x="3182112" y="2606040"/>
            <a:ext cx="8202168" cy="31546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9DEDB"/>
            </a:solidFill>
          </a:ln>
        </p:spPr>
        <p:txBody>
          <a:bodyPr wrap="square" lIns="0" tIns="0" rIns="0" bIns="0" anchor="t">
            <a:noAutofit/>
          </a:bodyPr>
          <a:lstStyle/>
          <a:p>
            <a:pPr algn="l"/>
          </a:p>
        </p:txBody>
      </p:sp>
      <p:sp>
        <p:nvSpPr>
          <p:cNvPr id="1158" name="Card label"/>
          <p:cNvSpPr txBox="1"/>
          <p:nvPr/>
        </p:nvSpPr>
        <p:spPr>
          <a:xfrm>
            <a:off x="3456432" y="2788920"/>
            <a:ext cx="7653528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300" b="1" i="0" dirty="0">
                <a:solidFill>
                  <a:srgbClr val="2F6B78"/>
                </a:solidFill>
                <a:latin typeface="Consolas"/>
                <a:cs typeface="Consolas"/>
              </a:rPr>
              <a:t xml:space="preserve">2  KEEPS THE SCHEMA</a:t>
            </a:r>
          </a:p>
        </p:txBody>
      </p:sp>
      <p:sp>
        <p:nvSpPr>
          <p:cNvPr id="1159" name="Card note"/>
          <p:cNvSpPr txBox="1"/>
          <p:nvPr/>
        </p:nvSpPr>
        <p:spPr>
          <a:xfrm>
            <a:off x="3456432" y="3081528"/>
            <a:ext cx="7653528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150" b="0" i="1" dirty="0">
                <a:solidFill>
                  <a:srgbClr val="5B6770"/>
                </a:solidFill>
                <a:latin typeface="Calibri"/>
                <a:cs typeface="Calibri"/>
              </a:rPr>
              <a:t xml:space="preserve">share of database columns covered, per ontology (%)</a:t>
            </a:r>
          </a:p>
        </p:txBody>
      </p:sp>
      <p:sp>
        <p:nvSpPr>
          <p:cNvPr id="1160" name="Database"/>
          <p:cNvSpPr txBox="1"/>
          <p:nvPr/>
        </p:nvSpPr>
        <p:spPr>
          <a:xfrm>
            <a:off x="4736592" y="3383280"/>
            <a:ext cx="1920239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00" b="1" i="0" dirty="0">
                <a:solidFill>
                  <a:srgbClr val="1F2328"/>
                </a:solidFill>
                <a:latin typeface="Calibri"/>
                <a:cs typeface="Calibri"/>
              </a:rPr>
              <a:t xml:space="preserve">Liver Cancer</a:t>
            </a:r>
          </a:p>
        </p:txBody>
      </p:sp>
      <p:sp>
        <p:nvSpPr>
          <p:cNvPr id="1161" name="LLM"/>
          <p:cNvSpPr txBox="1"/>
          <p:nvPr/>
        </p:nvSpPr>
        <p:spPr>
          <a:xfrm>
            <a:off x="4736592" y="3611880"/>
            <a:ext cx="64008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850" b="0" i="0" dirty="0">
                <a:solidFill>
                  <a:srgbClr val="5B6770"/>
                </a:solidFill>
                <a:latin typeface="Calibri"/>
                <a:cs typeface="Calibri"/>
              </a:rPr>
              <a:t xml:space="preserve">Claude</a:t>
            </a:r>
          </a:p>
        </p:txBody>
      </p:sp>
      <p:sp>
        <p:nvSpPr>
          <p:cNvPr id="1162" name="LLM"/>
          <p:cNvSpPr txBox="1"/>
          <p:nvPr/>
        </p:nvSpPr>
        <p:spPr>
          <a:xfrm>
            <a:off x="5376672" y="3611880"/>
            <a:ext cx="64008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850" b="0" i="0" dirty="0">
                <a:solidFill>
                  <a:srgbClr val="5B6770"/>
                </a:solidFill>
                <a:latin typeface="Calibri"/>
                <a:cs typeface="Calibri"/>
              </a:rPr>
              <a:t xml:space="preserve">Mistral</a:t>
            </a:r>
          </a:p>
        </p:txBody>
      </p:sp>
      <p:sp>
        <p:nvSpPr>
          <p:cNvPr id="1163" name="LLM"/>
          <p:cNvSpPr txBox="1"/>
          <p:nvPr/>
        </p:nvSpPr>
        <p:spPr>
          <a:xfrm>
            <a:off x="6016752" y="3611880"/>
            <a:ext cx="64008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850" b="0" i="0" dirty="0">
                <a:solidFill>
                  <a:srgbClr val="5B6770"/>
                </a:solidFill>
                <a:latin typeface="Calibri"/>
                <a:cs typeface="Calibri"/>
              </a:rPr>
              <a:t xml:space="preserve">DeepSeek</a:t>
            </a:r>
          </a:p>
        </p:txBody>
      </p:sp>
      <p:sp>
        <p:nvSpPr>
          <p:cNvPr id="1164" name="Database"/>
          <p:cNvSpPr txBox="1"/>
          <p:nvPr/>
        </p:nvSpPr>
        <p:spPr>
          <a:xfrm>
            <a:off x="6656831" y="3383280"/>
            <a:ext cx="1920239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00" b="1" i="0" dirty="0">
                <a:solidFill>
                  <a:srgbClr val="1F2328"/>
                </a:solidFill>
                <a:latin typeface="Calibri"/>
                <a:cs typeface="Calibri"/>
              </a:rPr>
              <a:t xml:space="preserve">eICU-CRD</a:t>
            </a:r>
          </a:p>
        </p:txBody>
      </p:sp>
      <p:sp>
        <p:nvSpPr>
          <p:cNvPr id="1165" name="LLM"/>
          <p:cNvSpPr txBox="1"/>
          <p:nvPr/>
        </p:nvSpPr>
        <p:spPr>
          <a:xfrm>
            <a:off x="6656831" y="3611880"/>
            <a:ext cx="64008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850" b="0" i="0" dirty="0">
                <a:solidFill>
                  <a:srgbClr val="5B6770"/>
                </a:solidFill>
                <a:latin typeface="Calibri"/>
                <a:cs typeface="Calibri"/>
              </a:rPr>
              <a:t xml:space="preserve">Claude</a:t>
            </a:r>
          </a:p>
        </p:txBody>
      </p:sp>
      <p:sp>
        <p:nvSpPr>
          <p:cNvPr id="1166" name="LLM"/>
          <p:cNvSpPr txBox="1"/>
          <p:nvPr/>
        </p:nvSpPr>
        <p:spPr>
          <a:xfrm>
            <a:off x="7296912" y="3611880"/>
            <a:ext cx="64008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850" b="0" i="0" dirty="0">
                <a:solidFill>
                  <a:srgbClr val="5B6770"/>
                </a:solidFill>
                <a:latin typeface="Calibri"/>
                <a:cs typeface="Calibri"/>
              </a:rPr>
              <a:t xml:space="preserve">Mistral</a:t>
            </a:r>
          </a:p>
        </p:txBody>
      </p:sp>
      <p:sp>
        <p:nvSpPr>
          <p:cNvPr id="1167" name="LLM"/>
          <p:cNvSpPr txBox="1"/>
          <p:nvPr/>
        </p:nvSpPr>
        <p:spPr>
          <a:xfrm>
            <a:off x="7936992" y="3611880"/>
            <a:ext cx="64008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850" b="0" i="0" dirty="0">
                <a:solidFill>
                  <a:srgbClr val="5B6770"/>
                </a:solidFill>
                <a:latin typeface="Calibri"/>
                <a:cs typeface="Calibri"/>
              </a:rPr>
              <a:t xml:space="preserve">DeepSeek</a:t>
            </a:r>
          </a:p>
        </p:txBody>
      </p:sp>
      <p:sp>
        <p:nvSpPr>
          <p:cNvPr id="1168" name="Database"/>
          <p:cNvSpPr txBox="1"/>
          <p:nvPr/>
        </p:nvSpPr>
        <p:spPr>
          <a:xfrm>
            <a:off x="8577072" y="3383280"/>
            <a:ext cx="1920239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00" b="1" i="0" dirty="0">
                <a:solidFill>
                  <a:srgbClr val="1F2328"/>
                </a:solidFill>
                <a:latin typeface="Calibri"/>
                <a:cs typeface="Calibri"/>
              </a:rPr>
              <a:t xml:space="preserve">Chinook</a:t>
            </a:r>
          </a:p>
        </p:txBody>
      </p:sp>
      <p:sp>
        <p:nvSpPr>
          <p:cNvPr id="1169" name="LLM"/>
          <p:cNvSpPr txBox="1"/>
          <p:nvPr/>
        </p:nvSpPr>
        <p:spPr>
          <a:xfrm>
            <a:off x="8577072" y="3611880"/>
            <a:ext cx="64008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850" b="0" i="0" dirty="0">
                <a:solidFill>
                  <a:srgbClr val="5B6770"/>
                </a:solidFill>
                <a:latin typeface="Calibri"/>
                <a:cs typeface="Calibri"/>
              </a:rPr>
              <a:t xml:space="preserve">Claude</a:t>
            </a:r>
          </a:p>
        </p:txBody>
      </p:sp>
      <p:sp>
        <p:nvSpPr>
          <p:cNvPr id="1170" name="LLM"/>
          <p:cNvSpPr txBox="1"/>
          <p:nvPr/>
        </p:nvSpPr>
        <p:spPr>
          <a:xfrm>
            <a:off x="9217151" y="3611880"/>
            <a:ext cx="64008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850" b="0" i="0" dirty="0">
                <a:solidFill>
                  <a:srgbClr val="5B6770"/>
                </a:solidFill>
                <a:latin typeface="Calibri"/>
                <a:cs typeface="Calibri"/>
              </a:rPr>
              <a:t xml:space="preserve">Mistral</a:t>
            </a:r>
          </a:p>
        </p:txBody>
      </p:sp>
      <p:sp>
        <p:nvSpPr>
          <p:cNvPr id="1171" name="LLM"/>
          <p:cNvSpPr txBox="1"/>
          <p:nvPr/>
        </p:nvSpPr>
        <p:spPr>
          <a:xfrm>
            <a:off x="9857232" y="3611880"/>
            <a:ext cx="64008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850" b="0" i="0" dirty="0">
                <a:solidFill>
                  <a:srgbClr val="5B6770"/>
                </a:solidFill>
                <a:latin typeface="Calibri"/>
                <a:cs typeface="Calibri"/>
              </a:rPr>
              <a:t xml:space="preserve">DeepSeek</a:t>
            </a:r>
          </a:p>
        </p:txBody>
      </p:sp>
      <p:sp>
        <p:nvSpPr>
          <p:cNvPr id="1172" name="Avg head"/>
          <p:cNvSpPr txBox="1"/>
          <p:nvPr/>
        </p:nvSpPr>
        <p:spPr>
          <a:xfrm>
            <a:off x="10543032" y="3493008"/>
            <a:ext cx="68580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000" b="1" i="0" dirty="0">
                <a:solidFill>
                  <a:srgbClr val="5B6770"/>
                </a:solidFill>
                <a:latin typeface="Calibri"/>
                <a:cs typeface="Calibri"/>
              </a:rPr>
              <a:t xml:space="preserve">Avg</a:t>
            </a:r>
          </a:p>
        </p:txBody>
      </p:sp>
      <p:sp>
        <p:nvSpPr>
          <p:cNvPr id="1173" name="Method"/>
          <p:cNvSpPr txBox="1"/>
          <p:nvPr/>
        </p:nvSpPr>
        <p:spPr>
          <a:xfrm>
            <a:off x="3410712" y="3840480"/>
            <a:ext cx="132588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en-US" sz="1200" b="0" i="0" dirty="0">
                <a:solidFill>
                  <a:srgbClr val="1F2328"/>
                </a:solidFill>
                <a:latin typeface="Calibri"/>
                <a:cs typeface="Calibri"/>
              </a:rPr>
              <a:t xml:space="preserve">Direct Mapping</a:t>
            </a:r>
          </a:p>
        </p:txBody>
      </p:sp>
      <p:sp>
        <p:nvSpPr>
          <p:cNvPr id="1174" name="Cell"/>
          <p:cNvSpPr/>
          <p:nvPr/>
        </p:nvSpPr>
        <p:spPr>
          <a:xfrm>
            <a:off x="4754879" y="3858768"/>
            <a:ext cx="1883663" cy="420624"/>
          </a:xfrm>
          <a:prstGeom prst="rect">
            <a:avLst/>
          </a:prstGeom>
          <a:solidFill>
            <a:srgbClr val="BFE3C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00" b="0" i="0" dirty="0">
                <a:solidFill>
                  <a:srgbClr val="1F2328"/>
                </a:solidFill>
                <a:latin typeface="Calibri"/>
                <a:cs typeface="Calibri"/>
              </a:rPr>
              <a:t xml:space="preserve">97</a:t>
            </a:r>
          </a:p>
        </p:txBody>
      </p:sp>
      <p:sp>
        <p:nvSpPr>
          <p:cNvPr id="1175" name="Cell"/>
          <p:cNvSpPr/>
          <p:nvPr/>
        </p:nvSpPr>
        <p:spPr>
          <a:xfrm>
            <a:off x="6675119" y="3858768"/>
            <a:ext cx="1883663" cy="420624"/>
          </a:xfrm>
          <a:prstGeom prst="rect">
            <a:avLst/>
          </a:prstGeom>
          <a:solidFill>
            <a:srgbClr val="BFE3C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00" b="0" i="0" dirty="0">
                <a:solidFill>
                  <a:srgbClr val="1F2328"/>
                </a:solidFill>
                <a:latin typeface="Calibri"/>
                <a:cs typeface="Calibri"/>
              </a:rPr>
              <a:t xml:space="preserve">99</a:t>
            </a:r>
          </a:p>
        </p:txBody>
      </p:sp>
      <p:sp>
        <p:nvSpPr>
          <p:cNvPr id="1176" name="Cell"/>
          <p:cNvSpPr/>
          <p:nvPr/>
        </p:nvSpPr>
        <p:spPr>
          <a:xfrm>
            <a:off x="8595359" y="3858768"/>
            <a:ext cx="1883663" cy="420624"/>
          </a:xfrm>
          <a:prstGeom prst="rect">
            <a:avLst/>
          </a:prstGeom>
          <a:solidFill>
            <a:srgbClr val="DDF0E5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00" b="0" i="0" dirty="0">
                <a:solidFill>
                  <a:srgbClr val="1F2328"/>
                </a:solidFill>
                <a:latin typeface="Calibri"/>
                <a:cs typeface="Calibri"/>
              </a:rPr>
              <a:t xml:space="preserve">78</a:t>
            </a:r>
          </a:p>
        </p:txBody>
      </p:sp>
      <p:sp>
        <p:nvSpPr>
          <p:cNvPr id="1177" name="Avg"/>
          <p:cNvSpPr txBox="1"/>
          <p:nvPr/>
        </p:nvSpPr>
        <p:spPr>
          <a:xfrm>
            <a:off x="10543032" y="3840480"/>
            <a:ext cx="6858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250" b="1" i="0" dirty="0">
                <a:solidFill>
                  <a:srgbClr val="1F2328"/>
                </a:solidFill>
                <a:latin typeface="Calibri"/>
                <a:cs typeface="Calibri"/>
              </a:rPr>
              <a:t xml:space="preserve">91%</a:t>
            </a:r>
          </a:p>
        </p:txBody>
      </p:sp>
      <p:sp>
        <p:nvSpPr>
          <p:cNvPr id="1178" name="Method"/>
          <p:cNvSpPr txBox="1"/>
          <p:nvPr/>
        </p:nvSpPr>
        <p:spPr>
          <a:xfrm>
            <a:off x="3410712" y="4297680"/>
            <a:ext cx="132588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en-US" sz="1200" b="0" i="0" dirty="0">
                <a:solidFill>
                  <a:srgbClr val="1F2328"/>
                </a:solidFill>
                <a:latin typeface="Calibri"/>
                <a:cs typeface="Calibri"/>
              </a:rPr>
              <a:t xml:space="preserve">LLM baseline</a:t>
            </a:r>
          </a:p>
        </p:txBody>
      </p:sp>
      <p:sp>
        <p:nvSpPr>
          <p:cNvPr id="1179" name="Cell"/>
          <p:cNvSpPr/>
          <p:nvPr/>
        </p:nvSpPr>
        <p:spPr>
          <a:xfrm>
            <a:off x="4754879" y="4315968"/>
            <a:ext cx="603503" cy="420624"/>
          </a:xfrm>
          <a:prstGeom prst="rect">
            <a:avLst/>
          </a:prstGeom>
          <a:solidFill>
            <a:srgbClr val="BFE3C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00" b="0" i="0" dirty="0">
                <a:solidFill>
                  <a:srgbClr val="1F2328"/>
                </a:solidFill>
                <a:latin typeface="Calibri"/>
                <a:cs typeface="Calibri"/>
              </a:rPr>
              <a:t xml:space="preserve">94</a:t>
            </a:r>
          </a:p>
        </p:txBody>
      </p:sp>
      <p:sp>
        <p:nvSpPr>
          <p:cNvPr id="1180" name="Cell"/>
          <p:cNvSpPr/>
          <p:nvPr/>
        </p:nvSpPr>
        <p:spPr>
          <a:xfrm>
            <a:off x="5394959" y="4315968"/>
            <a:ext cx="603503" cy="420624"/>
          </a:xfrm>
          <a:prstGeom prst="rect">
            <a:avLst/>
          </a:prstGeom>
          <a:solidFill>
            <a:srgbClr val="F6DAD3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00" b="0" i="0" dirty="0">
                <a:solidFill>
                  <a:srgbClr val="1F2328"/>
                </a:solidFill>
                <a:latin typeface="Calibri"/>
                <a:cs typeface="Calibri"/>
              </a:rPr>
              <a:t xml:space="preserve">31</a:t>
            </a:r>
          </a:p>
        </p:txBody>
      </p:sp>
      <p:sp>
        <p:nvSpPr>
          <p:cNvPr id="1181" name="Cell"/>
          <p:cNvSpPr/>
          <p:nvPr/>
        </p:nvSpPr>
        <p:spPr>
          <a:xfrm>
            <a:off x="6035040" y="4315968"/>
            <a:ext cx="603503" cy="420624"/>
          </a:xfrm>
          <a:prstGeom prst="rect">
            <a:avLst/>
          </a:prstGeom>
          <a:solidFill>
            <a:srgbClr val="DDF0E5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00" b="0" i="0" dirty="0">
                <a:solidFill>
                  <a:srgbClr val="1F2328"/>
                </a:solidFill>
                <a:latin typeface="Calibri"/>
                <a:cs typeface="Calibri"/>
              </a:rPr>
              <a:t xml:space="preserve">89</a:t>
            </a:r>
          </a:p>
        </p:txBody>
      </p:sp>
      <p:sp>
        <p:nvSpPr>
          <p:cNvPr id="1182" name="Cell"/>
          <p:cNvSpPr/>
          <p:nvPr/>
        </p:nvSpPr>
        <p:spPr>
          <a:xfrm>
            <a:off x="6675119" y="4315968"/>
            <a:ext cx="603503" cy="420624"/>
          </a:xfrm>
          <a:prstGeom prst="rect">
            <a:avLst/>
          </a:prstGeom>
          <a:solidFill>
            <a:srgbClr val="BFE3C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00" b="0" i="0" dirty="0">
                <a:solidFill>
                  <a:srgbClr val="1F2328"/>
                </a:solidFill>
                <a:latin typeface="Calibri"/>
                <a:cs typeface="Calibri"/>
              </a:rPr>
              <a:t xml:space="preserve">96</a:t>
            </a:r>
          </a:p>
        </p:txBody>
      </p:sp>
      <p:sp>
        <p:nvSpPr>
          <p:cNvPr id="1183" name="Cell"/>
          <p:cNvSpPr/>
          <p:nvPr/>
        </p:nvSpPr>
        <p:spPr>
          <a:xfrm>
            <a:off x="7315199" y="4315968"/>
            <a:ext cx="603503" cy="420624"/>
          </a:xfrm>
          <a:prstGeom prst="rect">
            <a:avLst/>
          </a:prstGeom>
          <a:solidFill>
            <a:srgbClr val="F1F3F2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00" b="0" i="0" dirty="0">
                <a:solidFill>
                  <a:srgbClr val="1F2328"/>
                </a:solidFill>
                <a:latin typeface="Calibri"/>
                <a:cs typeface="Calibri"/>
              </a:rPr>
              <a:t xml:space="preserve">68</a:t>
            </a:r>
          </a:p>
        </p:txBody>
      </p:sp>
      <p:sp>
        <p:nvSpPr>
          <p:cNvPr id="1184" name="Cell"/>
          <p:cNvSpPr/>
          <p:nvPr/>
        </p:nvSpPr>
        <p:spPr>
          <a:xfrm>
            <a:off x="7955279" y="4315968"/>
            <a:ext cx="603503" cy="420624"/>
          </a:xfrm>
          <a:prstGeom prst="rect">
            <a:avLst/>
          </a:prstGeom>
          <a:solidFill>
            <a:srgbClr val="DDF0E5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00" b="0" i="0" dirty="0">
                <a:solidFill>
                  <a:srgbClr val="1F2328"/>
                </a:solidFill>
                <a:latin typeface="Calibri"/>
                <a:cs typeface="Calibri"/>
              </a:rPr>
              <a:t xml:space="preserve">86</a:t>
            </a:r>
          </a:p>
        </p:txBody>
      </p:sp>
      <p:sp>
        <p:nvSpPr>
          <p:cNvPr id="1185" name="Cell"/>
          <p:cNvSpPr/>
          <p:nvPr/>
        </p:nvSpPr>
        <p:spPr>
          <a:xfrm>
            <a:off x="8595359" y="4315968"/>
            <a:ext cx="603503" cy="420624"/>
          </a:xfrm>
          <a:prstGeom prst="rect">
            <a:avLst/>
          </a:prstGeom>
          <a:solidFill>
            <a:srgbClr val="BFE3C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00" b="0" i="0" dirty="0">
                <a:solidFill>
                  <a:srgbClr val="1F2328"/>
                </a:solidFill>
                <a:latin typeface="Calibri"/>
                <a:cs typeface="Calibri"/>
              </a:rPr>
              <a:t xml:space="preserve">100</a:t>
            </a:r>
          </a:p>
        </p:txBody>
      </p:sp>
      <p:sp>
        <p:nvSpPr>
          <p:cNvPr id="1186" name="Cell"/>
          <p:cNvSpPr/>
          <p:nvPr/>
        </p:nvSpPr>
        <p:spPr>
          <a:xfrm>
            <a:off x="9235439" y="4315968"/>
            <a:ext cx="603503" cy="420624"/>
          </a:xfrm>
          <a:prstGeom prst="rect">
            <a:avLst/>
          </a:prstGeom>
          <a:solidFill>
            <a:srgbClr val="F1F3F2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00" b="0" i="0" dirty="0">
                <a:solidFill>
                  <a:srgbClr val="1F2328"/>
                </a:solidFill>
                <a:latin typeface="Calibri"/>
                <a:cs typeface="Calibri"/>
              </a:rPr>
              <a:t xml:space="preserve">50</a:t>
            </a:r>
          </a:p>
        </p:txBody>
      </p:sp>
      <p:sp>
        <p:nvSpPr>
          <p:cNvPr id="1187" name="Cell"/>
          <p:cNvSpPr/>
          <p:nvPr/>
        </p:nvSpPr>
        <p:spPr>
          <a:xfrm>
            <a:off x="9875519" y="4315968"/>
            <a:ext cx="603503" cy="420624"/>
          </a:xfrm>
          <a:prstGeom prst="rect">
            <a:avLst/>
          </a:prstGeom>
          <a:solidFill>
            <a:srgbClr val="F1F3F2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00" b="0" i="0" dirty="0">
                <a:solidFill>
                  <a:srgbClr val="1F2328"/>
                </a:solidFill>
                <a:latin typeface="Calibri"/>
                <a:cs typeface="Calibri"/>
              </a:rPr>
              <a:t xml:space="preserve">52</a:t>
            </a:r>
          </a:p>
        </p:txBody>
      </p:sp>
      <p:sp>
        <p:nvSpPr>
          <p:cNvPr id="1188" name="Avg"/>
          <p:cNvSpPr txBox="1"/>
          <p:nvPr/>
        </p:nvSpPr>
        <p:spPr>
          <a:xfrm>
            <a:off x="10543032" y="4297680"/>
            <a:ext cx="6858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250" b="1" i="0" dirty="0">
                <a:solidFill>
                  <a:srgbClr val="1F2328"/>
                </a:solidFill>
                <a:latin typeface="Calibri"/>
                <a:cs typeface="Calibri"/>
              </a:rPr>
              <a:t xml:space="preserve">74%</a:t>
            </a:r>
          </a:p>
        </p:txBody>
      </p:sp>
      <p:sp>
        <p:nvSpPr>
          <p:cNvPr id="1189" name="Method"/>
          <p:cNvSpPr txBox="1"/>
          <p:nvPr/>
        </p:nvSpPr>
        <p:spPr>
          <a:xfrm>
            <a:off x="3410712" y="4754880"/>
            <a:ext cx="132588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en-US" sz="1200" b="0" i="0" dirty="0">
                <a:solidFill>
                  <a:srgbClr val="1F2328"/>
                </a:solidFill>
                <a:latin typeface="Calibri"/>
                <a:cs typeface="Calibri"/>
              </a:rPr>
              <a:t xml:space="preserve">Non-Iterative</a:t>
            </a:r>
          </a:p>
        </p:txBody>
      </p:sp>
      <p:sp>
        <p:nvSpPr>
          <p:cNvPr id="1190" name="Cell"/>
          <p:cNvSpPr/>
          <p:nvPr/>
        </p:nvSpPr>
        <p:spPr>
          <a:xfrm>
            <a:off x="4754879" y="4773168"/>
            <a:ext cx="603503" cy="420624"/>
          </a:xfrm>
          <a:prstGeom prst="rect">
            <a:avLst/>
          </a:prstGeom>
          <a:solidFill>
            <a:srgbClr val="F6DAD3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00" b="0" i="0" dirty="0">
                <a:solidFill>
                  <a:srgbClr val="1F2328"/>
                </a:solidFill>
                <a:latin typeface="Calibri"/>
                <a:cs typeface="Calibri"/>
              </a:rPr>
              <a:t xml:space="preserve">41</a:t>
            </a:r>
          </a:p>
        </p:txBody>
      </p:sp>
      <p:sp>
        <p:nvSpPr>
          <p:cNvPr id="1191" name="Cell"/>
          <p:cNvSpPr/>
          <p:nvPr/>
        </p:nvSpPr>
        <p:spPr>
          <a:xfrm>
            <a:off x="5394959" y="4773168"/>
            <a:ext cx="603503" cy="420624"/>
          </a:xfrm>
          <a:prstGeom prst="rect">
            <a:avLst/>
          </a:prstGeom>
          <a:solidFill>
            <a:srgbClr val="EDB8AC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00" b="0" i="0" dirty="0">
                <a:solidFill>
                  <a:srgbClr val="1F2328"/>
                </a:solidFill>
                <a:latin typeface="Calibri"/>
                <a:cs typeface="Calibri"/>
              </a:rPr>
              <a:t xml:space="preserve">6</a:t>
            </a:r>
          </a:p>
        </p:txBody>
      </p:sp>
      <p:sp>
        <p:nvSpPr>
          <p:cNvPr id="1192" name="Cell"/>
          <p:cNvSpPr/>
          <p:nvPr/>
        </p:nvSpPr>
        <p:spPr>
          <a:xfrm>
            <a:off x="6035040" y="4773168"/>
            <a:ext cx="603503" cy="420624"/>
          </a:xfrm>
          <a:prstGeom prst="rect">
            <a:avLst/>
          </a:prstGeom>
          <a:solidFill>
            <a:srgbClr val="EDB8AC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00" b="0" i="0" dirty="0">
                <a:solidFill>
                  <a:srgbClr val="1F2328"/>
                </a:solidFill>
                <a:latin typeface="Calibri"/>
                <a:cs typeface="Calibri"/>
              </a:rPr>
              <a:t xml:space="preserve">12</a:t>
            </a:r>
          </a:p>
        </p:txBody>
      </p:sp>
      <p:sp>
        <p:nvSpPr>
          <p:cNvPr id="1193" name="Cell"/>
          <p:cNvSpPr/>
          <p:nvPr/>
        </p:nvSpPr>
        <p:spPr>
          <a:xfrm>
            <a:off x="6675119" y="4773168"/>
            <a:ext cx="603503" cy="420624"/>
          </a:xfrm>
          <a:prstGeom prst="rect">
            <a:avLst/>
          </a:prstGeom>
          <a:solidFill>
            <a:srgbClr val="F6DAD3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00" b="0" i="0" dirty="0">
                <a:solidFill>
                  <a:srgbClr val="1F2328"/>
                </a:solidFill>
                <a:latin typeface="Calibri"/>
                <a:cs typeface="Calibri"/>
              </a:rPr>
              <a:t xml:space="preserve">22</a:t>
            </a:r>
          </a:p>
        </p:txBody>
      </p:sp>
      <p:sp>
        <p:nvSpPr>
          <p:cNvPr id="1194" name="Cell"/>
          <p:cNvSpPr/>
          <p:nvPr/>
        </p:nvSpPr>
        <p:spPr>
          <a:xfrm>
            <a:off x="7315199" y="4773168"/>
            <a:ext cx="603503" cy="420624"/>
          </a:xfrm>
          <a:prstGeom prst="rect">
            <a:avLst/>
          </a:prstGeom>
          <a:solidFill>
            <a:srgbClr val="F6DAD3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00" b="0" i="0" dirty="0">
                <a:solidFill>
                  <a:srgbClr val="1F2328"/>
                </a:solidFill>
                <a:latin typeface="Calibri"/>
                <a:cs typeface="Calibri"/>
              </a:rPr>
              <a:t xml:space="preserve">28</a:t>
            </a:r>
          </a:p>
        </p:txBody>
      </p:sp>
      <p:sp>
        <p:nvSpPr>
          <p:cNvPr id="1195" name="Cell"/>
          <p:cNvSpPr/>
          <p:nvPr/>
        </p:nvSpPr>
        <p:spPr>
          <a:xfrm>
            <a:off x="7955279" y="4773168"/>
            <a:ext cx="603503" cy="420624"/>
          </a:xfrm>
          <a:prstGeom prst="rect">
            <a:avLst/>
          </a:prstGeom>
          <a:solidFill>
            <a:srgbClr val="F6DAD3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00" b="0" i="0" dirty="0">
                <a:solidFill>
                  <a:srgbClr val="1F2328"/>
                </a:solidFill>
                <a:latin typeface="Calibri"/>
                <a:cs typeface="Calibri"/>
              </a:rPr>
              <a:t xml:space="preserve">46</a:t>
            </a:r>
          </a:p>
        </p:txBody>
      </p:sp>
      <p:sp>
        <p:nvSpPr>
          <p:cNvPr id="1196" name="Cell"/>
          <p:cNvSpPr/>
          <p:nvPr/>
        </p:nvSpPr>
        <p:spPr>
          <a:xfrm>
            <a:off x="8595359" y="4773168"/>
            <a:ext cx="603503" cy="420624"/>
          </a:xfrm>
          <a:prstGeom prst="rect">
            <a:avLst/>
          </a:prstGeom>
          <a:solidFill>
            <a:srgbClr val="F1F3F2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00" b="0" i="0" dirty="0">
                <a:solidFill>
                  <a:srgbClr val="1F2328"/>
                </a:solidFill>
                <a:latin typeface="Calibri"/>
                <a:cs typeface="Calibri"/>
              </a:rPr>
              <a:t xml:space="preserve">58</a:t>
            </a:r>
          </a:p>
        </p:txBody>
      </p:sp>
      <p:sp>
        <p:nvSpPr>
          <p:cNvPr id="1197" name="Cell"/>
          <p:cNvSpPr/>
          <p:nvPr/>
        </p:nvSpPr>
        <p:spPr>
          <a:xfrm>
            <a:off x="9235439" y="4773168"/>
            <a:ext cx="603503" cy="420624"/>
          </a:xfrm>
          <a:prstGeom prst="rect">
            <a:avLst/>
          </a:prstGeom>
          <a:solidFill>
            <a:srgbClr val="EDB8AC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00" b="0" i="0" dirty="0">
                <a:solidFill>
                  <a:srgbClr val="1F2328"/>
                </a:solidFill>
                <a:latin typeface="Calibri"/>
                <a:cs typeface="Calibri"/>
              </a:rPr>
              <a:t xml:space="preserve">16</a:t>
            </a:r>
          </a:p>
        </p:txBody>
      </p:sp>
      <p:sp>
        <p:nvSpPr>
          <p:cNvPr id="1198" name="Cell"/>
          <p:cNvSpPr/>
          <p:nvPr/>
        </p:nvSpPr>
        <p:spPr>
          <a:xfrm>
            <a:off x="9875519" y="4773168"/>
            <a:ext cx="603503" cy="420624"/>
          </a:xfrm>
          <a:prstGeom prst="rect">
            <a:avLst/>
          </a:prstGeom>
          <a:solidFill>
            <a:srgbClr val="DDF0E5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00" b="0" i="0" dirty="0">
                <a:solidFill>
                  <a:srgbClr val="1F2328"/>
                </a:solidFill>
                <a:latin typeface="Calibri"/>
                <a:cs typeface="Calibri"/>
              </a:rPr>
              <a:t xml:space="preserve">78</a:t>
            </a:r>
          </a:p>
        </p:txBody>
      </p:sp>
      <p:sp>
        <p:nvSpPr>
          <p:cNvPr id="1199" name="Avg"/>
          <p:cNvSpPr txBox="1"/>
          <p:nvPr/>
        </p:nvSpPr>
        <p:spPr>
          <a:xfrm>
            <a:off x="10543032" y="4754880"/>
            <a:ext cx="6858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250" b="1" i="0" dirty="0">
                <a:solidFill>
                  <a:srgbClr val="1F2328"/>
                </a:solidFill>
                <a:latin typeface="Calibri"/>
                <a:cs typeface="Calibri"/>
              </a:rPr>
              <a:t xml:space="preserve">34%</a:t>
            </a:r>
          </a:p>
        </p:txBody>
      </p:sp>
      <p:sp>
        <p:nvSpPr>
          <p:cNvPr id="1200" name="Method"/>
          <p:cNvSpPr txBox="1"/>
          <p:nvPr/>
        </p:nvSpPr>
        <p:spPr>
          <a:xfrm>
            <a:off x="3410712" y="5212080"/>
            <a:ext cx="132588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en-US" sz="1200" b="1" i="0" dirty="0">
                <a:solidFill>
                  <a:srgbClr val="0B6E4F"/>
                </a:solidFill>
                <a:latin typeface="Calibri"/>
                <a:cs typeface="Calibri"/>
              </a:rPr>
              <a:t xml:space="preserve">RIGOR</a:t>
            </a:r>
          </a:p>
        </p:txBody>
      </p:sp>
      <p:sp>
        <p:nvSpPr>
          <p:cNvPr id="1201" name="Cell"/>
          <p:cNvSpPr/>
          <p:nvPr/>
        </p:nvSpPr>
        <p:spPr>
          <a:xfrm>
            <a:off x="4754879" y="5230368"/>
            <a:ext cx="603503" cy="420624"/>
          </a:xfrm>
          <a:prstGeom prst="rect">
            <a:avLst/>
          </a:prstGeom>
          <a:solidFill>
            <a:srgbClr val="BFE3C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00" b="1" i="0" dirty="0">
                <a:solidFill>
                  <a:srgbClr val="1F2328"/>
                </a:solidFill>
                <a:latin typeface="Calibri"/>
                <a:cs typeface="Calibri"/>
              </a:rPr>
              <a:t xml:space="preserve">91</a:t>
            </a:r>
          </a:p>
        </p:txBody>
      </p:sp>
      <p:sp>
        <p:nvSpPr>
          <p:cNvPr id="1202" name="Cell"/>
          <p:cNvSpPr/>
          <p:nvPr/>
        </p:nvSpPr>
        <p:spPr>
          <a:xfrm>
            <a:off x="5394959" y="5230368"/>
            <a:ext cx="603503" cy="420624"/>
          </a:xfrm>
          <a:prstGeom prst="rect">
            <a:avLst/>
          </a:prstGeom>
          <a:solidFill>
            <a:srgbClr val="BFE3C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00" b="1" i="0" dirty="0">
                <a:solidFill>
                  <a:srgbClr val="1F2328"/>
                </a:solidFill>
                <a:latin typeface="Calibri"/>
                <a:cs typeface="Calibri"/>
              </a:rPr>
              <a:t xml:space="preserve">99</a:t>
            </a:r>
          </a:p>
        </p:txBody>
      </p:sp>
      <p:sp>
        <p:nvSpPr>
          <p:cNvPr id="1203" name="Cell"/>
          <p:cNvSpPr/>
          <p:nvPr/>
        </p:nvSpPr>
        <p:spPr>
          <a:xfrm>
            <a:off x="6035040" y="5230368"/>
            <a:ext cx="603503" cy="420624"/>
          </a:xfrm>
          <a:prstGeom prst="rect">
            <a:avLst/>
          </a:prstGeom>
          <a:solidFill>
            <a:srgbClr val="DDF0E5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00" b="1" i="0" dirty="0">
                <a:solidFill>
                  <a:srgbClr val="1F2328"/>
                </a:solidFill>
                <a:latin typeface="Calibri"/>
                <a:cs typeface="Calibri"/>
              </a:rPr>
              <a:t xml:space="preserve">87</a:t>
            </a:r>
          </a:p>
        </p:txBody>
      </p:sp>
      <p:sp>
        <p:nvSpPr>
          <p:cNvPr id="1204" name="Cell"/>
          <p:cNvSpPr/>
          <p:nvPr/>
        </p:nvSpPr>
        <p:spPr>
          <a:xfrm>
            <a:off x="6675119" y="5230368"/>
            <a:ext cx="603503" cy="420624"/>
          </a:xfrm>
          <a:prstGeom prst="rect">
            <a:avLst/>
          </a:prstGeom>
          <a:solidFill>
            <a:srgbClr val="BFE3C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00" b="1" i="0" dirty="0">
                <a:solidFill>
                  <a:srgbClr val="1F2328"/>
                </a:solidFill>
                <a:latin typeface="Calibri"/>
                <a:cs typeface="Calibri"/>
              </a:rPr>
              <a:t xml:space="preserve">100</a:t>
            </a:r>
          </a:p>
        </p:txBody>
      </p:sp>
      <p:sp>
        <p:nvSpPr>
          <p:cNvPr id="1205" name="Cell"/>
          <p:cNvSpPr/>
          <p:nvPr/>
        </p:nvSpPr>
        <p:spPr>
          <a:xfrm>
            <a:off x="7315199" y="5230368"/>
            <a:ext cx="603503" cy="420624"/>
          </a:xfrm>
          <a:prstGeom prst="rect">
            <a:avLst/>
          </a:prstGeom>
          <a:solidFill>
            <a:srgbClr val="BFE3C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00" b="1" i="0" dirty="0">
                <a:solidFill>
                  <a:srgbClr val="1F2328"/>
                </a:solidFill>
                <a:latin typeface="Calibri"/>
                <a:cs typeface="Calibri"/>
              </a:rPr>
              <a:t xml:space="preserve">99</a:t>
            </a:r>
          </a:p>
        </p:txBody>
      </p:sp>
      <p:sp>
        <p:nvSpPr>
          <p:cNvPr id="1206" name="Cell"/>
          <p:cNvSpPr/>
          <p:nvPr/>
        </p:nvSpPr>
        <p:spPr>
          <a:xfrm>
            <a:off x="7955279" y="5230368"/>
            <a:ext cx="603503" cy="420624"/>
          </a:xfrm>
          <a:prstGeom prst="rect">
            <a:avLst/>
          </a:prstGeom>
          <a:solidFill>
            <a:srgbClr val="DDF0E5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00" b="1" i="0" dirty="0">
                <a:solidFill>
                  <a:srgbClr val="1F2328"/>
                </a:solidFill>
                <a:latin typeface="Calibri"/>
                <a:cs typeface="Calibri"/>
              </a:rPr>
              <a:t xml:space="preserve">77</a:t>
            </a:r>
          </a:p>
        </p:txBody>
      </p:sp>
      <p:sp>
        <p:nvSpPr>
          <p:cNvPr id="1207" name="Cell"/>
          <p:cNvSpPr/>
          <p:nvPr/>
        </p:nvSpPr>
        <p:spPr>
          <a:xfrm>
            <a:off x="8595359" y="5230368"/>
            <a:ext cx="603503" cy="420624"/>
          </a:xfrm>
          <a:prstGeom prst="rect">
            <a:avLst/>
          </a:prstGeom>
          <a:solidFill>
            <a:srgbClr val="BFE3C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00" b="1" i="0" dirty="0">
                <a:solidFill>
                  <a:srgbClr val="1F2328"/>
                </a:solidFill>
                <a:latin typeface="Calibri"/>
                <a:cs typeface="Calibri"/>
              </a:rPr>
              <a:t xml:space="preserve">95</a:t>
            </a:r>
          </a:p>
        </p:txBody>
      </p:sp>
      <p:sp>
        <p:nvSpPr>
          <p:cNvPr id="1208" name="Cell"/>
          <p:cNvSpPr/>
          <p:nvPr/>
        </p:nvSpPr>
        <p:spPr>
          <a:xfrm>
            <a:off x="9235439" y="5230368"/>
            <a:ext cx="603503" cy="420624"/>
          </a:xfrm>
          <a:prstGeom prst="rect">
            <a:avLst/>
          </a:prstGeom>
          <a:solidFill>
            <a:srgbClr val="BFE3C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00" b="1" i="0" dirty="0">
                <a:solidFill>
                  <a:srgbClr val="1F2328"/>
                </a:solidFill>
                <a:latin typeface="Calibri"/>
                <a:cs typeface="Calibri"/>
              </a:rPr>
              <a:t xml:space="preserve">95</a:t>
            </a:r>
          </a:p>
        </p:txBody>
      </p:sp>
      <p:sp>
        <p:nvSpPr>
          <p:cNvPr id="1209" name="Cell"/>
          <p:cNvSpPr/>
          <p:nvPr/>
        </p:nvSpPr>
        <p:spPr>
          <a:xfrm>
            <a:off x="9875519" y="5230368"/>
            <a:ext cx="603503" cy="420624"/>
          </a:xfrm>
          <a:prstGeom prst="rect">
            <a:avLst/>
          </a:prstGeom>
          <a:solidFill>
            <a:srgbClr val="BFE3C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00" b="1" i="0" dirty="0">
                <a:solidFill>
                  <a:srgbClr val="1F2328"/>
                </a:solidFill>
                <a:latin typeface="Calibri"/>
                <a:cs typeface="Calibri"/>
              </a:rPr>
              <a:t xml:space="preserve">95</a:t>
            </a:r>
          </a:p>
        </p:txBody>
      </p:sp>
      <p:sp>
        <p:nvSpPr>
          <p:cNvPr id="1210" name="Avg"/>
          <p:cNvSpPr txBox="1"/>
          <p:nvPr/>
        </p:nvSpPr>
        <p:spPr>
          <a:xfrm>
            <a:off x="10543032" y="5212080"/>
            <a:ext cx="6858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250" b="1" i="0" dirty="0">
                <a:solidFill>
                  <a:srgbClr val="0B6E4F"/>
                </a:solidFill>
                <a:latin typeface="Calibri"/>
                <a:cs typeface="Calibri"/>
              </a:rPr>
              <a:t xml:space="preserve">93%</a:t>
            </a:r>
          </a:p>
        </p:txBody>
      </p:sp>
      <p:sp>
        <p:nvSpPr>
          <p:cNvPr id="1211" name="Strip"/>
          <p:cNvSpPr/>
          <p:nvPr/>
        </p:nvSpPr>
        <p:spPr>
          <a:xfrm>
            <a:off x="804672" y="5879592"/>
            <a:ext cx="10579608" cy="420624"/>
          </a:xfrm>
          <a:prstGeom prst="roundRect">
            <a:avLst>
              <a:gd name="adj" fmla="val 12000"/>
            </a:avLst>
          </a:prstGeom>
          <a:solidFill>
            <a:srgbClr val="E6F2EC"/>
          </a:solidFill>
          <a:ln>
            <a:noFill/>
          </a:ln>
        </p:spPr>
        <p:txBody>
          <a:bodyPr wrap="square" lIns="201168" tIns="0" rIns="201168" bIns="0" anchor="ctr">
            <a:noAutofit/>
          </a:bodyPr>
          <a:lstStyle/>
          <a:p>
            <a:pPr algn="l"/>
            <a:r>
              <a:rPr lang="en-US" sz="1400" b="0" i="0" dirty="0">
                <a:solidFill>
                  <a:srgbClr val="3A434C"/>
                </a:solidFill>
                <a:latin typeface="Calibri"/>
                <a:cs typeface="Calibri"/>
              </a:rPr>
              <a:t xml:space="preserve">Without the seed, coverage swings with the LLM: </a:t>
            </a:r>
            <a:r>
              <a:rPr lang="en-US" sz="1400" b="1" i="0" dirty="0">
                <a:solidFill>
                  <a:srgbClr val="B23A1E"/>
                </a:solidFill>
                <a:latin typeface="Calibri"/>
                <a:cs typeface="Calibri"/>
              </a:rPr>
              <a:t xml:space="preserve">Non-Iterative 6–78%.</a:t>
            </a:r>
            <a:r>
              <a:rPr lang="en-US" sz="1400" b="1" i="0" dirty="0">
                <a:solidFill>
                  <a:srgbClr val="0B6E4F"/>
                </a:solidFill>
                <a:latin typeface="Calibri"/>
                <a:cs typeface="Calibri"/>
              </a:rPr>
              <a:t xml:space="preserve">  With RIGOR, every LLM keeps ≥ 77% in every database.</a:t>
            </a:r>
          </a:p>
        </p:txBody>
      </p:sp>
      <p:sp>
        <p:nvSpPr>
          <p:cNvPr id="1212" name="Source"/>
          <p:cNvSpPr txBox="1"/>
          <p:nvPr/>
        </p:nvSpPr>
        <p:spPr>
          <a:xfrm>
            <a:off x="822960" y="6382512"/>
            <a:ext cx="1060704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000" b="0" i="0" dirty="0">
                <a:solidFill>
                  <a:srgbClr val="5B6770"/>
                </a:solidFill>
                <a:latin typeface="Calibri"/>
                <a:cs typeface="Calibri"/>
              </a:rPr>
              <a:t xml:space="preserve">Validity: RDFLib; consistency: HermiT. Coverage: a column counts as covered when an ontology class or property name is similar to it (embedding similarity ≥ 0.55). Paper Sec. 4.6–4.7, Table 9.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255" name="Shape 1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6" name="Google Shape;1256;p19"/>
          <p:cNvSpPr txBox="1"/>
          <p:nvPr/>
        </p:nvSpPr>
        <p:spPr>
          <a:xfrm>
            <a:off x="804672" y="512064"/>
            <a:ext cx="10753344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0B6E4F"/>
                </a:solidFill>
                <a:latin typeface="Consolas"/>
                <a:ea typeface="Consolas"/>
                <a:cs typeface="Consolas"/>
                <a:sym typeface="Consolas"/>
              </a:rPr>
              <a:t>RESULT 5  /  WHERE THE GAINS COME FROM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57" name="Google Shape;1257;p19"/>
          <p:cNvSpPr txBox="1"/>
          <p:nvPr/>
        </p:nvSpPr>
        <p:spPr>
          <a:xfrm>
            <a:off x="804672" y="914400"/>
            <a:ext cx="10762488" cy="66751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900"/>
              <a:buFont typeface="Arial"/>
              <a:buNone/>
            </a:pPr>
            <a:r>
              <a:rPr b="1" i="0" lang="en-US" sz="2900" u="none" cap="none" strike="noStrike">
                <a:solidFill>
                  <a:srgbClr val="1F2328"/>
                </a:solidFill>
                <a:latin typeface="Cambria"/>
                <a:ea typeface="Cambria"/>
                <a:cs typeface="Cambria"/>
                <a:sym typeface="Cambria"/>
              </a:rPr>
              <a:t>RIGOR's gains do not depend on model size or memorized data.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58" name="Subtitle"/>
          <p:cNvSpPr txBox="1"/>
          <p:nvPr/>
        </p:nvSpPr>
        <p:spPr>
          <a:xfrm>
            <a:off x="822960" y="1645920"/>
            <a:ext cx="10680192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600" b="0" i="0" dirty="0">
                <a:solidFill>
                  <a:srgbClr val="3A434C"/>
                </a:solidFill>
                <a:latin typeface="Calibri"/>
                <a:cs typeface="Calibri"/>
              </a:rPr>
              <a:t xml:space="preserve">Is it just a strong LLM? Is it memorized data? We broke the results down by LLM and by domain.</a:t>
            </a:r>
          </a:p>
        </p:txBody>
      </p:sp>
      <p:sp>
        <p:nvSpPr>
          <p:cNvPr id="1259" name="Ladder"/>
          <p:cNvSpPr/>
          <p:nvPr/>
        </p:nvSpPr>
        <p:spPr>
          <a:xfrm>
            <a:off x="804672" y="2103120"/>
            <a:ext cx="1700784" cy="310896"/>
          </a:xfrm>
          <a:prstGeom prst="rect">
            <a:avLst/>
          </a:prstGeom>
          <a:solidFill>
            <a:srgbClr val="E8F6E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000" b="1" i="0" dirty="0">
                <a:solidFill>
                  <a:srgbClr val="0B6E4F"/>
                </a:solidFill>
                <a:latin typeface="Consolas"/>
                <a:cs typeface="Consolas"/>
              </a:rPr>
              <a:t xml:space="preserve">1  VALID</a:t>
            </a:r>
          </a:p>
        </p:txBody>
      </p:sp>
      <p:sp>
        <p:nvSpPr>
          <p:cNvPr id="1260" name="Ladder"/>
          <p:cNvSpPr/>
          <p:nvPr/>
        </p:nvSpPr>
        <p:spPr>
          <a:xfrm>
            <a:off x="2596896" y="2103120"/>
            <a:ext cx="1700784" cy="310896"/>
          </a:xfrm>
          <a:prstGeom prst="rect">
            <a:avLst/>
          </a:prstGeom>
          <a:solidFill>
            <a:srgbClr val="E8F6E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000" b="1" i="0" dirty="0">
                <a:solidFill>
                  <a:srgbClr val="0B6E4F"/>
                </a:solidFill>
                <a:latin typeface="Consolas"/>
                <a:cs typeface="Consolas"/>
              </a:rPr>
              <a:t xml:space="preserve">2  KEEPS THE SCHEMA</a:t>
            </a:r>
          </a:p>
        </p:txBody>
      </p:sp>
      <p:sp>
        <p:nvSpPr>
          <p:cNvPr id="1261" name="Ladder"/>
          <p:cNvSpPr/>
          <p:nvPr/>
        </p:nvSpPr>
        <p:spPr>
          <a:xfrm>
            <a:off x="4389120" y="2103120"/>
            <a:ext cx="1700784" cy="310896"/>
          </a:xfrm>
          <a:prstGeom prst="rect">
            <a:avLst/>
          </a:prstGeom>
          <a:solidFill>
            <a:srgbClr val="E8F6E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000" b="1" i="0" dirty="0">
                <a:solidFill>
                  <a:srgbClr val="0B6E4F"/>
                </a:solidFill>
                <a:latin typeface="Consolas"/>
                <a:cs typeface="Consolas"/>
              </a:rPr>
              <a:t xml:space="preserve">3  ADDS MEANING</a:t>
            </a:r>
          </a:p>
        </p:txBody>
      </p:sp>
      <p:sp>
        <p:nvSpPr>
          <p:cNvPr id="1262" name="Ladder"/>
          <p:cNvSpPr/>
          <p:nvPr/>
        </p:nvSpPr>
        <p:spPr>
          <a:xfrm>
            <a:off x="6181344" y="2103120"/>
            <a:ext cx="1700784" cy="310896"/>
          </a:xfrm>
          <a:prstGeom prst="rect">
            <a:avLst/>
          </a:prstGeom>
          <a:solidFill>
            <a:srgbClr val="E8F6E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000" b="1" i="0" dirty="0">
                <a:solidFill>
                  <a:srgbClr val="0B6E4F"/>
                </a:solidFill>
                <a:latin typeface="Consolas"/>
                <a:cs typeface="Consolas"/>
              </a:rPr>
              <a:t xml:space="preserve">4  FEWER ERRORS</a:t>
            </a:r>
          </a:p>
        </p:txBody>
      </p:sp>
      <p:sp>
        <p:nvSpPr>
          <p:cNvPr id="1263" name="Ladder"/>
          <p:cNvSpPr/>
          <p:nvPr/>
        </p:nvSpPr>
        <p:spPr>
          <a:xfrm>
            <a:off x="7973568" y="2103120"/>
            <a:ext cx="1700784" cy="310896"/>
          </a:xfrm>
          <a:prstGeom prst="rect">
            <a:avLst/>
          </a:prstGeom>
          <a:solidFill>
            <a:srgbClr val="E8F6E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000" b="1" i="0" dirty="0">
                <a:solidFill>
                  <a:srgbClr val="0B6E4F"/>
                </a:solidFill>
                <a:latin typeface="Consolas"/>
                <a:cs typeface="Consolas"/>
              </a:rPr>
              <a:t xml:space="preserve">5  GOLD MAPPINGS</a:t>
            </a:r>
          </a:p>
        </p:txBody>
      </p:sp>
      <p:sp>
        <p:nvSpPr>
          <p:cNvPr id="1264" name="Ladder"/>
          <p:cNvSpPr/>
          <p:nvPr/>
        </p:nvSpPr>
        <p:spPr>
          <a:xfrm>
            <a:off x="9765792" y="2103120"/>
            <a:ext cx="1700784" cy="310896"/>
          </a:xfrm>
          <a:prstGeom prst="rect">
            <a:avLst/>
          </a:prstGeom>
          <a:solidFill>
            <a:srgbClr val="E8F6E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000" b="1" i="0" dirty="0">
                <a:solidFill>
                  <a:srgbClr val="0B6E4F"/>
                </a:solidFill>
                <a:latin typeface="Consolas"/>
                <a:cs typeface="Consolas"/>
              </a:rPr>
              <a:t xml:space="preserve">6  JUDGES</a:t>
            </a:r>
          </a:p>
        </p:txBody>
      </p:sp>
      <p:sp>
        <p:nvSpPr>
          <p:cNvPr id="1265" name="Card"/>
          <p:cNvSpPr/>
          <p:nvPr/>
        </p:nvSpPr>
        <p:spPr>
          <a:xfrm>
            <a:off x="804672" y="2606040"/>
            <a:ext cx="5212080" cy="31546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9DEDB"/>
            </a:solidFill>
          </a:ln>
        </p:spPr>
        <p:txBody>
          <a:bodyPr wrap="square" lIns="0" tIns="0" rIns="0" bIns="0" anchor="t">
            <a:noAutofit/>
          </a:bodyPr>
          <a:lstStyle/>
          <a:p>
            <a:pPr algn="l"/>
          </a:p>
        </p:txBody>
      </p:sp>
      <p:sp>
        <p:nvSpPr>
          <p:cNvPr id="1266" name="Card label"/>
          <p:cNvSpPr txBox="1"/>
          <p:nvPr/>
        </p:nvSpPr>
        <p:spPr>
          <a:xfrm>
            <a:off x="1078992" y="2788920"/>
            <a:ext cx="466344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300" b="1" i="0" dirty="0">
                <a:solidFill>
                  <a:srgbClr val="2F6B78"/>
                </a:solidFill>
                <a:latin typeface="Consolas"/>
                <a:cs typeface="Consolas"/>
              </a:rPr>
              <a:t xml:space="preserve">ACROSS LLMs  ·  MISTRAL SMALL (24B)</a:t>
            </a:r>
          </a:p>
        </p:txBody>
      </p:sp>
      <p:sp>
        <p:nvSpPr>
          <p:cNvPr id="1267" name="Card note"/>
          <p:cNvSpPr txBox="1"/>
          <p:nvPr/>
        </p:nvSpPr>
        <p:spPr>
          <a:xfrm>
            <a:off x="1078992" y="3081528"/>
            <a:ext cx="466344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150" b="0" i="1" dirty="0">
                <a:solidFill>
                  <a:srgbClr val="5B6770"/>
                </a:solidFill>
                <a:latin typeface="Calibri"/>
                <a:cs typeface="Calibri"/>
              </a:rPr>
              <a:t xml:space="preserve">column coverage, average over the three databases</a:t>
            </a:r>
          </a:p>
        </p:txBody>
      </p:sp>
      <p:sp>
        <p:nvSpPr>
          <p:cNvPr id="1268" name="Method"/>
          <p:cNvSpPr txBox="1"/>
          <p:nvPr/>
        </p:nvSpPr>
        <p:spPr>
          <a:xfrm>
            <a:off x="1078992" y="3520440"/>
            <a:ext cx="146304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en-US" sz="1400" b="0" i="0" dirty="0">
                <a:solidFill>
                  <a:srgbClr val="1F2328"/>
                </a:solidFill>
                <a:latin typeface="Calibri"/>
                <a:cs typeface="Calibri"/>
              </a:rPr>
              <a:t xml:space="preserve">LLM baseline</a:t>
            </a:r>
          </a:p>
        </p:txBody>
      </p:sp>
      <p:sp>
        <p:nvSpPr>
          <p:cNvPr id="1269" name="Track"/>
          <p:cNvSpPr/>
          <p:nvPr/>
        </p:nvSpPr>
        <p:spPr>
          <a:xfrm>
            <a:off x="2542032" y="3593592"/>
            <a:ext cx="2606039" cy="146304"/>
          </a:xfrm>
          <a:prstGeom prst="rect">
            <a:avLst/>
          </a:prstGeom>
          <a:solidFill>
            <a:srgbClr val="EEF1EF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/>
          </a:p>
        </p:txBody>
      </p:sp>
      <p:sp>
        <p:nvSpPr>
          <p:cNvPr id="1270" name="Bar"/>
          <p:cNvSpPr/>
          <p:nvPr/>
        </p:nvSpPr>
        <p:spPr>
          <a:xfrm>
            <a:off x="2542032" y="3593592"/>
            <a:ext cx="1303019" cy="146304"/>
          </a:xfrm>
          <a:prstGeom prst="rect">
            <a:avLst/>
          </a:prstGeom>
          <a:solidFill>
            <a:srgbClr val="9AA3A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/>
          </a:p>
        </p:txBody>
      </p:sp>
      <p:sp>
        <p:nvSpPr>
          <p:cNvPr id="1271" name="Value"/>
          <p:cNvSpPr txBox="1"/>
          <p:nvPr/>
        </p:nvSpPr>
        <p:spPr>
          <a:xfrm>
            <a:off x="5221224" y="3520440"/>
            <a:ext cx="73152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en-US" sz="1500" b="1" i="0" dirty="0">
                <a:solidFill>
                  <a:srgbClr val="3A434C"/>
                </a:solidFill>
                <a:latin typeface="Calibri"/>
                <a:cs typeface="Calibri"/>
              </a:rPr>
              <a:t xml:space="preserve">50%</a:t>
            </a:r>
          </a:p>
        </p:txBody>
      </p:sp>
      <p:sp>
        <p:nvSpPr>
          <p:cNvPr id="1272" name="Method"/>
          <p:cNvSpPr txBox="1"/>
          <p:nvPr/>
        </p:nvSpPr>
        <p:spPr>
          <a:xfrm>
            <a:off x="1078992" y="3995928"/>
            <a:ext cx="146304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en-US" sz="1400" b="0" i="0" dirty="0">
                <a:solidFill>
                  <a:srgbClr val="1F2328"/>
                </a:solidFill>
                <a:latin typeface="Calibri"/>
                <a:cs typeface="Calibri"/>
              </a:rPr>
              <a:t xml:space="preserve">Non-Iterative</a:t>
            </a:r>
          </a:p>
        </p:txBody>
      </p:sp>
      <p:sp>
        <p:nvSpPr>
          <p:cNvPr id="1273" name="Track"/>
          <p:cNvSpPr/>
          <p:nvPr/>
        </p:nvSpPr>
        <p:spPr>
          <a:xfrm>
            <a:off x="2542032" y="4069080"/>
            <a:ext cx="2606039" cy="146304"/>
          </a:xfrm>
          <a:prstGeom prst="rect">
            <a:avLst/>
          </a:prstGeom>
          <a:solidFill>
            <a:srgbClr val="EEF1EF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/>
          </a:p>
        </p:txBody>
      </p:sp>
      <p:sp>
        <p:nvSpPr>
          <p:cNvPr id="1274" name="Bar"/>
          <p:cNvSpPr/>
          <p:nvPr/>
        </p:nvSpPr>
        <p:spPr>
          <a:xfrm>
            <a:off x="2542032" y="4069080"/>
            <a:ext cx="443026" cy="146304"/>
          </a:xfrm>
          <a:prstGeom prst="rect">
            <a:avLst/>
          </a:prstGeom>
          <a:solidFill>
            <a:srgbClr val="B23A1E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/>
          </a:p>
        </p:txBody>
      </p:sp>
      <p:sp>
        <p:nvSpPr>
          <p:cNvPr id="1275" name="Value"/>
          <p:cNvSpPr txBox="1"/>
          <p:nvPr/>
        </p:nvSpPr>
        <p:spPr>
          <a:xfrm>
            <a:off x="5221224" y="3995928"/>
            <a:ext cx="73152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en-US" sz="1500" b="1" i="0" dirty="0">
                <a:solidFill>
                  <a:srgbClr val="B23A1E"/>
                </a:solidFill>
                <a:latin typeface="Calibri"/>
                <a:cs typeface="Calibri"/>
              </a:rPr>
              <a:t xml:space="preserve">17%</a:t>
            </a:r>
          </a:p>
        </p:txBody>
      </p:sp>
      <p:sp>
        <p:nvSpPr>
          <p:cNvPr id="1276" name="Method"/>
          <p:cNvSpPr txBox="1"/>
          <p:nvPr/>
        </p:nvSpPr>
        <p:spPr>
          <a:xfrm>
            <a:off x="1078992" y="4471416"/>
            <a:ext cx="146304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en-US" sz="1400" b="1" i="0" dirty="0">
                <a:solidFill>
                  <a:srgbClr val="0B6E4F"/>
                </a:solidFill>
                <a:latin typeface="Calibri"/>
                <a:cs typeface="Calibri"/>
              </a:rPr>
              <a:t xml:space="preserve">RIGOR</a:t>
            </a:r>
          </a:p>
        </p:txBody>
      </p:sp>
      <p:sp>
        <p:nvSpPr>
          <p:cNvPr id="1277" name="Track"/>
          <p:cNvSpPr/>
          <p:nvPr/>
        </p:nvSpPr>
        <p:spPr>
          <a:xfrm>
            <a:off x="2542032" y="4544568"/>
            <a:ext cx="2606039" cy="146304"/>
          </a:xfrm>
          <a:prstGeom prst="rect">
            <a:avLst/>
          </a:prstGeom>
          <a:solidFill>
            <a:srgbClr val="EEF1EF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/>
          </a:p>
        </p:txBody>
      </p:sp>
      <p:sp>
        <p:nvSpPr>
          <p:cNvPr id="1278" name="Bar"/>
          <p:cNvSpPr/>
          <p:nvPr/>
        </p:nvSpPr>
        <p:spPr>
          <a:xfrm>
            <a:off x="2542032" y="4544568"/>
            <a:ext cx="2553919" cy="146304"/>
          </a:xfrm>
          <a:prstGeom prst="rect">
            <a:avLst/>
          </a:prstGeom>
          <a:solidFill>
            <a:srgbClr val="0B6E4F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/>
          </a:p>
        </p:txBody>
      </p:sp>
      <p:sp>
        <p:nvSpPr>
          <p:cNvPr id="1279" name="Value"/>
          <p:cNvSpPr txBox="1"/>
          <p:nvPr/>
        </p:nvSpPr>
        <p:spPr>
          <a:xfrm>
            <a:off x="5221224" y="4471416"/>
            <a:ext cx="73152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en-US" sz="1500" b="1" i="0" dirty="0">
                <a:solidFill>
                  <a:srgbClr val="0B6E4F"/>
                </a:solidFill>
                <a:latin typeface="Calibri"/>
                <a:cs typeface="Calibri"/>
              </a:rPr>
              <a:t xml:space="preserve">98%</a:t>
            </a:r>
          </a:p>
        </p:txBody>
      </p:sp>
      <p:sp>
        <p:nvSpPr>
          <p:cNvPr id="1280" name="Claim"/>
          <p:cNvSpPr txBox="1"/>
          <p:nvPr/>
        </p:nvSpPr>
        <p:spPr>
          <a:xfrm>
            <a:off x="1078992" y="5029200"/>
            <a:ext cx="4663440" cy="5669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350" b="0" i="0" dirty="0">
                <a:solidFill>
                  <a:srgbClr val="3A434C"/>
                </a:solidFill>
                <a:latin typeface="Calibri"/>
                <a:cs typeface="Calibri"/>
              </a:rPr>
              <a:t xml:space="preserve">On par with Claude under RIGOR (</a:t>
            </a:r>
            <a:r>
              <a:rPr lang="en-US" sz="1350" b="1" i="0" dirty="0">
                <a:solidFill>
                  <a:srgbClr val="1F2328"/>
                </a:solidFill>
                <a:latin typeface="Calibri"/>
                <a:cs typeface="Calibri"/>
              </a:rPr>
              <a:t xml:space="preserve">95%</a:t>
            </a:r>
            <a:r>
              <a:rPr lang="en-US" sz="1350" b="0" i="0" dirty="0">
                <a:solidFill>
                  <a:srgbClr val="3A434C"/>
                </a:solidFill>
                <a:latin typeface="Calibri"/>
                <a:cs typeface="Calibri"/>
              </a:rPr>
              <a:t xml:space="preserve">), for </a:t>
            </a:r>
            <a:r>
              <a:rPr lang="en-US" sz="1350" b="1" i="0" dirty="0">
                <a:solidFill>
                  <a:srgbClr val="0B6E4F"/>
                </a:solidFill>
                <a:latin typeface="Calibri"/>
                <a:cs typeface="Calibri"/>
              </a:rPr>
              <a:t xml:space="preserve">$0.12</a:t>
            </a:r>
            <a:r>
              <a:rPr lang="en-US" sz="1350" b="0" i="0" dirty="0">
                <a:solidFill>
                  <a:srgbClr val="3A434C"/>
                </a:solidFill>
                <a:latin typeface="Calibri"/>
                <a:cs typeface="Calibri"/>
              </a:rPr>
              <a:t xml:space="preserve"> instead of $33 for all three databases.</a:t>
            </a:r>
          </a:p>
        </p:txBody>
      </p:sp>
      <p:sp>
        <p:nvSpPr>
          <p:cNvPr id="1281" name="Card"/>
          <p:cNvSpPr/>
          <p:nvPr/>
        </p:nvSpPr>
        <p:spPr>
          <a:xfrm>
            <a:off x="6172200" y="2606040"/>
            <a:ext cx="5212080" cy="31546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9DEDB"/>
            </a:solidFill>
          </a:ln>
        </p:spPr>
        <p:txBody>
          <a:bodyPr wrap="square" lIns="0" tIns="0" rIns="0" bIns="0" anchor="t">
            <a:noAutofit/>
          </a:bodyPr>
          <a:lstStyle/>
          <a:p>
            <a:pPr algn="l"/>
          </a:p>
        </p:txBody>
      </p:sp>
      <p:sp>
        <p:nvSpPr>
          <p:cNvPr id="1282" name="Card label"/>
          <p:cNvSpPr txBox="1"/>
          <p:nvPr/>
        </p:nvSpPr>
        <p:spPr>
          <a:xfrm>
            <a:off x="6446520" y="2788920"/>
            <a:ext cx="466344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300" b="1" i="0" dirty="0">
                <a:solidFill>
                  <a:srgbClr val="2F6B78"/>
                </a:solidFill>
                <a:latin typeface="Consolas"/>
                <a:cs typeface="Consolas"/>
              </a:rPr>
              <a:t xml:space="preserve">ACROSS DOMAINS  ·  LLM JUDGE</a:t>
            </a:r>
          </a:p>
        </p:txBody>
      </p:sp>
      <p:sp>
        <p:nvSpPr>
          <p:cNvPr id="1283" name="Card note"/>
          <p:cNvSpPr txBox="1"/>
          <p:nvPr/>
        </p:nvSpPr>
        <p:spPr>
          <a:xfrm>
            <a:off x="6446520" y="3081528"/>
            <a:ext cx="466344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150" b="0" i="1" dirty="0">
                <a:solidFill>
                  <a:srgbClr val="5B6770"/>
                </a:solidFill>
                <a:latin typeface="Calibri"/>
                <a:cs typeface="Calibri"/>
              </a:rPr>
              <a:t xml:space="preserve">RIGOR's lead over the best other method (score 0–5)</a:t>
            </a:r>
          </a:p>
        </p:txBody>
      </p:sp>
      <p:sp>
        <p:nvSpPr>
          <p:cNvPr id="1284" name="Database"/>
          <p:cNvSpPr txBox="1"/>
          <p:nvPr/>
        </p:nvSpPr>
        <p:spPr>
          <a:xfrm>
            <a:off x="6446520" y="3520440"/>
            <a:ext cx="16002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en-US" sz="1400" b="1" i="0" dirty="0">
                <a:solidFill>
                  <a:srgbClr val="0B6E4F"/>
                </a:solidFill>
                <a:latin typeface="Calibri"/>
                <a:cs typeface="Calibri"/>
              </a:rPr>
              <a:t xml:space="preserve">Liver Cancer</a:t>
            </a:r>
          </a:p>
        </p:txBody>
      </p:sp>
      <p:sp>
        <p:nvSpPr>
          <p:cNvPr id="1285" name="Note"/>
          <p:cNvSpPr txBox="1"/>
          <p:nvPr/>
        </p:nvSpPr>
        <p:spPr>
          <a:xfrm>
            <a:off x="6446520" y="3794760"/>
            <a:ext cx="237744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100" b="0" i="1" dirty="0">
                <a:solidFill>
                  <a:srgbClr val="5B6770"/>
                </a:solidFill>
                <a:latin typeface="Calibri"/>
                <a:cs typeface="Calibri"/>
              </a:rPr>
              <a:t xml:space="preserve">private registry, unseen by any LLM</a:t>
            </a:r>
          </a:p>
        </p:txBody>
      </p:sp>
      <p:sp>
        <p:nvSpPr>
          <p:cNvPr id="1286" name="Track"/>
          <p:cNvSpPr/>
          <p:nvPr/>
        </p:nvSpPr>
        <p:spPr>
          <a:xfrm>
            <a:off x="8503920" y="3593592"/>
            <a:ext cx="2103120" cy="146304"/>
          </a:xfrm>
          <a:prstGeom prst="rect">
            <a:avLst/>
          </a:prstGeom>
          <a:solidFill>
            <a:srgbClr val="EEF1EF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/>
          </a:p>
        </p:txBody>
      </p:sp>
      <p:sp>
        <p:nvSpPr>
          <p:cNvPr id="1287" name="Bar"/>
          <p:cNvSpPr/>
          <p:nvPr/>
        </p:nvSpPr>
        <p:spPr>
          <a:xfrm>
            <a:off x="8503920" y="3593592"/>
            <a:ext cx="1997963" cy="146304"/>
          </a:xfrm>
          <a:prstGeom prst="rect">
            <a:avLst/>
          </a:prstGeom>
          <a:solidFill>
            <a:srgbClr val="0B6E4F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/>
          </a:p>
        </p:txBody>
      </p:sp>
      <p:sp>
        <p:nvSpPr>
          <p:cNvPr id="1288" name="Lead"/>
          <p:cNvSpPr txBox="1"/>
          <p:nvPr/>
        </p:nvSpPr>
        <p:spPr>
          <a:xfrm>
            <a:off x="10680192" y="3520440"/>
            <a:ext cx="64008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en-US" sz="1500" b="1" i="0" dirty="0">
                <a:solidFill>
                  <a:srgbClr val="0B6E4F"/>
                </a:solidFill>
                <a:latin typeface="Calibri"/>
                <a:cs typeface="Calibri"/>
              </a:rPr>
              <a:t xml:space="preserve">+1.9</a:t>
            </a:r>
          </a:p>
        </p:txBody>
      </p:sp>
      <p:sp>
        <p:nvSpPr>
          <p:cNvPr id="1289" name="Database"/>
          <p:cNvSpPr txBox="1"/>
          <p:nvPr/>
        </p:nvSpPr>
        <p:spPr>
          <a:xfrm>
            <a:off x="6446520" y="4178808"/>
            <a:ext cx="16002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en-US" sz="1400" b="1" i="0" dirty="0">
                <a:solidFill>
                  <a:srgbClr val="1F2328"/>
                </a:solidFill>
                <a:latin typeface="Calibri"/>
                <a:cs typeface="Calibri"/>
              </a:rPr>
              <a:t xml:space="preserve">eICU-CRD</a:t>
            </a:r>
          </a:p>
        </p:txBody>
      </p:sp>
      <p:sp>
        <p:nvSpPr>
          <p:cNvPr id="1290" name="Note"/>
          <p:cNvSpPr txBox="1"/>
          <p:nvPr/>
        </p:nvSpPr>
        <p:spPr>
          <a:xfrm>
            <a:off x="6446520" y="4453128"/>
            <a:ext cx="237744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100" b="0" i="1" dirty="0">
                <a:solidFill>
                  <a:srgbClr val="5B6770"/>
                </a:solidFill>
                <a:latin typeface="Calibri"/>
                <a:cs typeface="Calibri"/>
              </a:rPr>
              <a:t xml:space="preserve">large ICU schema, 559 columns</a:t>
            </a:r>
          </a:p>
        </p:txBody>
      </p:sp>
      <p:sp>
        <p:nvSpPr>
          <p:cNvPr id="1291" name="Track"/>
          <p:cNvSpPr/>
          <p:nvPr/>
        </p:nvSpPr>
        <p:spPr>
          <a:xfrm>
            <a:off x="8503920" y="4251960"/>
            <a:ext cx="2103120" cy="146304"/>
          </a:xfrm>
          <a:prstGeom prst="rect">
            <a:avLst/>
          </a:prstGeom>
          <a:solidFill>
            <a:srgbClr val="EEF1EF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/>
          </a:p>
        </p:txBody>
      </p:sp>
      <p:sp>
        <p:nvSpPr>
          <p:cNvPr id="1292" name="Bar"/>
          <p:cNvSpPr/>
          <p:nvPr/>
        </p:nvSpPr>
        <p:spPr>
          <a:xfrm>
            <a:off x="8503920" y="4251960"/>
            <a:ext cx="1577339" cy="146304"/>
          </a:xfrm>
          <a:prstGeom prst="rect">
            <a:avLst/>
          </a:prstGeom>
          <a:solidFill>
            <a:srgbClr val="6FA88F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/>
          </a:p>
        </p:txBody>
      </p:sp>
      <p:sp>
        <p:nvSpPr>
          <p:cNvPr id="1293" name="Lead"/>
          <p:cNvSpPr txBox="1"/>
          <p:nvPr/>
        </p:nvSpPr>
        <p:spPr>
          <a:xfrm>
            <a:off x="10680192" y="4178808"/>
            <a:ext cx="64008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en-US" sz="1500" b="1" i="0" dirty="0">
                <a:solidFill>
                  <a:srgbClr val="0B6E4F"/>
                </a:solidFill>
                <a:latin typeface="Calibri"/>
                <a:cs typeface="Calibri"/>
              </a:rPr>
              <a:t xml:space="preserve">+1.5</a:t>
            </a:r>
          </a:p>
        </p:txBody>
      </p:sp>
      <p:sp>
        <p:nvSpPr>
          <p:cNvPr id="1294" name="Database"/>
          <p:cNvSpPr txBox="1"/>
          <p:nvPr/>
        </p:nvSpPr>
        <p:spPr>
          <a:xfrm>
            <a:off x="6446520" y="4837176"/>
            <a:ext cx="16002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en-US" sz="1400" b="1" i="0" dirty="0">
                <a:solidFill>
                  <a:srgbClr val="1F2328"/>
                </a:solidFill>
                <a:latin typeface="Calibri"/>
                <a:cs typeface="Calibri"/>
              </a:rPr>
              <a:t xml:space="preserve">Chinook</a:t>
            </a:r>
          </a:p>
        </p:txBody>
      </p:sp>
      <p:sp>
        <p:nvSpPr>
          <p:cNvPr id="1295" name="Note"/>
          <p:cNvSpPr txBox="1"/>
          <p:nvPr/>
        </p:nvSpPr>
        <p:spPr>
          <a:xfrm>
            <a:off x="6446520" y="5111496"/>
            <a:ext cx="237744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100" b="0" i="1" dirty="0">
                <a:solidFill>
                  <a:srgbClr val="5B6770"/>
                </a:solidFill>
                <a:latin typeface="Calibri"/>
                <a:cs typeface="Calibri"/>
              </a:rPr>
              <a:t xml:space="preserve">music store, a familiar domain</a:t>
            </a:r>
          </a:p>
        </p:txBody>
      </p:sp>
      <p:sp>
        <p:nvSpPr>
          <p:cNvPr id="1296" name="Track"/>
          <p:cNvSpPr/>
          <p:nvPr/>
        </p:nvSpPr>
        <p:spPr>
          <a:xfrm>
            <a:off x="8503920" y="4910328"/>
            <a:ext cx="2103120" cy="146304"/>
          </a:xfrm>
          <a:prstGeom prst="rect">
            <a:avLst/>
          </a:prstGeom>
          <a:solidFill>
            <a:srgbClr val="EEF1EF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/>
          </a:p>
        </p:txBody>
      </p:sp>
      <p:sp>
        <p:nvSpPr>
          <p:cNvPr id="1297" name="Bar"/>
          <p:cNvSpPr/>
          <p:nvPr/>
        </p:nvSpPr>
        <p:spPr>
          <a:xfrm>
            <a:off x="8503920" y="4910328"/>
            <a:ext cx="630936" cy="146304"/>
          </a:xfrm>
          <a:prstGeom prst="rect">
            <a:avLst/>
          </a:prstGeom>
          <a:solidFill>
            <a:srgbClr val="6FA88F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/>
          </a:p>
        </p:txBody>
      </p:sp>
      <p:sp>
        <p:nvSpPr>
          <p:cNvPr id="1298" name="Lead"/>
          <p:cNvSpPr txBox="1"/>
          <p:nvPr/>
        </p:nvSpPr>
        <p:spPr>
          <a:xfrm>
            <a:off x="10680192" y="4837176"/>
            <a:ext cx="64008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en-US" sz="1500" b="1" i="0" dirty="0">
                <a:solidFill>
                  <a:srgbClr val="0B6E4F"/>
                </a:solidFill>
                <a:latin typeface="Calibri"/>
                <a:cs typeface="Calibri"/>
              </a:rPr>
              <a:t xml:space="preserve">+0.6</a:t>
            </a:r>
          </a:p>
        </p:txBody>
      </p:sp>
      <p:sp>
        <p:nvSpPr>
          <p:cNvPr id="1299" name="Strip"/>
          <p:cNvSpPr/>
          <p:nvPr/>
        </p:nvSpPr>
        <p:spPr>
          <a:xfrm>
            <a:off x="804672" y="5879592"/>
            <a:ext cx="10579608" cy="420624"/>
          </a:xfrm>
          <a:prstGeom prst="roundRect">
            <a:avLst>
              <a:gd name="adj" fmla="val 12000"/>
            </a:avLst>
          </a:prstGeom>
          <a:solidFill>
            <a:srgbClr val="E6F2EC"/>
          </a:solidFill>
          <a:ln>
            <a:noFill/>
          </a:ln>
        </p:spPr>
        <p:txBody>
          <a:bodyPr wrap="square" lIns="201168" tIns="0" rIns="201168" bIns="0" anchor="ctr">
            <a:noAutofit/>
          </a:bodyPr>
          <a:lstStyle/>
          <a:p>
            <a:pPr algn="l"/>
            <a:r>
              <a:rPr lang="en-US" sz="1400" b="0" i="0" dirty="0">
                <a:solidFill>
                  <a:srgbClr val="3A434C"/>
                </a:solidFill>
                <a:latin typeface="Calibri"/>
                <a:cs typeface="Calibri"/>
              </a:rPr>
              <a:t xml:space="preserve">A small open model catches up, and the lead grows where the LLM knows least: </a:t>
            </a:r>
            <a:r>
              <a:rPr lang="en-US" sz="1400" b="1" i="0" dirty="0">
                <a:solidFill>
                  <a:srgbClr val="0B6E4F"/>
                </a:solidFill>
                <a:latin typeface="Calibri"/>
                <a:cs typeface="Calibri"/>
              </a:rPr>
              <a:t xml:space="preserve">grounding and validation make the difference.</a:t>
            </a:r>
          </a:p>
        </p:txBody>
      </p:sp>
      <p:sp>
        <p:nvSpPr>
          <p:cNvPr id="1300" name="Source"/>
          <p:cNvSpPr txBox="1"/>
          <p:nvPr/>
        </p:nvSpPr>
        <p:spPr>
          <a:xfrm>
            <a:off x="822960" y="6382512"/>
            <a:ext cx="1060704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000" b="0" i="0" dirty="0">
                <a:solidFill>
                  <a:srgbClr val="5B6770"/>
                </a:solidFill>
                <a:latin typeface="Calibri"/>
                <a:cs typeface="Calibri"/>
              </a:rPr>
              <a:t xml:space="preserve">Coverage: paper Table 9 (Claude 95%, DeepSeek 86% with RIGOR). Cost: Table 15. Judge scores: Table 1 (Claude ontologies; best other: Direct Mapping, Direct Mapping, Non-Iterative).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RIGOR · ISWC 2026 Talk">
  <a:themeElements>
    <a:clrScheme name="RIGOR · ISWC 2026 Talk">
      <a:dk1>
        <a:srgbClr val="111A28"/>
      </a:dk1>
      <a:lt1>
        <a:srgbClr val="F2F4F7"/>
      </a:lt1>
      <a:dk2>
        <a:srgbClr val="49515C"/>
      </a:dk2>
      <a:lt2>
        <a:srgbClr val="DCDEE2"/>
      </a:lt2>
      <a:accent1>
        <a:srgbClr val="2345C4"/>
      </a:accent1>
      <a:accent2>
        <a:srgbClr val="F4A261"/>
      </a:accent2>
      <a:accent3>
        <a:srgbClr val="B4561C"/>
      </a:accent3>
      <a:accent4>
        <a:srgbClr val="8FA5EB"/>
      </a:accent4>
      <a:accent5>
        <a:srgbClr val="8AA4FF"/>
      </a:accent5>
      <a:accent6>
        <a:srgbClr val="E9873A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RIGOR · ISWC 2026 Talk">
  <a:themeElements>
    <a:clrScheme name="RIGOR · ISWC 2026 Talk">
      <a:dk1>
        <a:srgbClr val="111A28"/>
      </a:dk1>
      <a:lt1>
        <a:srgbClr val="F2F4F7"/>
      </a:lt1>
      <a:dk2>
        <a:srgbClr val="49515C"/>
      </a:dk2>
      <a:lt2>
        <a:srgbClr val="DCDEE2"/>
      </a:lt2>
      <a:accent1>
        <a:srgbClr val="2345C4"/>
      </a:accent1>
      <a:accent2>
        <a:srgbClr val="F4A261"/>
      </a:accent2>
      <a:accent3>
        <a:srgbClr val="B4561C"/>
      </a:accent3>
      <a:accent4>
        <a:srgbClr val="8FA5EB"/>
      </a:accent4>
      <a:accent5>
        <a:srgbClr val="8AA4FF"/>
      </a:accent5>
      <a:accent6>
        <a:srgbClr val="E9873A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2026-10-26T00:50:16Z</dcterms:created>
</cp:coreProperties>
</file>